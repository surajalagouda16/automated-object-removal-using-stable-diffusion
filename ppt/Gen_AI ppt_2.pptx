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9" r:id="rId3"/>
    <p:sldId id="258" r:id="rId4"/>
    <p:sldId id="261" r:id="rId5"/>
    <p:sldId id="268" r:id="rId6"/>
    <p:sldId id="270" r:id="rId7"/>
    <p:sldId id="271" r:id="rId8"/>
    <p:sldId id="274" r:id="rId9"/>
    <p:sldId id="275" r:id="rId10"/>
    <p:sldId id="273" r:id="rId11"/>
    <p:sldId id="27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8E0B7B-0E3F-482B-B9F6-F5291F3360EA}" v="3128" dt="2026-06-03T04:58:12.5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F9BAB1-8255-499F-8281-E3584FE5D920}" type="datetimeFigureOut">
              <a:rPr lang="en-IN" smtClean="0"/>
              <a:t>03-06-2026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8B3C99-4601-4A1B-9FAA-70533B6937A8}" type="slidenum">
              <a:rPr lang="en-IN" smtClean="0"/>
              <a:t>‹#›</a:t>
            </a:fld>
            <a:endParaRPr lang="en-IN"/>
          </a:p>
        </p:txBody>
      </p:sp>
    </p:spTree>
    <p:extLst>
      <p:ext uri="{BB962C8B-B14F-4D97-AF65-F5344CB8AC3E}">
        <p14:creationId xmlns:p14="http://schemas.microsoft.com/office/powerpoint/2010/main" val="340291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98B3C99-4601-4A1B-9FAA-70533B6937A8}" type="slidenum">
              <a:rPr lang="en-IN" smtClean="0"/>
              <a:t>5</a:t>
            </a:fld>
            <a:endParaRPr lang="en-IN"/>
          </a:p>
        </p:txBody>
      </p:sp>
    </p:spTree>
    <p:extLst>
      <p:ext uri="{BB962C8B-B14F-4D97-AF65-F5344CB8AC3E}">
        <p14:creationId xmlns:p14="http://schemas.microsoft.com/office/powerpoint/2010/main" val="4177842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E0DB7-617D-EB30-B202-84AB2A18B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2746E-25ED-860C-7E09-A112CDE78B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F6304F-8FF9-3201-323C-2A05FBAEFBF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0A647F1-00D0-AA54-28B9-6154CBF4F932}"/>
              </a:ext>
            </a:extLst>
          </p:cNvPr>
          <p:cNvSpPr>
            <a:spLocks noGrp="1"/>
          </p:cNvSpPr>
          <p:nvPr>
            <p:ph type="sldNum" sz="quarter" idx="5"/>
          </p:nvPr>
        </p:nvSpPr>
        <p:spPr/>
        <p:txBody>
          <a:bodyPr/>
          <a:lstStyle/>
          <a:p>
            <a:fld id="{998B3C99-4601-4A1B-9FAA-70533B6937A8}" type="slidenum">
              <a:rPr lang="en-IN" smtClean="0"/>
              <a:t>6</a:t>
            </a:fld>
            <a:endParaRPr lang="en-IN"/>
          </a:p>
        </p:txBody>
      </p:sp>
    </p:spTree>
    <p:extLst>
      <p:ext uri="{BB962C8B-B14F-4D97-AF65-F5344CB8AC3E}">
        <p14:creationId xmlns:p14="http://schemas.microsoft.com/office/powerpoint/2010/main" val="584016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9D7E0-7F7A-A04C-E1FA-9FEC05548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8C988-CE74-3C65-4877-30AA02086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E85C7-B64D-C045-3A99-D68F5FFE141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E46CF13-B2B8-16E8-CF3E-006AB3393F05}"/>
              </a:ext>
            </a:extLst>
          </p:cNvPr>
          <p:cNvSpPr>
            <a:spLocks noGrp="1"/>
          </p:cNvSpPr>
          <p:nvPr>
            <p:ph type="sldNum" sz="quarter" idx="5"/>
          </p:nvPr>
        </p:nvSpPr>
        <p:spPr/>
        <p:txBody>
          <a:bodyPr/>
          <a:lstStyle/>
          <a:p>
            <a:fld id="{998B3C99-4601-4A1B-9FAA-70533B6937A8}" type="slidenum">
              <a:rPr lang="en-IN" smtClean="0"/>
              <a:t>7</a:t>
            </a:fld>
            <a:endParaRPr lang="en-IN"/>
          </a:p>
        </p:txBody>
      </p:sp>
    </p:spTree>
    <p:extLst>
      <p:ext uri="{BB962C8B-B14F-4D97-AF65-F5344CB8AC3E}">
        <p14:creationId xmlns:p14="http://schemas.microsoft.com/office/powerpoint/2010/main" val="3131194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AEEAC-5EB8-58C7-1A01-388742BD7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2CD1D-7DF5-AB04-FBB4-2E3E9321F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B2FE2-BF73-7F0B-FA43-4F2C8658304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583357B-FC16-55C3-2EFF-57F5CDBC3D56}"/>
              </a:ext>
            </a:extLst>
          </p:cNvPr>
          <p:cNvSpPr>
            <a:spLocks noGrp="1"/>
          </p:cNvSpPr>
          <p:nvPr>
            <p:ph type="sldNum" sz="quarter" idx="5"/>
          </p:nvPr>
        </p:nvSpPr>
        <p:spPr/>
        <p:txBody>
          <a:bodyPr/>
          <a:lstStyle/>
          <a:p>
            <a:fld id="{998B3C99-4601-4A1B-9FAA-70533B6937A8}" type="slidenum">
              <a:rPr lang="en-IN" smtClean="0"/>
              <a:t>8</a:t>
            </a:fld>
            <a:endParaRPr lang="en-IN"/>
          </a:p>
        </p:txBody>
      </p:sp>
    </p:spTree>
    <p:extLst>
      <p:ext uri="{BB962C8B-B14F-4D97-AF65-F5344CB8AC3E}">
        <p14:creationId xmlns:p14="http://schemas.microsoft.com/office/powerpoint/2010/main" val="786269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3C15B-5BCC-0EBD-0912-4DE99A5E1E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A0890-6FBB-E14D-E861-FD22FE73A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44259-2F01-5AB8-9EAF-6B5BED9764F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38EF012-5ADA-2CFB-75A8-4385867689E0}"/>
              </a:ext>
            </a:extLst>
          </p:cNvPr>
          <p:cNvSpPr>
            <a:spLocks noGrp="1"/>
          </p:cNvSpPr>
          <p:nvPr>
            <p:ph type="sldNum" sz="quarter" idx="5"/>
          </p:nvPr>
        </p:nvSpPr>
        <p:spPr/>
        <p:txBody>
          <a:bodyPr/>
          <a:lstStyle/>
          <a:p>
            <a:fld id="{998B3C99-4601-4A1B-9FAA-70533B6937A8}" type="slidenum">
              <a:rPr lang="en-IN" smtClean="0"/>
              <a:t>9</a:t>
            </a:fld>
            <a:endParaRPr lang="en-IN"/>
          </a:p>
        </p:txBody>
      </p:sp>
    </p:spTree>
    <p:extLst>
      <p:ext uri="{BB962C8B-B14F-4D97-AF65-F5344CB8AC3E}">
        <p14:creationId xmlns:p14="http://schemas.microsoft.com/office/powerpoint/2010/main" val="2711554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EDDF5-9C33-63BF-DB1B-4668E8469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5F3B5-44B5-B71B-D7E0-F6E94EC41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CF6BE-0553-234C-9060-E8E418DA768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AD8CCF5-616A-ED28-193C-7CA4B1072D94}"/>
              </a:ext>
            </a:extLst>
          </p:cNvPr>
          <p:cNvSpPr>
            <a:spLocks noGrp="1"/>
          </p:cNvSpPr>
          <p:nvPr>
            <p:ph type="sldNum" sz="quarter" idx="5"/>
          </p:nvPr>
        </p:nvSpPr>
        <p:spPr/>
        <p:txBody>
          <a:bodyPr/>
          <a:lstStyle/>
          <a:p>
            <a:fld id="{998B3C99-4601-4A1B-9FAA-70533B6937A8}" type="slidenum">
              <a:rPr lang="en-IN" smtClean="0"/>
              <a:t>10</a:t>
            </a:fld>
            <a:endParaRPr lang="en-IN"/>
          </a:p>
        </p:txBody>
      </p:sp>
    </p:spTree>
    <p:extLst>
      <p:ext uri="{BB962C8B-B14F-4D97-AF65-F5344CB8AC3E}">
        <p14:creationId xmlns:p14="http://schemas.microsoft.com/office/powerpoint/2010/main" val="1694354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CA2FC-3596-103F-584E-D5B3E23A5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0C4EFA-3307-2E68-37BB-094856B32C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A8D40B-B626-798A-A205-60DA243BFBDE}"/>
              </a:ext>
            </a:extLst>
          </p:cNvPr>
          <p:cNvSpPr>
            <a:spLocks noGrp="1"/>
          </p:cNvSpPr>
          <p:nvPr>
            <p:ph type="dt" sz="half" idx="10"/>
          </p:nvPr>
        </p:nvSpPr>
        <p:spPr/>
        <p:txBody>
          <a:bodyPr/>
          <a:lstStyle/>
          <a:p>
            <a:fld id="{D3959C7B-B49B-4579-A4F3-DC68669A6CB9}" type="datetime1">
              <a:rPr lang="en-IN" smtClean="0"/>
              <a:t>03-06-2026</a:t>
            </a:fld>
            <a:endParaRPr lang="en-IN"/>
          </a:p>
        </p:txBody>
      </p:sp>
      <p:sp>
        <p:nvSpPr>
          <p:cNvPr id="5" name="Footer Placeholder 4">
            <a:extLst>
              <a:ext uri="{FF2B5EF4-FFF2-40B4-BE49-F238E27FC236}">
                <a16:creationId xmlns:a16="http://schemas.microsoft.com/office/drawing/2014/main" id="{F08E9489-008F-BF9E-9DBA-424BC5C3EEDA}"/>
              </a:ext>
            </a:extLst>
          </p:cNvPr>
          <p:cNvSpPr>
            <a:spLocks noGrp="1"/>
          </p:cNvSpPr>
          <p:nvPr>
            <p:ph type="ftr" sz="quarter" idx="11"/>
          </p:nvPr>
        </p:nvSpPr>
        <p:spPr/>
        <p:txBody>
          <a:bodyPr/>
          <a:lstStyle/>
          <a:p>
            <a:r>
              <a:rPr lang="en-US"/>
              <a:t>Machine Learning and Deep Learning  2025-26</a:t>
            </a:r>
            <a:endParaRPr lang="en-IN"/>
          </a:p>
        </p:txBody>
      </p:sp>
      <p:sp>
        <p:nvSpPr>
          <p:cNvPr id="6" name="Slide Number Placeholder 5">
            <a:extLst>
              <a:ext uri="{FF2B5EF4-FFF2-40B4-BE49-F238E27FC236}">
                <a16:creationId xmlns:a16="http://schemas.microsoft.com/office/drawing/2014/main" id="{CC57E8F7-A7D2-2644-5C64-5B2CBB6C9792}"/>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29139787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09D3B-30E9-C0E5-CB56-E805CAB68C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5A11DF-196A-BCF0-09FC-BD0BB91C79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3B72B9-D29D-0041-C664-B8EFD81AFE91}"/>
              </a:ext>
            </a:extLst>
          </p:cNvPr>
          <p:cNvSpPr>
            <a:spLocks noGrp="1"/>
          </p:cNvSpPr>
          <p:nvPr>
            <p:ph type="dt" sz="half" idx="10"/>
          </p:nvPr>
        </p:nvSpPr>
        <p:spPr/>
        <p:txBody>
          <a:bodyPr/>
          <a:lstStyle/>
          <a:p>
            <a:fld id="{70588ECF-5822-4590-B8BD-AB313D52A49E}" type="datetime1">
              <a:rPr lang="en-IN" smtClean="0"/>
              <a:t>03-06-2026</a:t>
            </a:fld>
            <a:endParaRPr lang="en-IN"/>
          </a:p>
        </p:txBody>
      </p:sp>
      <p:sp>
        <p:nvSpPr>
          <p:cNvPr id="5" name="Footer Placeholder 4">
            <a:extLst>
              <a:ext uri="{FF2B5EF4-FFF2-40B4-BE49-F238E27FC236}">
                <a16:creationId xmlns:a16="http://schemas.microsoft.com/office/drawing/2014/main" id="{E58B3565-7F1E-1C8B-D610-BCA16E17403B}"/>
              </a:ext>
            </a:extLst>
          </p:cNvPr>
          <p:cNvSpPr>
            <a:spLocks noGrp="1"/>
          </p:cNvSpPr>
          <p:nvPr>
            <p:ph type="ftr" sz="quarter" idx="11"/>
          </p:nvPr>
        </p:nvSpPr>
        <p:spPr/>
        <p:txBody>
          <a:bodyPr/>
          <a:lstStyle/>
          <a:p>
            <a:r>
              <a:rPr lang="en-US"/>
              <a:t>Machine Learning and Deep Learning  2025-26</a:t>
            </a:r>
            <a:endParaRPr lang="en-IN"/>
          </a:p>
        </p:txBody>
      </p:sp>
      <p:sp>
        <p:nvSpPr>
          <p:cNvPr id="6" name="Slide Number Placeholder 5">
            <a:extLst>
              <a:ext uri="{FF2B5EF4-FFF2-40B4-BE49-F238E27FC236}">
                <a16:creationId xmlns:a16="http://schemas.microsoft.com/office/drawing/2014/main" id="{E88770C1-3DDA-324B-D6BE-8FC8F351CEE9}"/>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2566120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895D4-0F55-EE16-A515-4A61E47244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CB6E61-F7CC-D4AF-1FC7-50045CC86C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0ADFDC-68A7-6BB3-E910-2DA5C0B3DF50}"/>
              </a:ext>
            </a:extLst>
          </p:cNvPr>
          <p:cNvSpPr>
            <a:spLocks noGrp="1"/>
          </p:cNvSpPr>
          <p:nvPr>
            <p:ph type="dt" sz="half" idx="10"/>
          </p:nvPr>
        </p:nvSpPr>
        <p:spPr/>
        <p:txBody>
          <a:bodyPr/>
          <a:lstStyle/>
          <a:p>
            <a:fld id="{EE6AC8DB-4459-4249-B5F5-F2D459BE5AAD}" type="datetime1">
              <a:rPr lang="en-IN" smtClean="0"/>
              <a:t>03-06-2026</a:t>
            </a:fld>
            <a:endParaRPr lang="en-IN"/>
          </a:p>
        </p:txBody>
      </p:sp>
      <p:sp>
        <p:nvSpPr>
          <p:cNvPr id="5" name="Footer Placeholder 4">
            <a:extLst>
              <a:ext uri="{FF2B5EF4-FFF2-40B4-BE49-F238E27FC236}">
                <a16:creationId xmlns:a16="http://schemas.microsoft.com/office/drawing/2014/main" id="{75FE2F24-5020-A739-9205-1E6DE4F3291B}"/>
              </a:ext>
            </a:extLst>
          </p:cNvPr>
          <p:cNvSpPr>
            <a:spLocks noGrp="1"/>
          </p:cNvSpPr>
          <p:nvPr>
            <p:ph type="ftr" sz="quarter" idx="11"/>
          </p:nvPr>
        </p:nvSpPr>
        <p:spPr/>
        <p:txBody>
          <a:bodyPr/>
          <a:lstStyle/>
          <a:p>
            <a:r>
              <a:rPr lang="en-US"/>
              <a:t>Machine Learning and Deep Learning  2025-26</a:t>
            </a:r>
            <a:endParaRPr lang="en-IN"/>
          </a:p>
        </p:txBody>
      </p:sp>
      <p:sp>
        <p:nvSpPr>
          <p:cNvPr id="6" name="Slide Number Placeholder 5">
            <a:extLst>
              <a:ext uri="{FF2B5EF4-FFF2-40B4-BE49-F238E27FC236}">
                <a16:creationId xmlns:a16="http://schemas.microsoft.com/office/drawing/2014/main" id="{0D7E2094-CDCB-2AA2-86CA-B5A69BB4C830}"/>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354285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06BB-4E88-434F-806F-4BBFA0F331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E5D8F9-93C4-DEB1-523E-8A056EE513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E48E03-6A4A-8F7D-E7A9-4D83F3AE0F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0C4DC7-C053-D8B2-4C14-709D931AE2F5}"/>
              </a:ext>
            </a:extLst>
          </p:cNvPr>
          <p:cNvSpPr>
            <a:spLocks noGrp="1"/>
          </p:cNvSpPr>
          <p:nvPr>
            <p:ph type="dt" sz="half" idx="10"/>
          </p:nvPr>
        </p:nvSpPr>
        <p:spPr/>
        <p:txBody>
          <a:bodyPr/>
          <a:lstStyle/>
          <a:p>
            <a:fld id="{C428BD4E-3500-47AE-B6FE-3F05A69C9847}" type="datetime1">
              <a:rPr lang="en-IN" smtClean="0"/>
              <a:t>03-06-2026</a:t>
            </a:fld>
            <a:endParaRPr lang="en-IN"/>
          </a:p>
        </p:txBody>
      </p:sp>
      <p:sp>
        <p:nvSpPr>
          <p:cNvPr id="6" name="Footer Placeholder 5">
            <a:extLst>
              <a:ext uri="{FF2B5EF4-FFF2-40B4-BE49-F238E27FC236}">
                <a16:creationId xmlns:a16="http://schemas.microsoft.com/office/drawing/2014/main" id="{0243B4BC-8C6C-ED0C-77D0-C53137F879CA}"/>
              </a:ext>
            </a:extLst>
          </p:cNvPr>
          <p:cNvSpPr>
            <a:spLocks noGrp="1"/>
          </p:cNvSpPr>
          <p:nvPr>
            <p:ph type="ftr" sz="quarter" idx="11"/>
          </p:nvPr>
        </p:nvSpPr>
        <p:spPr/>
        <p:txBody>
          <a:bodyPr/>
          <a:lstStyle/>
          <a:p>
            <a:r>
              <a:rPr lang="en-US"/>
              <a:t>Machine Learning and Deep Learning  2025-26</a:t>
            </a:r>
            <a:endParaRPr lang="en-IN"/>
          </a:p>
        </p:txBody>
      </p:sp>
      <p:sp>
        <p:nvSpPr>
          <p:cNvPr id="7" name="Slide Number Placeholder 6">
            <a:extLst>
              <a:ext uri="{FF2B5EF4-FFF2-40B4-BE49-F238E27FC236}">
                <a16:creationId xmlns:a16="http://schemas.microsoft.com/office/drawing/2014/main" id="{2CC358D7-ADD3-AAE5-BC81-366A71291B98}"/>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2576578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F993D-E79A-56C7-226F-C5925ECEE3A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362EFC-3ACA-AD33-13AE-BC24AB2BE9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0ED6FA-111C-256C-185A-4AE296FF9B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B54474-E557-C5E8-1BAC-126466FC02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0258BB-34A4-DA76-C64C-59E92CDCCC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D4D473D-868D-2386-CB99-8C2A2245A8F4}"/>
              </a:ext>
            </a:extLst>
          </p:cNvPr>
          <p:cNvSpPr>
            <a:spLocks noGrp="1"/>
          </p:cNvSpPr>
          <p:nvPr>
            <p:ph type="dt" sz="half" idx="10"/>
          </p:nvPr>
        </p:nvSpPr>
        <p:spPr/>
        <p:txBody>
          <a:bodyPr/>
          <a:lstStyle/>
          <a:p>
            <a:fld id="{612FCE99-2706-49A4-B196-CC5806A1B0EF}" type="datetime1">
              <a:rPr lang="en-IN" smtClean="0"/>
              <a:t>03-06-2026</a:t>
            </a:fld>
            <a:endParaRPr lang="en-IN"/>
          </a:p>
        </p:txBody>
      </p:sp>
      <p:sp>
        <p:nvSpPr>
          <p:cNvPr id="8" name="Footer Placeholder 7">
            <a:extLst>
              <a:ext uri="{FF2B5EF4-FFF2-40B4-BE49-F238E27FC236}">
                <a16:creationId xmlns:a16="http://schemas.microsoft.com/office/drawing/2014/main" id="{1F9B0838-D264-89B0-0806-55AE5002C4AF}"/>
              </a:ext>
            </a:extLst>
          </p:cNvPr>
          <p:cNvSpPr>
            <a:spLocks noGrp="1"/>
          </p:cNvSpPr>
          <p:nvPr>
            <p:ph type="ftr" sz="quarter" idx="11"/>
          </p:nvPr>
        </p:nvSpPr>
        <p:spPr/>
        <p:txBody>
          <a:bodyPr/>
          <a:lstStyle/>
          <a:p>
            <a:r>
              <a:rPr lang="en-US"/>
              <a:t>Machine Learning and Deep Learning  2025-26</a:t>
            </a:r>
            <a:endParaRPr lang="en-IN"/>
          </a:p>
        </p:txBody>
      </p:sp>
      <p:sp>
        <p:nvSpPr>
          <p:cNvPr id="9" name="Slide Number Placeholder 8">
            <a:extLst>
              <a:ext uri="{FF2B5EF4-FFF2-40B4-BE49-F238E27FC236}">
                <a16:creationId xmlns:a16="http://schemas.microsoft.com/office/drawing/2014/main" id="{04B53201-EFAA-E47C-B8B8-CE91D3E7E4AC}"/>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1358662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F5ED5-75E5-D091-B523-C439D8C16D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EC88E42-D6C2-1EC7-AD0A-5F79F5C1C2C2}"/>
              </a:ext>
            </a:extLst>
          </p:cNvPr>
          <p:cNvSpPr>
            <a:spLocks noGrp="1"/>
          </p:cNvSpPr>
          <p:nvPr>
            <p:ph type="dt" sz="half" idx="10"/>
          </p:nvPr>
        </p:nvSpPr>
        <p:spPr/>
        <p:txBody>
          <a:bodyPr/>
          <a:lstStyle/>
          <a:p>
            <a:fld id="{2041C11A-A911-40D8-B8F4-B90CF2C701DF}" type="datetime1">
              <a:rPr lang="en-IN" smtClean="0"/>
              <a:t>03-06-2026</a:t>
            </a:fld>
            <a:endParaRPr lang="en-IN"/>
          </a:p>
        </p:txBody>
      </p:sp>
      <p:sp>
        <p:nvSpPr>
          <p:cNvPr id="4" name="Footer Placeholder 3">
            <a:extLst>
              <a:ext uri="{FF2B5EF4-FFF2-40B4-BE49-F238E27FC236}">
                <a16:creationId xmlns:a16="http://schemas.microsoft.com/office/drawing/2014/main" id="{7EC772D1-5BDF-9566-569E-5F9A01774C0D}"/>
              </a:ext>
            </a:extLst>
          </p:cNvPr>
          <p:cNvSpPr>
            <a:spLocks noGrp="1"/>
          </p:cNvSpPr>
          <p:nvPr>
            <p:ph type="ftr" sz="quarter" idx="11"/>
          </p:nvPr>
        </p:nvSpPr>
        <p:spPr/>
        <p:txBody>
          <a:bodyPr/>
          <a:lstStyle/>
          <a:p>
            <a:r>
              <a:rPr lang="en-US"/>
              <a:t>Machine Learning and Deep Learning  2025-26</a:t>
            </a:r>
            <a:endParaRPr lang="en-IN"/>
          </a:p>
        </p:txBody>
      </p:sp>
      <p:sp>
        <p:nvSpPr>
          <p:cNvPr id="5" name="Slide Number Placeholder 4">
            <a:extLst>
              <a:ext uri="{FF2B5EF4-FFF2-40B4-BE49-F238E27FC236}">
                <a16:creationId xmlns:a16="http://schemas.microsoft.com/office/drawing/2014/main" id="{9DFD2F99-FC10-8563-1FE0-D7C3AC0FC696}"/>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1839634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4BE724-119B-8449-245A-14B6F019E6EB}"/>
              </a:ext>
            </a:extLst>
          </p:cNvPr>
          <p:cNvSpPr>
            <a:spLocks noGrp="1"/>
          </p:cNvSpPr>
          <p:nvPr>
            <p:ph type="dt" sz="half" idx="10"/>
          </p:nvPr>
        </p:nvSpPr>
        <p:spPr/>
        <p:txBody>
          <a:bodyPr/>
          <a:lstStyle/>
          <a:p>
            <a:fld id="{AD261933-BEC7-4747-84D4-6B98F8B68E77}" type="datetime1">
              <a:rPr lang="en-IN" smtClean="0"/>
              <a:t>03-06-2026</a:t>
            </a:fld>
            <a:endParaRPr lang="en-IN"/>
          </a:p>
        </p:txBody>
      </p:sp>
      <p:sp>
        <p:nvSpPr>
          <p:cNvPr id="3" name="Footer Placeholder 2">
            <a:extLst>
              <a:ext uri="{FF2B5EF4-FFF2-40B4-BE49-F238E27FC236}">
                <a16:creationId xmlns:a16="http://schemas.microsoft.com/office/drawing/2014/main" id="{83A64315-7AB2-AAA2-D281-8EB2ADB427D3}"/>
              </a:ext>
            </a:extLst>
          </p:cNvPr>
          <p:cNvSpPr>
            <a:spLocks noGrp="1"/>
          </p:cNvSpPr>
          <p:nvPr>
            <p:ph type="ftr" sz="quarter" idx="11"/>
          </p:nvPr>
        </p:nvSpPr>
        <p:spPr/>
        <p:txBody>
          <a:bodyPr/>
          <a:lstStyle/>
          <a:p>
            <a:r>
              <a:rPr lang="en-US"/>
              <a:t>Machine Learning and Deep Learning  2025-26</a:t>
            </a:r>
            <a:endParaRPr lang="en-IN"/>
          </a:p>
        </p:txBody>
      </p:sp>
      <p:sp>
        <p:nvSpPr>
          <p:cNvPr id="4" name="Slide Number Placeholder 3">
            <a:extLst>
              <a:ext uri="{FF2B5EF4-FFF2-40B4-BE49-F238E27FC236}">
                <a16:creationId xmlns:a16="http://schemas.microsoft.com/office/drawing/2014/main" id="{F4AF10F1-53C4-19E9-6677-671D79854848}"/>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3912586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69877-33CE-B75D-5905-40A160909E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7773220-66DD-0C64-9257-E6F9E1789D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8C15E9C-154B-EB8E-87AB-25659651C0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828BD7-C208-E17A-10F2-ED843743C2DE}"/>
              </a:ext>
            </a:extLst>
          </p:cNvPr>
          <p:cNvSpPr>
            <a:spLocks noGrp="1"/>
          </p:cNvSpPr>
          <p:nvPr>
            <p:ph type="dt" sz="half" idx="10"/>
          </p:nvPr>
        </p:nvSpPr>
        <p:spPr/>
        <p:txBody>
          <a:bodyPr/>
          <a:lstStyle/>
          <a:p>
            <a:fld id="{80F30060-F98D-4061-B11C-FD2C82A3E9A8}" type="datetime1">
              <a:rPr lang="en-IN" smtClean="0"/>
              <a:t>03-06-2026</a:t>
            </a:fld>
            <a:endParaRPr lang="en-IN"/>
          </a:p>
        </p:txBody>
      </p:sp>
      <p:sp>
        <p:nvSpPr>
          <p:cNvPr id="6" name="Footer Placeholder 5">
            <a:extLst>
              <a:ext uri="{FF2B5EF4-FFF2-40B4-BE49-F238E27FC236}">
                <a16:creationId xmlns:a16="http://schemas.microsoft.com/office/drawing/2014/main" id="{7B16EDF9-2992-401D-EB3E-FDF2FDFC2F65}"/>
              </a:ext>
            </a:extLst>
          </p:cNvPr>
          <p:cNvSpPr>
            <a:spLocks noGrp="1"/>
          </p:cNvSpPr>
          <p:nvPr>
            <p:ph type="ftr" sz="quarter" idx="11"/>
          </p:nvPr>
        </p:nvSpPr>
        <p:spPr/>
        <p:txBody>
          <a:bodyPr/>
          <a:lstStyle/>
          <a:p>
            <a:r>
              <a:rPr lang="en-US"/>
              <a:t>Machine Learning and Deep Learning  2025-26</a:t>
            </a:r>
            <a:endParaRPr lang="en-IN"/>
          </a:p>
        </p:txBody>
      </p:sp>
      <p:sp>
        <p:nvSpPr>
          <p:cNvPr id="7" name="Slide Number Placeholder 6">
            <a:extLst>
              <a:ext uri="{FF2B5EF4-FFF2-40B4-BE49-F238E27FC236}">
                <a16:creationId xmlns:a16="http://schemas.microsoft.com/office/drawing/2014/main" id="{8EE294F1-2C41-2B72-8D58-3A3607D28FD3}"/>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4026089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6F6D2-5CBA-8868-4BD4-363ED6C041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E6DC11-E404-8BD3-5FE8-A91EA1CC8B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976A12-656D-2277-79FE-7F41CC0BAD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C80FD8-FCBA-FDB6-63B6-310CCF45BCF6}"/>
              </a:ext>
            </a:extLst>
          </p:cNvPr>
          <p:cNvSpPr>
            <a:spLocks noGrp="1"/>
          </p:cNvSpPr>
          <p:nvPr>
            <p:ph type="dt" sz="half" idx="10"/>
          </p:nvPr>
        </p:nvSpPr>
        <p:spPr/>
        <p:txBody>
          <a:bodyPr/>
          <a:lstStyle/>
          <a:p>
            <a:fld id="{AA119BE3-88B3-455A-9BDC-599E340AB7FD}" type="datetime1">
              <a:rPr lang="en-IN" smtClean="0"/>
              <a:t>03-06-2026</a:t>
            </a:fld>
            <a:endParaRPr lang="en-IN"/>
          </a:p>
        </p:txBody>
      </p:sp>
      <p:sp>
        <p:nvSpPr>
          <p:cNvPr id="6" name="Footer Placeholder 5">
            <a:extLst>
              <a:ext uri="{FF2B5EF4-FFF2-40B4-BE49-F238E27FC236}">
                <a16:creationId xmlns:a16="http://schemas.microsoft.com/office/drawing/2014/main" id="{9B6CE872-2653-E5B0-BD00-29A78ED42A8B}"/>
              </a:ext>
            </a:extLst>
          </p:cNvPr>
          <p:cNvSpPr>
            <a:spLocks noGrp="1"/>
          </p:cNvSpPr>
          <p:nvPr>
            <p:ph type="ftr" sz="quarter" idx="11"/>
          </p:nvPr>
        </p:nvSpPr>
        <p:spPr/>
        <p:txBody>
          <a:bodyPr/>
          <a:lstStyle/>
          <a:p>
            <a:r>
              <a:rPr lang="en-US"/>
              <a:t>Machine Learning and Deep Learning  2025-26</a:t>
            </a:r>
            <a:endParaRPr lang="en-IN"/>
          </a:p>
        </p:txBody>
      </p:sp>
      <p:sp>
        <p:nvSpPr>
          <p:cNvPr id="7" name="Slide Number Placeholder 6">
            <a:extLst>
              <a:ext uri="{FF2B5EF4-FFF2-40B4-BE49-F238E27FC236}">
                <a16:creationId xmlns:a16="http://schemas.microsoft.com/office/drawing/2014/main" id="{211E88EC-DE07-B301-D881-2A7DD04D5D17}"/>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1228396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EB64B-DFFC-EE29-6142-4836585291C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B4EDE3-95BB-1046-EDC0-EA6F20E3F2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08BF2C-85CE-2616-364E-B0E885DC7742}"/>
              </a:ext>
            </a:extLst>
          </p:cNvPr>
          <p:cNvSpPr>
            <a:spLocks noGrp="1"/>
          </p:cNvSpPr>
          <p:nvPr>
            <p:ph type="dt" sz="half" idx="10"/>
          </p:nvPr>
        </p:nvSpPr>
        <p:spPr/>
        <p:txBody>
          <a:bodyPr/>
          <a:lstStyle/>
          <a:p>
            <a:fld id="{30CB97C3-E573-4711-9F56-272B77FB3FEE}" type="datetime1">
              <a:rPr lang="en-IN" smtClean="0"/>
              <a:t>03-06-2026</a:t>
            </a:fld>
            <a:endParaRPr lang="en-IN"/>
          </a:p>
        </p:txBody>
      </p:sp>
      <p:sp>
        <p:nvSpPr>
          <p:cNvPr id="5" name="Footer Placeholder 4">
            <a:extLst>
              <a:ext uri="{FF2B5EF4-FFF2-40B4-BE49-F238E27FC236}">
                <a16:creationId xmlns:a16="http://schemas.microsoft.com/office/drawing/2014/main" id="{5AEB7839-1F5D-F1F6-C93C-8C75E296E7A9}"/>
              </a:ext>
            </a:extLst>
          </p:cNvPr>
          <p:cNvSpPr>
            <a:spLocks noGrp="1"/>
          </p:cNvSpPr>
          <p:nvPr>
            <p:ph type="ftr" sz="quarter" idx="11"/>
          </p:nvPr>
        </p:nvSpPr>
        <p:spPr/>
        <p:txBody>
          <a:bodyPr/>
          <a:lstStyle/>
          <a:p>
            <a:r>
              <a:rPr lang="en-US"/>
              <a:t>Machine Learning and Deep Learning  2025-26</a:t>
            </a:r>
            <a:endParaRPr lang="en-IN"/>
          </a:p>
        </p:txBody>
      </p:sp>
      <p:sp>
        <p:nvSpPr>
          <p:cNvPr id="6" name="Slide Number Placeholder 5">
            <a:extLst>
              <a:ext uri="{FF2B5EF4-FFF2-40B4-BE49-F238E27FC236}">
                <a16:creationId xmlns:a16="http://schemas.microsoft.com/office/drawing/2014/main" id="{325DB0BE-285C-F3A2-DEA9-9F2EC8F40ED5}"/>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269912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2EBA49-86E1-BAC8-B45E-D636F348D9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975510-8871-8C1D-C077-FB1BD2BDFD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29E2B8-D501-71DA-6DB8-4CB25FECAB00}"/>
              </a:ext>
            </a:extLst>
          </p:cNvPr>
          <p:cNvSpPr>
            <a:spLocks noGrp="1"/>
          </p:cNvSpPr>
          <p:nvPr>
            <p:ph type="dt" sz="half" idx="10"/>
          </p:nvPr>
        </p:nvSpPr>
        <p:spPr/>
        <p:txBody>
          <a:bodyPr/>
          <a:lstStyle/>
          <a:p>
            <a:fld id="{709C7B93-255A-4292-B8BB-16CDAE912F36}" type="datetime1">
              <a:rPr lang="en-IN" smtClean="0"/>
              <a:t>03-06-2026</a:t>
            </a:fld>
            <a:endParaRPr lang="en-IN"/>
          </a:p>
        </p:txBody>
      </p:sp>
      <p:sp>
        <p:nvSpPr>
          <p:cNvPr id="5" name="Footer Placeholder 4">
            <a:extLst>
              <a:ext uri="{FF2B5EF4-FFF2-40B4-BE49-F238E27FC236}">
                <a16:creationId xmlns:a16="http://schemas.microsoft.com/office/drawing/2014/main" id="{49C359BA-8B3B-07EA-0FB0-0ADE2186DB9B}"/>
              </a:ext>
            </a:extLst>
          </p:cNvPr>
          <p:cNvSpPr>
            <a:spLocks noGrp="1"/>
          </p:cNvSpPr>
          <p:nvPr>
            <p:ph type="ftr" sz="quarter" idx="11"/>
          </p:nvPr>
        </p:nvSpPr>
        <p:spPr/>
        <p:txBody>
          <a:bodyPr/>
          <a:lstStyle/>
          <a:p>
            <a:r>
              <a:rPr lang="en-US"/>
              <a:t>Machine Learning and Deep Learning  2025-26</a:t>
            </a:r>
            <a:endParaRPr lang="en-IN"/>
          </a:p>
        </p:txBody>
      </p:sp>
      <p:sp>
        <p:nvSpPr>
          <p:cNvPr id="6" name="Slide Number Placeholder 5">
            <a:extLst>
              <a:ext uri="{FF2B5EF4-FFF2-40B4-BE49-F238E27FC236}">
                <a16:creationId xmlns:a16="http://schemas.microsoft.com/office/drawing/2014/main" id="{2E4FD80E-41B2-A8EF-62E0-16B27BF94EC1}"/>
              </a:ext>
            </a:extLst>
          </p:cNvPr>
          <p:cNvSpPr>
            <a:spLocks noGrp="1"/>
          </p:cNvSpPr>
          <p:nvPr>
            <p:ph type="sldNum" sz="quarter" idx="12"/>
          </p:nvPr>
        </p:nvSpPr>
        <p:spPr/>
        <p:txBody>
          <a:bodyPr/>
          <a:lstStyle/>
          <a:p>
            <a:fld id="{E1F63AF3-6154-4736-9721-29BAE7C5A3DC}" type="slidenum">
              <a:rPr lang="en-IN" smtClean="0"/>
              <a:t>‹#›</a:t>
            </a:fld>
            <a:endParaRPr lang="en-IN"/>
          </a:p>
        </p:txBody>
      </p:sp>
    </p:spTree>
    <p:extLst>
      <p:ext uri="{BB962C8B-B14F-4D97-AF65-F5344CB8AC3E}">
        <p14:creationId xmlns:p14="http://schemas.microsoft.com/office/powerpoint/2010/main" val="1798824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22D461-EB67-ED57-4F45-560A4D8958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7E7C43C-77C1-0FEF-8495-4388E08C82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92F7EB-241A-E8B0-687C-817843648A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EF5563-B531-4F57-BEE0-2E57E9E18F2A}" type="datetime1">
              <a:rPr lang="en-IN" smtClean="0"/>
              <a:t>03-06-2026</a:t>
            </a:fld>
            <a:endParaRPr lang="en-IN"/>
          </a:p>
        </p:txBody>
      </p:sp>
      <p:sp>
        <p:nvSpPr>
          <p:cNvPr id="5" name="Footer Placeholder 4">
            <a:extLst>
              <a:ext uri="{FF2B5EF4-FFF2-40B4-BE49-F238E27FC236}">
                <a16:creationId xmlns:a16="http://schemas.microsoft.com/office/drawing/2014/main" id="{166E2E3D-E2C2-C380-92F9-E01D454EC8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Machine Learning and Deep Learning  2025-26</a:t>
            </a:r>
            <a:endParaRPr lang="en-IN"/>
          </a:p>
        </p:txBody>
      </p:sp>
      <p:sp>
        <p:nvSpPr>
          <p:cNvPr id="6" name="Slide Number Placeholder 5">
            <a:extLst>
              <a:ext uri="{FF2B5EF4-FFF2-40B4-BE49-F238E27FC236}">
                <a16:creationId xmlns:a16="http://schemas.microsoft.com/office/drawing/2014/main" id="{16493D5E-9C0E-6FCB-9EAA-9FCE74862F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F63AF3-6154-4736-9721-29BAE7C5A3DC}" type="slidenum">
              <a:rPr lang="en-IN" smtClean="0"/>
              <a:t>‹#›</a:t>
            </a:fld>
            <a:endParaRPr lang="en-IN"/>
          </a:p>
        </p:txBody>
      </p:sp>
    </p:spTree>
    <p:extLst>
      <p:ext uri="{BB962C8B-B14F-4D97-AF65-F5344CB8AC3E}">
        <p14:creationId xmlns:p14="http://schemas.microsoft.com/office/powerpoint/2010/main" val="1404447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B0F0">
            <a:alpha val="2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B2D3B-200F-2EB8-1D64-6298BB15ADB1}"/>
              </a:ext>
            </a:extLst>
          </p:cNvPr>
          <p:cNvSpPr>
            <a:spLocks noGrp="1"/>
          </p:cNvSpPr>
          <p:nvPr>
            <p:ph type="ctrTitle"/>
          </p:nvPr>
        </p:nvSpPr>
        <p:spPr>
          <a:xfrm>
            <a:off x="0" y="9832"/>
            <a:ext cx="1189703" cy="314632"/>
          </a:xfrm>
          <a:ln w="12700">
            <a:solidFill>
              <a:schemeClr val="accent3">
                <a:lumMod val="20000"/>
                <a:lumOff val="80000"/>
              </a:schemeClr>
            </a:solidFill>
          </a:ln>
        </p:spPr>
        <p:txBody>
          <a:bodyPr>
            <a:normAutofit/>
          </a:bodyPr>
          <a:lstStyle/>
          <a:p>
            <a:pPr algn="l"/>
            <a:r>
              <a:rPr lang="en-IN" sz="1600" b="1" dirty="0">
                <a:latin typeface="Times New Roman" panose="02020603050405020304" pitchFamily="18" charset="0"/>
                <a:cs typeface="Times New Roman" panose="02020603050405020304" pitchFamily="18" charset="0"/>
              </a:rPr>
              <a:t>TEAM - 03</a:t>
            </a:r>
          </a:p>
        </p:txBody>
      </p:sp>
      <p:pic>
        <p:nvPicPr>
          <p:cNvPr id="3" name="Picture 2" descr="KLE Technological University in Hubballi">
            <a:extLst>
              <a:ext uri="{FF2B5EF4-FFF2-40B4-BE49-F238E27FC236}">
                <a16:creationId xmlns:a16="http://schemas.microsoft.com/office/drawing/2014/main" id="{8E9746DB-C7A3-9B1F-96C1-C77CA79FFA24}"/>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755041" y="-9834"/>
            <a:ext cx="2436960" cy="573453"/>
          </a:xfrm>
          <a:prstGeom prst="rect">
            <a:avLst/>
          </a:prstGeom>
          <a:noFill/>
          <a:ln>
            <a:noFill/>
          </a:ln>
          <a:extLst>
            <a:ext uri="{53640926-AAD7-44D8-BBD7-CCE9431645EC}">
              <a14:shadowObscured xmlns:a14="http://schemas.microsoft.com/office/drawing/2010/main"/>
            </a:ext>
          </a:extLst>
        </p:spPr>
      </p:pic>
      <p:sp>
        <p:nvSpPr>
          <p:cNvPr id="9" name="Footer Placeholder 8">
            <a:extLst>
              <a:ext uri="{FF2B5EF4-FFF2-40B4-BE49-F238E27FC236}">
                <a16:creationId xmlns:a16="http://schemas.microsoft.com/office/drawing/2014/main" id="{8B11F777-4555-8A3D-3DE8-2C4836D18EBF}"/>
              </a:ext>
            </a:extLst>
          </p:cNvPr>
          <p:cNvSpPr>
            <a:spLocks noGrp="1"/>
          </p:cNvSpPr>
          <p:nvPr>
            <p:ph type="ftr" sz="quarter" idx="11"/>
          </p:nvPr>
        </p:nvSpPr>
        <p:spPr/>
        <p:txBody>
          <a:bodyPr/>
          <a:lstStyle/>
          <a:p>
            <a:r>
              <a:rPr lang="en-US" dirty="0"/>
              <a:t>GEN AI  2025-26</a:t>
            </a:r>
            <a:endParaRPr lang="en-IN" dirty="0"/>
          </a:p>
        </p:txBody>
      </p:sp>
      <p:sp>
        <p:nvSpPr>
          <p:cNvPr id="10" name="Date Placeholder 9">
            <a:extLst>
              <a:ext uri="{FF2B5EF4-FFF2-40B4-BE49-F238E27FC236}">
                <a16:creationId xmlns:a16="http://schemas.microsoft.com/office/drawing/2014/main" id="{92F45CAA-5802-0D14-DFAE-68EC01E6C38A}"/>
              </a:ext>
            </a:extLst>
          </p:cNvPr>
          <p:cNvSpPr>
            <a:spLocks noGrp="1"/>
          </p:cNvSpPr>
          <p:nvPr>
            <p:ph type="dt" sz="half" idx="10"/>
          </p:nvPr>
        </p:nvSpPr>
        <p:spPr/>
        <p:txBody>
          <a:bodyPr/>
          <a:lstStyle/>
          <a:p>
            <a:fld id="{ADD9759A-B1A9-4C6E-B49D-20CE7B11D21B}" type="datetime1">
              <a:rPr lang="en-IN" smtClean="0"/>
              <a:t>03-06-2026</a:t>
            </a:fld>
            <a:endParaRPr lang="en-IN" dirty="0"/>
          </a:p>
        </p:txBody>
      </p:sp>
      <p:sp>
        <p:nvSpPr>
          <p:cNvPr id="11" name="Slide Number Placeholder 10">
            <a:extLst>
              <a:ext uri="{FF2B5EF4-FFF2-40B4-BE49-F238E27FC236}">
                <a16:creationId xmlns:a16="http://schemas.microsoft.com/office/drawing/2014/main" id="{3B5066B1-0261-DAEA-6955-8434DFCEC7E4}"/>
              </a:ext>
            </a:extLst>
          </p:cNvPr>
          <p:cNvSpPr>
            <a:spLocks noGrp="1"/>
          </p:cNvSpPr>
          <p:nvPr>
            <p:ph type="sldNum" sz="quarter" idx="12"/>
          </p:nvPr>
        </p:nvSpPr>
        <p:spPr/>
        <p:txBody>
          <a:bodyPr/>
          <a:lstStyle/>
          <a:p>
            <a:fld id="{E1F63AF3-6154-4736-9721-29BAE7C5A3DC}" type="slidenum">
              <a:rPr lang="en-IN" smtClean="0"/>
              <a:t>1</a:t>
            </a:fld>
            <a:endParaRPr lang="en-IN" dirty="0"/>
          </a:p>
        </p:txBody>
      </p:sp>
      <p:sp>
        <p:nvSpPr>
          <p:cNvPr id="15" name="Title 1">
            <a:extLst>
              <a:ext uri="{FF2B5EF4-FFF2-40B4-BE49-F238E27FC236}">
                <a16:creationId xmlns:a16="http://schemas.microsoft.com/office/drawing/2014/main" id="{33BF39F4-D346-0FBA-C50F-7FC24687D72E}"/>
              </a:ext>
            </a:extLst>
          </p:cNvPr>
          <p:cNvSpPr txBox="1">
            <a:spLocks/>
          </p:cNvSpPr>
          <p:nvPr/>
        </p:nvSpPr>
        <p:spPr>
          <a:xfrm>
            <a:off x="1633179" y="167148"/>
            <a:ext cx="9737827" cy="15212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latin typeface="Times New Roman"/>
                <a:cs typeface="Times New Roman"/>
              </a:rPr>
              <a:t>GEN AI</a:t>
            </a:r>
          </a:p>
        </p:txBody>
      </p:sp>
      <p:sp>
        <p:nvSpPr>
          <p:cNvPr id="16" name="TextBox 15">
            <a:extLst>
              <a:ext uri="{FF2B5EF4-FFF2-40B4-BE49-F238E27FC236}">
                <a16:creationId xmlns:a16="http://schemas.microsoft.com/office/drawing/2014/main" id="{A0BF0379-488B-D654-EFE5-28261C005E26}"/>
              </a:ext>
            </a:extLst>
          </p:cNvPr>
          <p:cNvSpPr txBox="1"/>
          <p:nvPr/>
        </p:nvSpPr>
        <p:spPr>
          <a:xfrm>
            <a:off x="1950512" y="649609"/>
            <a:ext cx="8878529" cy="400110"/>
          </a:xfrm>
          <a:prstGeom prst="rect">
            <a:avLst/>
          </a:prstGeom>
          <a:noFill/>
        </p:spPr>
        <p:txBody>
          <a:bodyPr wrap="square" lIns="91440" tIns="45720" rIns="91440" bIns="45720" rtlCol="0" anchor="t">
            <a:spAutoFit/>
          </a:bodyPr>
          <a:lstStyle/>
          <a:p>
            <a:pPr algn="ctr"/>
            <a:r>
              <a:rPr lang="en-IN" sz="2000">
                <a:latin typeface="Times New Roman"/>
                <a:cs typeface="Times New Roman"/>
              </a:rPr>
              <a:t>    Course Project under the course</a:t>
            </a:r>
            <a:endParaRPr lang="en-US" sz="2000">
              <a:latin typeface="Times New Roman"/>
              <a:cs typeface="Times New Roman"/>
            </a:endParaRPr>
          </a:p>
        </p:txBody>
      </p:sp>
      <p:sp>
        <p:nvSpPr>
          <p:cNvPr id="17" name="TextBox 16">
            <a:extLst>
              <a:ext uri="{FF2B5EF4-FFF2-40B4-BE49-F238E27FC236}">
                <a16:creationId xmlns:a16="http://schemas.microsoft.com/office/drawing/2014/main" id="{F398018C-8266-2B7F-FB46-C9E3ACA65E70}"/>
              </a:ext>
            </a:extLst>
          </p:cNvPr>
          <p:cNvSpPr txBox="1"/>
          <p:nvPr/>
        </p:nvSpPr>
        <p:spPr>
          <a:xfrm>
            <a:off x="0" y="1678238"/>
            <a:ext cx="1233762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Title : </a:t>
            </a:r>
            <a:r>
              <a:rPr lang="en-US" sz="2400" b="1" dirty="0">
                <a:latin typeface="Times New Roman" panose="02020603050405020304" pitchFamily="18" charset="0"/>
                <a:cs typeface="Times New Roman" panose="02020603050405020304" pitchFamily="18" charset="0"/>
              </a:rPr>
              <a:t>Automated Object Removal and Image Restoration Using Stable Diffusion Inpainting</a:t>
            </a:r>
            <a:r>
              <a:rPr lang="en-IN" sz="2400" b="1" dirty="0">
                <a:latin typeface="Times New Roman" panose="02020603050405020304" pitchFamily="18" charset="0"/>
                <a:cs typeface="Times New Roman" panose="02020603050405020304" pitchFamily="18" charset="0"/>
              </a:rPr>
              <a:t>.</a:t>
            </a:r>
          </a:p>
        </p:txBody>
      </p:sp>
      <p:graphicFrame>
        <p:nvGraphicFramePr>
          <p:cNvPr id="18" name="Table 17">
            <a:extLst>
              <a:ext uri="{FF2B5EF4-FFF2-40B4-BE49-F238E27FC236}">
                <a16:creationId xmlns:a16="http://schemas.microsoft.com/office/drawing/2014/main" id="{BB332309-A090-2AFF-0A83-78EBD4E279D2}"/>
              </a:ext>
            </a:extLst>
          </p:cNvPr>
          <p:cNvGraphicFramePr>
            <a:graphicFrameLocks noGrp="1"/>
          </p:cNvGraphicFramePr>
          <p:nvPr>
            <p:extLst>
              <p:ext uri="{D42A27DB-BD31-4B8C-83A1-F6EECF244321}">
                <p14:modId xmlns:p14="http://schemas.microsoft.com/office/powerpoint/2010/main" val="1087658595"/>
              </p:ext>
            </p:extLst>
          </p:nvPr>
        </p:nvGraphicFramePr>
        <p:xfrm>
          <a:off x="1735001" y="2322008"/>
          <a:ext cx="8800262" cy="3131264"/>
        </p:xfrm>
        <a:graphic>
          <a:graphicData uri="http://schemas.openxmlformats.org/drawingml/2006/table">
            <a:tbl>
              <a:tblPr bandRow="1">
                <a:tableStyleId>{5940675A-B579-460E-94D1-54222C63F5DA}</a:tableStyleId>
              </a:tblPr>
              <a:tblGrid>
                <a:gridCol w="1211839">
                  <a:extLst>
                    <a:ext uri="{9D8B030D-6E8A-4147-A177-3AD203B41FA5}">
                      <a16:colId xmlns:a16="http://schemas.microsoft.com/office/drawing/2014/main" val="3542489898"/>
                    </a:ext>
                  </a:extLst>
                </a:gridCol>
                <a:gridCol w="1375341">
                  <a:extLst>
                    <a:ext uri="{9D8B030D-6E8A-4147-A177-3AD203B41FA5}">
                      <a16:colId xmlns:a16="http://schemas.microsoft.com/office/drawing/2014/main" val="3069642519"/>
                    </a:ext>
                  </a:extLst>
                </a:gridCol>
                <a:gridCol w="1240693">
                  <a:extLst>
                    <a:ext uri="{9D8B030D-6E8A-4147-A177-3AD203B41FA5}">
                      <a16:colId xmlns:a16="http://schemas.microsoft.com/office/drawing/2014/main" val="240520809"/>
                    </a:ext>
                  </a:extLst>
                </a:gridCol>
                <a:gridCol w="2067821">
                  <a:extLst>
                    <a:ext uri="{9D8B030D-6E8A-4147-A177-3AD203B41FA5}">
                      <a16:colId xmlns:a16="http://schemas.microsoft.com/office/drawing/2014/main" val="1572558768"/>
                    </a:ext>
                  </a:extLst>
                </a:gridCol>
                <a:gridCol w="2904568">
                  <a:extLst>
                    <a:ext uri="{9D8B030D-6E8A-4147-A177-3AD203B41FA5}">
                      <a16:colId xmlns:a16="http://schemas.microsoft.com/office/drawing/2014/main" val="4255369968"/>
                    </a:ext>
                  </a:extLst>
                </a:gridCol>
              </a:tblGrid>
              <a:tr h="564220">
                <a:tc gridSpan="5">
                  <a:txBody>
                    <a:bodyPr/>
                    <a:lstStyle/>
                    <a:p>
                      <a:pPr algn="ctr" fontAlgn="base">
                        <a:lnSpc>
                          <a:spcPts val="1950"/>
                        </a:lnSpc>
                        <a:buNone/>
                      </a:pPr>
                      <a:r>
                        <a:rPr lang="en-IN" sz="2400" b="1" dirty="0">
                          <a:solidFill>
                            <a:schemeClr val="tx1"/>
                          </a:solidFill>
                          <a:effectLst/>
                          <a:latin typeface="Times New Roman" panose="02020603050405020304" pitchFamily="18" charset="0"/>
                          <a:cs typeface="Times New Roman" panose="02020603050405020304" pitchFamily="18" charset="0"/>
                        </a:rPr>
                        <a:t>TEAM DETAILS – TEAM No. 03</a:t>
                      </a:r>
                      <a:endParaRPr lang="en-IN" sz="2800" b="1" dirty="0">
                        <a:solidFill>
                          <a:schemeClr val="tx1"/>
                        </a:solidFill>
                        <a:effectLst/>
                        <a:latin typeface="Times New Roman" panose="02020603050405020304" pitchFamily="18" charset="0"/>
                        <a:cs typeface="Times New Roman" panose="02020603050405020304" pitchFamily="18" charset="0"/>
                      </a:endParaRPr>
                    </a:p>
                  </a:txBody>
                  <a:tcPr marT="34290" marB="3429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57423571"/>
                  </a:ext>
                </a:extLst>
              </a:tr>
              <a:tr h="641761">
                <a:tc>
                  <a:txBody>
                    <a:bodyPr/>
                    <a:lstStyle/>
                    <a:p>
                      <a:pPr algn="ctr" fontAlgn="base">
                        <a:lnSpc>
                          <a:spcPts val="1950"/>
                        </a:lnSpc>
                        <a:buNone/>
                      </a:pPr>
                      <a:r>
                        <a:rPr lang="en-US" sz="2000" b="1">
                          <a:effectLst/>
                          <a:latin typeface="Times New Roman" panose="02020603050405020304" pitchFamily="18" charset="0"/>
                          <a:cs typeface="Times New Roman" panose="02020603050405020304" pitchFamily="18" charset="0"/>
                        </a:rPr>
                        <a:t>Sl. No</a:t>
                      </a:r>
                      <a:endParaRPr lang="en-US" sz="2400" b="1">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b="1">
                          <a:effectLst/>
                          <a:latin typeface="Times New Roman" panose="02020603050405020304" pitchFamily="18" charset="0"/>
                          <a:cs typeface="Times New Roman" panose="02020603050405020304" pitchFamily="18" charset="0"/>
                        </a:rPr>
                        <a:t>Roll No.</a:t>
                      </a:r>
                      <a:endParaRPr lang="en-US" sz="2400" b="1">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b="1">
                          <a:effectLst/>
                          <a:latin typeface="Times New Roman" panose="02020603050405020304" pitchFamily="18" charset="0"/>
                          <a:cs typeface="Times New Roman" panose="02020603050405020304" pitchFamily="18" charset="0"/>
                        </a:rPr>
                        <a:t>Div</a:t>
                      </a:r>
                      <a:endParaRPr lang="en-US" sz="2400" b="1">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b="1">
                          <a:effectLst/>
                          <a:latin typeface="Times New Roman" panose="02020603050405020304" pitchFamily="18" charset="0"/>
                          <a:cs typeface="Times New Roman" panose="02020603050405020304" pitchFamily="18" charset="0"/>
                        </a:rPr>
                        <a:t>SRN</a:t>
                      </a:r>
                      <a:endParaRPr lang="en-US" sz="2400" b="1">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b="1">
                          <a:effectLst/>
                          <a:latin typeface="Times New Roman" panose="02020603050405020304" pitchFamily="18" charset="0"/>
                          <a:cs typeface="Times New Roman" panose="02020603050405020304" pitchFamily="18" charset="0"/>
                        </a:rPr>
                        <a:t>Name</a:t>
                      </a:r>
                      <a:endParaRPr lang="en-US" sz="2400" b="1">
                        <a:effectLst/>
                        <a:latin typeface="Times New Roman" panose="02020603050405020304" pitchFamily="18" charset="0"/>
                        <a:cs typeface="Times New Roman" panose="02020603050405020304" pitchFamily="18" charset="0"/>
                      </a:endParaRPr>
                    </a:p>
                  </a:txBody>
                  <a:tcPr marT="34290" marB="34290" anchor="ctr"/>
                </a:tc>
                <a:extLst>
                  <a:ext uri="{0D108BD9-81ED-4DB2-BD59-A6C34878D82A}">
                    <a16:rowId xmlns:a16="http://schemas.microsoft.com/office/drawing/2014/main" val="682316915"/>
                  </a:ext>
                </a:extLst>
              </a:tr>
              <a:tr h="641761">
                <a:tc>
                  <a:txBody>
                    <a:bodyPr/>
                    <a:lstStyle/>
                    <a:p>
                      <a:pPr algn="ctr" fontAlgn="base">
                        <a:lnSpc>
                          <a:spcPts val="1950"/>
                        </a:lnSpc>
                        <a:buNone/>
                      </a:pPr>
                      <a:r>
                        <a:rPr lang="en-US" sz="2000">
                          <a:effectLst/>
                          <a:latin typeface="Times New Roman" panose="02020603050405020304" pitchFamily="18" charset="0"/>
                          <a:cs typeface="Times New Roman" panose="02020603050405020304" pitchFamily="18" charset="0"/>
                        </a:rPr>
                        <a:t>1</a:t>
                      </a:r>
                      <a:endParaRPr lang="en-US" sz="240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536</a:t>
                      </a:r>
                      <a:endParaRPr lang="en-US" sz="2400" dirty="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a:effectLst/>
                          <a:latin typeface="Times New Roman" panose="02020603050405020304" pitchFamily="18" charset="0"/>
                          <a:cs typeface="Times New Roman" panose="02020603050405020304" pitchFamily="18" charset="0"/>
                        </a:rPr>
                        <a:t>E</a:t>
                      </a:r>
                      <a:endParaRPr lang="en-US" sz="240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01FE23BEC271</a:t>
                      </a:r>
                      <a:endParaRPr lang="en-US" sz="2400" dirty="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SATISH BURUD</a:t>
                      </a:r>
                      <a:endParaRPr lang="en-US" sz="2400" dirty="0">
                        <a:effectLst/>
                        <a:latin typeface="Times New Roman" panose="02020603050405020304" pitchFamily="18" charset="0"/>
                        <a:cs typeface="Times New Roman" panose="02020603050405020304" pitchFamily="18" charset="0"/>
                      </a:endParaRPr>
                    </a:p>
                  </a:txBody>
                  <a:tcPr marT="34290" marB="34290" anchor="ctr"/>
                </a:tc>
                <a:extLst>
                  <a:ext uri="{0D108BD9-81ED-4DB2-BD59-A6C34878D82A}">
                    <a16:rowId xmlns:a16="http://schemas.microsoft.com/office/drawing/2014/main" val="3051696027"/>
                  </a:ext>
                </a:extLst>
              </a:tr>
              <a:tr h="641761">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2</a:t>
                      </a:r>
                      <a:endParaRPr lang="en-US" sz="2400" dirty="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552</a:t>
                      </a:r>
                      <a:endParaRPr lang="en-US" sz="2400" dirty="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a:effectLst/>
                          <a:latin typeface="Times New Roman" panose="02020603050405020304" pitchFamily="18" charset="0"/>
                          <a:cs typeface="Times New Roman" panose="02020603050405020304" pitchFamily="18" charset="0"/>
                        </a:rPr>
                        <a:t>E</a:t>
                      </a:r>
                      <a:endParaRPr lang="en-US" sz="240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01FE23BEC286</a:t>
                      </a:r>
                      <a:endParaRPr lang="en-US" sz="2400" dirty="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SAHANA MATHAPATI</a:t>
                      </a:r>
                      <a:endParaRPr lang="en-US" sz="2400" dirty="0">
                        <a:effectLst/>
                        <a:latin typeface="Times New Roman" panose="02020603050405020304" pitchFamily="18" charset="0"/>
                        <a:cs typeface="Times New Roman" panose="02020603050405020304" pitchFamily="18" charset="0"/>
                      </a:endParaRPr>
                    </a:p>
                  </a:txBody>
                  <a:tcPr marT="34290" marB="34290" anchor="ctr"/>
                </a:tc>
                <a:extLst>
                  <a:ext uri="{0D108BD9-81ED-4DB2-BD59-A6C34878D82A}">
                    <a16:rowId xmlns:a16="http://schemas.microsoft.com/office/drawing/2014/main" val="1031824688"/>
                  </a:ext>
                </a:extLst>
              </a:tr>
              <a:tr h="641761">
                <a:tc>
                  <a:txBody>
                    <a:bodyPr/>
                    <a:lstStyle/>
                    <a:p>
                      <a:pPr algn="ctr" fontAlgn="base">
                        <a:lnSpc>
                          <a:spcPts val="1950"/>
                        </a:lnSpc>
                        <a:buNone/>
                      </a:pPr>
                      <a:r>
                        <a:rPr lang="en-US" sz="2000">
                          <a:effectLst/>
                          <a:latin typeface="Times New Roman" panose="02020603050405020304" pitchFamily="18" charset="0"/>
                          <a:cs typeface="Times New Roman" panose="02020603050405020304" pitchFamily="18" charset="0"/>
                        </a:rPr>
                        <a:t>3</a:t>
                      </a:r>
                      <a:endParaRPr lang="en-US" sz="240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553</a:t>
                      </a:r>
                      <a:endParaRPr lang="en-US" sz="2400" dirty="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E</a:t>
                      </a:r>
                      <a:endParaRPr lang="en-US" sz="2400" dirty="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01FE23BEC287</a:t>
                      </a:r>
                      <a:endParaRPr lang="en-US" sz="2400" dirty="0">
                        <a:effectLst/>
                        <a:latin typeface="Times New Roman" panose="02020603050405020304" pitchFamily="18" charset="0"/>
                        <a:cs typeface="Times New Roman" panose="02020603050405020304" pitchFamily="18" charset="0"/>
                      </a:endParaRPr>
                    </a:p>
                  </a:txBody>
                  <a:tcPr marT="34290" marB="34290" anchor="ctr"/>
                </a:tc>
                <a:tc>
                  <a:txBody>
                    <a:bodyPr/>
                    <a:lstStyle/>
                    <a:p>
                      <a:pPr algn="ctr" fontAlgn="base">
                        <a:lnSpc>
                          <a:spcPts val="1950"/>
                        </a:lnSpc>
                        <a:buNone/>
                      </a:pPr>
                      <a:r>
                        <a:rPr lang="en-US" sz="2000" dirty="0">
                          <a:effectLst/>
                          <a:latin typeface="Times New Roman" panose="02020603050405020304" pitchFamily="18" charset="0"/>
                          <a:cs typeface="Times New Roman" panose="02020603050405020304" pitchFamily="18" charset="0"/>
                        </a:rPr>
                        <a:t>SURAJ ALAGOUDA</a:t>
                      </a:r>
                    </a:p>
                  </a:txBody>
                  <a:tcPr marT="34290" marB="34290" anchor="ctr"/>
                </a:tc>
                <a:extLst>
                  <a:ext uri="{0D108BD9-81ED-4DB2-BD59-A6C34878D82A}">
                    <a16:rowId xmlns:a16="http://schemas.microsoft.com/office/drawing/2014/main" val="2833478353"/>
                  </a:ext>
                </a:extLst>
              </a:tr>
            </a:tbl>
          </a:graphicData>
        </a:graphic>
      </p:graphicFrame>
      <p:sp>
        <p:nvSpPr>
          <p:cNvPr id="4" name="TextBox 3">
            <a:extLst>
              <a:ext uri="{FF2B5EF4-FFF2-40B4-BE49-F238E27FC236}">
                <a16:creationId xmlns:a16="http://schemas.microsoft.com/office/drawing/2014/main" id="{DAB96840-AEBD-4470-3746-7594C902CE4A}"/>
              </a:ext>
            </a:extLst>
          </p:cNvPr>
          <p:cNvSpPr txBox="1"/>
          <p:nvPr/>
        </p:nvSpPr>
        <p:spPr>
          <a:xfrm>
            <a:off x="1563327" y="5651593"/>
            <a:ext cx="8622891" cy="646331"/>
          </a:xfrm>
          <a:prstGeom prst="rect">
            <a:avLst/>
          </a:prstGeom>
          <a:noFill/>
        </p:spPr>
        <p:txBody>
          <a:bodyPr wrap="square">
            <a:spAutoFit/>
          </a:bodyPr>
          <a:lstStyle/>
          <a:p>
            <a:pPr algn="ctr"/>
            <a:r>
              <a:rPr lang="en-IN" sz="1800" b="1" dirty="0">
                <a:latin typeface="Times New Roman" panose="02020603050405020304" pitchFamily="18" charset="0"/>
                <a:cs typeface="Times New Roman" panose="02020603050405020304" pitchFamily="18" charset="0"/>
              </a:rPr>
              <a:t>Under the Guidance of </a:t>
            </a: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Amit T</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6323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2581A-FE84-AE1A-8A1E-2F1F1B901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B84BB-8FFA-415C-73B2-B842F3423593}"/>
              </a:ext>
            </a:extLst>
          </p:cNvPr>
          <p:cNvSpPr>
            <a:spLocks noGrp="1"/>
          </p:cNvSpPr>
          <p:nvPr>
            <p:ph type="ctrTitle"/>
          </p:nvPr>
        </p:nvSpPr>
        <p:spPr>
          <a:xfrm>
            <a:off x="0" y="9832"/>
            <a:ext cx="1189703" cy="314632"/>
          </a:xfrm>
          <a:ln w="12700">
            <a:solidFill>
              <a:schemeClr val="accent3">
                <a:lumMod val="20000"/>
                <a:lumOff val="80000"/>
              </a:schemeClr>
            </a:solidFill>
          </a:ln>
        </p:spPr>
        <p:txBody>
          <a:bodyPr>
            <a:normAutofit/>
          </a:bodyPr>
          <a:lstStyle/>
          <a:p>
            <a:pPr algn="l"/>
            <a:r>
              <a:rPr lang="en-IN" sz="1600" b="1" dirty="0">
                <a:latin typeface="Times New Roman" panose="02020603050405020304" pitchFamily="18" charset="0"/>
                <a:cs typeface="Times New Roman" panose="02020603050405020304" pitchFamily="18" charset="0"/>
              </a:rPr>
              <a:t>TEAM - 03</a:t>
            </a:r>
          </a:p>
        </p:txBody>
      </p:sp>
      <p:sp>
        <p:nvSpPr>
          <p:cNvPr id="5" name="Title 1">
            <a:extLst>
              <a:ext uri="{FF2B5EF4-FFF2-40B4-BE49-F238E27FC236}">
                <a16:creationId xmlns:a16="http://schemas.microsoft.com/office/drawing/2014/main" id="{A4F6DBCE-0A77-4E89-DDC2-E3017EF9CBC6}"/>
              </a:ext>
            </a:extLst>
          </p:cNvPr>
          <p:cNvSpPr txBox="1">
            <a:spLocks/>
          </p:cNvSpPr>
          <p:nvPr/>
        </p:nvSpPr>
        <p:spPr>
          <a:xfrm>
            <a:off x="4965290" y="0"/>
            <a:ext cx="2261420" cy="388375"/>
          </a:xfrm>
          <a:prstGeom prst="rect">
            <a:avLst/>
          </a:prstGeom>
          <a:ln w="12700">
            <a:solidFill>
              <a:schemeClr val="accent3">
                <a:lumMod val="20000"/>
                <a:lumOff val="80000"/>
              </a:schemeClr>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Introduction</a:t>
            </a:r>
          </a:p>
        </p:txBody>
      </p:sp>
      <p:sp>
        <p:nvSpPr>
          <p:cNvPr id="6" name="TextBox 5">
            <a:extLst>
              <a:ext uri="{FF2B5EF4-FFF2-40B4-BE49-F238E27FC236}">
                <a16:creationId xmlns:a16="http://schemas.microsoft.com/office/drawing/2014/main" id="{B052A445-E1D7-E261-C610-45CD86630DC0}"/>
              </a:ext>
            </a:extLst>
          </p:cNvPr>
          <p:cNvSpPr txBox="1"/>
          <p:nvPr/>
        </p:nvSpPr>
        <p:spPr>
          <a:xfrm>
            <a:off x="110613" y="897961"/>
            <a:ext cx="11970774" cy="783193"/>
          </a:xfrm>
          <a:prstGeom prst="roundRect">
            <a:avLst/>
          </a:prstGeom>
          <a:solidFill>
            <a:schemeClr val="tx2">
              <a:lumMod val="20000"/>
              <a:lumOff val="80000"/>
              <a:alpha val="11000"/>
            </a:schemeClr>
          </a:solidFill>
          <a:ln>
            <a:solidFill>
              <a:schemeClr val="accent1">
                <a:lumMod val="75000"/>
              </a:schemeClr>
            </a:solidFill>
          </a:ln>
        </p:spPr>
        <p:txBody>
          <a:bodyPr wrap="square" rtlCol="0">
            <a:spAutoFit/>
          </a:bodyPr>
          <a:lstStyle/>
          <a:p>
            <a:r>
              <a:rPr lang="en-IN" sz="2000" b="1" dirty="0"/>
              <a:t>Problem Statement :  </a:t>
            </a:r>
            <a:r>
              <a:rPr lang="en-US" sz="2000" dirty="0">
                <a:latin typeface="Times New Roman" panose="02020603050405020304" pitchFamily="18" charset="0"/>
                <a:cs typeface="Times New Roman" panose="02020603050405020304" pitchFamily="18" charset="0"/>
              </a:rPr>
              <a:t>“To develop an AI-powered image inpainting system that automatically removes unwanted objects and generates realistic background reconstruction using Generative AI techniques”.</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F663037-1CB9-41C0-3790-E1449A7B1A9E}"/>
              </a:ext>
            </a:extLst>
          </p:cNvPr>
          <p:cNvSpPr txBox="1"/>
          <p:nvPr/>
        </p:nvSpPr>
        <p:spPr>
          <a:xfrm>
            <a:off x="140110" y="2318679"/>
            <a:ext cx="11845413" cy="3816429"/>
          </a:xfrm>
          <a:prstGeom prst="rect">
            <a:avLst/>
          </a:prstGeom>
          <a:solidFill>
            <a:schemeClr val="bg1">
              <a:lumMod val="95000"/>
            </a:schemeClr>
          </a:solidFill>
          <a:ln>
            <a:solidFill>
              <a:schemeClr val="accent1">
                <a:lumMod val="60000"/>
                <a:lumOff val="40000"/>
              </a:schemeClr>
            </a:solidFill>
          </a:ln>
        </p:spPr>
        <p:txBody>
          <a:bodyPr wrap="square" lIns="91440" tIns="45720" rIns="91440" bIns="45720" anchor="t">
            <a:spAutoFit/>
          </a:bodyPr>
          <a:lstStyle/>
          <a:p>
            <a:pPr marL="285750" indent="-285750" algn="just">
              <a:buFont typeface="Wingdings" panose="05000000000000000000" pitchFamily="2" charset="2"/>
              <a:buChar char="Ø"/>
            </a:pPr>
            <a:endParaRPr lang="en-US" sz="11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rapid growth of digital media and online content creation has increased the demand for efficient image editing and restoration techniques. Unwanted objects such as people, vehicles, animals, logos, and other distracting elements often reduce the visual quality and usefulness of images.</a:t>
            </a:r>
          </a:p>
          <a:p>
            <a:pPr algn="just"/>
            <a:endParaRPr lang="en-US" sz="11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Traditional editing approaches are time-consuming and may produce unrealistic reconstruction results.</a:t>
            </a:r>
          </a:p>
          <a:p>
            <a:pPr marL="285750" indent="-285750" algn="just">
              <a:buFont typeface="Wingdings" panose="05000000000000000000" pitchFamily="2" charset="2"/>
              <a:buChar char="Ø"/>
            </a:pPr>
            <a:endParaRPr lang="en-US" sz="11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is a need for an automated AI-driven solution that can intelligently remove objects and restore the missing image regions.</a:t>
            </a:r>
          </a:p>
          <a:p>
            <a:pPr marL="285750" indent="-285750" algn="just">
              <a:buFont typeface="Wingdings" panose="05000000000000000000" pitchFamily="2" charset="2"/>
              <a:buChar char="Ø"/>
            </a:pPr>
            <a:endParaRPr lang="en-US" sz="11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proposed system utilizes object segmentation, mask refinement, and Stable Diffusion Inpainting to generate realistic and visually consistent outputs.</a:t>
            </a:r>
          </a:p>
          <a:p>
            <a:pPr marL="285750" indent="-285750" algn="just">
              <a:buFont typeface="Wingdings" panose="05000000000000000000" pitchFamily="2" charset="2"/>
              <a:buChar char="Ø"/>
            </a:pPr>
            <a:endParaRPr lang="en-US" sz="11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aims to simplify image editing while improving restoration quality through Generative AI techniques.</a:t>
            </a:r>
          </a:p>
          <a:p>
            <a:pPr marL="285750" indent="-285750"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9BEC1B1-B23A-1A41-2456-39953B880773}"/>
              </a:ext>
            </a:extLst>
          </p:cNvPr>
          <p:cNvSpPr txBox="1"/>
          <p:nvPr/>
        </p:nvSpPr>
        <p:spPr>
          <a:xfrm>
            <a:off x="0" y="1792986"/>
            <a:ext cx="6292644" cy="461665"/>
          </a:xfrm>
          <a:prstGeom prst="rect">
            <a:avLst/>
          </a:prstGeom>
          <a:noFill/>
        </p:spPr>
        <p:txBody>
          <a:bodyPr wrap="square">
            <a:spAutoFit/>
          </a:bodyPr>
          <a:lstStyle/>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Problem Definition :</a:t>
            </a:r>
          </a:p>
        </p:txBody>
      </p:sp>
      <p:sp>
        <p:nvSpPr>
          <p:cNvPr id="10" name="Date Placeholder 9">
            <a:extLst>
              <a:ext uri="{FF2B5EF4-FFF2-40B4-BE49-F238E27FC236}">
                <a16:creationId xmlns:a16="http://schemas.microsoft.com/office/drawing/2014/main" id="{BC97BCFC-D78F-37D5-2016-EAD99AFB3A55}"/>
              </a:ext>
            </a:extLst>
          </p:cNvPr>
          <p:cNvSpPr>
            <a:spLocks noGrp="1"/>
          </p:cNvSpPr>
          <p:nvPr>
            <p:ph type="dt" sz="half" idx="10"/>
          </p:nvPr>
        </p:nvSpPr>
        <p:spPr/>
        <p:txBody>
          <a:bodyPr/>
          <a:lstStyle/>
          <a:p>
            <a:fld id="{ADD9759A-B1A9-4C6E-B49D-20CE7B11D21B}" type="datetime1">
              <a:rPr lang="en-IN" smtClean="0"/>
              <a:t>03-06-2026</a:t>
            </a:fld>
            <a:endParaRPr lang="en-IN"/>
          </a:p>
        </p:txBody>
      </p:sp>
      <p:sp>
        <p:nvSpPr>
          <p:cNvPr id="11" name="Slide Number Placeholder 10">
            <a:extLst>
              <a:ext uri="{FF2B5EF4-FFF2-40B4-BE49-F238E27FC236}">
                <a16:creationId xmlns:a16="http://schemas.microsoft.com/office/drawing/2014/main" id="{B2CB424F-A6C0-BF24-C66F-3ADDEE8DC4CE}"/>
              </a:ext>
            </a:extLst>
          </p:cNvPr>
          <p:cNvSpPr>
            <a:spLocks noGrp="1"/>
          </p:cNvSpPr>
          <p:nvPr>
            <p:ph type="sldNum" sz="quarter" idx="12"/>
          </p:nvPr>
        </p:nvSpPr>
        <p:spPr/>
        <p:txBody>
          <a:bodyPr/>
          <a:lstStyle/>
          <a:p>
            <a:fld id="{E1F63AF3-6154-4736-9721-29BAE7C5A3DC}" type="slidenum">
              <a:rPr lang="en-IN" smtClean="0"/>
              <a:t>2</a:t>
            </a:fld>
            <a:endParaRPr lang="en-IN" dirty="0"/>
          </a:p>
        </p:txBody>
      </p:sp>
      <p:pic>
        <p:nvPicPr>
          <p:cNvPr id="13" name="Picture 12" descr="KLE Technological University in Hubballi">
            <a:extLst>
              <a:ext uri="{FF2B5EF4-FFF2-40B4-BE49-F238E27FC236}">
                <a16:creationId xmlns:a16="http://schemas.microsoft.com/office/drawing/2014/main" id="{CE8CA23D-EAE3-2E6C-AE88-84B8D17DCC27}"/>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9755041" y="-9834"/>
            <a:ext cx="2436960" cy="573453"/>
          </a:xfrm>
          <a:prstGeom prst="rect">
            <a:avLst/>
          </a:prstGeom>
          <a:noFill/>
          <a:ln>
            <a:noFill/>
          </a:ln>
          <a:extLst>
            <a:ext uri="{53640926-AAD7-44D8-BBD7-CCE9431645EC}">
              <a14:shadowObscured xmlns:a14="http://schemas.microsoft.com/office/drawing/2010/main"/>
            </a:ext>
          </a:extLst>
        </p:spPr>
      </p:pic>
      <p:sp>
        <p:nvSpPr>
          <p:cNvPr id="3" name="Footer Placeholder 2">
            <a:extLst>
              <a:ext uri="{FF2B5EF4-FFF2-40B4-BE49-F238E27FC236}">
                <a16:creationId xmlns:a16="http://schemas.microsoft.com/office/drawing/2014/main" id="{78DD6243-B6ED-9247-4E68-27A2C16C983F}"/>
              </a:ext>
            </a:extLst>
          </p:cNvPr>
          <p:cNvSpPr>
            <a:spLocks noGrp="1"/>
          </p:cNvSpPr>
          <p:nvPr>
            <p:ph type="ftr" sz="quarter" idx="11"/>
          </p:nvPr>
        </p:nvSpPr>
        <p:spPr>
          <a:xfrm>
            <a:off x="4038600" y="6356350"/>
            <a:ext cx="4114800" cy="365125"/>
          </a:xfrm>
        </p:spPr>
        <p:txBody>
          <a:bodyPr/>
          <a:lstStyle/>
          <a:p>
            <a:r>
              <a:rPr lang="en-US" dirty="0"/>
              <a:t>GEN AI 2025-26</a:t>
            </a:r>
            <a:endParaRPr lang="en-IN" dirty="0"/>
          </a:p>
        </p:txBody>
      </p:sp>
    </p:spTree>
    <p:extLst>
      <p:ext uri="{BB962C8B-B14F-4D97-AF65-F5344CB8AC3E}">
        <p14:creationId xmlns:p14="http://schemas.microsoft.com/office/powerpoint/2010/main" val="230093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500"/>
                                        <p:tgtEl>
                                          <p:spTgt spid="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9" end="9"/>
                                            </p:txEl>
                                          </p:spTgt>
                                        </p:tgtEl>
                                        <p:attrNameLst>
                                          <p:attrName>style.visibility</p:attrName>
                                        </p:attrNameLst>
                                      </p:cBhvr>
                                      <p:to>
                                        <p:strVal val="visible"/>
                                      </p:to>
                                    </p:set>
                                    <p:animEffect transition="in" filter="fade">
                                      <p:cBhvr>
                                        <p:cTn id="37"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76F3EBB-1CA9-593B-B89F-923E7BEC32F1}"/>
              </a:ext>
            </a:extLst>
          </p:cNvPr>
          <p:cNvSpPr txBox="1">
            <a:spLocks/>
          </p:cNvSpPr>
          <p:nvPr/>
        </p:nvSpPr>
        <p:spPr>
          <a:xfrm>
            <a:off x="3510116" y="2926"/>
            <a:ext cx="4311445" cy="386384"/>
          </a:xfrm>
          <a:prstGeom prst="rect">
            <a:avLst/>
          </a:prstGeom>
          <a:ln w="12700">
            <a:solidFill>
              <a:schemeClr val="accent3">
                <a:lumMod val="20000"/>
                <a:lumOff val="80000"/>
              </a:schemeClr>
            </a:solidFill>
          </a:ln>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Objectives</a:t>
            </a:r>
          </a:p>
        </p:txBody>
      </p:sp>
      <p:sp>
        <p:nvSpPr>
          <p:cNvPr id="10" name="TextBox 9">
            <a:extLst>
              <a:ext uri="{FF2B5EF4-FFF2-40B4-BE49-F238E27FC236}">
                <a16:creationId xmlns:a16="http://schemas.microsoft.com/office/drawing/2014/main" id="{ADE81486-CBB7-46DB-CD87-934B47BE86A8}"/>
              </a:ext>
            </a:extLst>
          </p:cNvPr>
          <p:cNvSpPr txBox="1"/>
          <p:nvPr/>
        </p:nvSpPr>
        <p:spPr>
          <a:xfrm>
            <a:off x="122655" y="798333"/>
            <a:ext cx="11946679" cy="442674"/>
          </a:xfrm>
          <a:prstGeom prst="roundRect">
            <a:avLst/>
          </a:prstGeom>
          <a:solidFill>
            <a:schemeClr val="accent1">
              <a:lumMod val="20000"/>
              <a:lumOff val="80000"/>
              <a:alpha val="20000"/>
            </a:schemeClr>
          </a:solidFill>
          <a:ln>
            <a:solidFill>
              <a:schemeClr val="accent1"/>
            </a:solidFill>
          </a:ln>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1. To develop an AI-powered image inpainting system for object removal</a:t>
            </a:r>
            <a:endParaRPr lang="en-IN" sz="2000"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B59D4F57-29C9-4C1D-CD63-FD9BFD9916A8}"/>
              </a:ext>
            </a:extLst>
          </p:cNvPr>
          <p:cNvSpPr>
            <a:spLocks noGrp="1"/>
          </p:cNvSpPr>
          <p:nvPr>
            <p:ph type="dt" sz="half" idx="10"/>
          </p:nvPr>
        </p:nvSpPr>
        <p:spPr/>
        <p:txBody>
          <a:bodyPr/>
          <a:lstStyle/>
          <a:p>
            <a:fld id="{8A70510B-29E1-441F-8DD1-0893A41CA2AF}" type="datetime1">
              <a:rPr lang="en-IN" smtClean="0"/>
              <a:t>03-06-2026</a:t>
            </a:fld>
            <a:endParaRPr lang="en-IN"/>
          </a:p>
        </p:txBody>
      </p:sp>
      <p:sp>
        <p:nvSpPr>
          <p:cNvPr id="8" name="Slide Number Placeholder 7">
            <a:extLst>
              <a:ext uri="{FF2B5EF4-FFF2-40B4-BE49-F238E27FC236}">
                <a16:creationId xmlns:a16="http://schemas.microsoft.com/office/drawing/2014/main" id="{57342638-567F-36B9-2190-1632FB271B2D}"/>
              </a:ext>
            </a:extLst>
          </p:cNvPr>
          <p:cNvSpPr>
            <a:spLocks noGrp="1"/>
          </p:cNvSpPr>
          <p:nvPr>
            <p:ph type="sldNum" sz="quarter" idx="12"/>
          </p:nvPr>
        </p:nvSpPr>
        <p:spPr/>
        <p:txBody>
          <a:bodyPr/>
          <a:lstStyle/>
          <a:p>
            <a:fld id="{E1F63AF3-6154-4736-9721-29BAE7C5A3DC}" type="slidenum">
              <a:rPr lang="en-IN" smtClean="0"/>
              <a:t>3</a:t>
            </a:fld>
            <a:endParaRPr lang="en-IN"/>
          </a:p>
        </p:txBody>
      </p:sp>
      <p:pic>
        <p:nvPicPr>
          <p:cNvPr id="25" name="Picture 24" descr="KLE Technological University in Hubballi">
            <a:extLst>
              <a:ext uri="{FF2B5EF4-FFF2-40B4-BE49-F238E27FC236}">
                <a16:creationId xmlns:a16="http://schemas.microsoft.com/office/drawing/2014/main" id="{E5194C9C-D0D6-7CD2-323A-939473973118}"/>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10394065" y="-9834"/>
            <a:ext cx="1797935" cy="423081"/>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B44B10B6-5960-0501-C5C7-7E26AFFCD540}"/>
              </a:ext>
            </a:extLst>
          </p:cNvPr>
          <p:cNvSpPr txBox="1"/>
          <p:nvPr/>
        </p:nvSpPr>
        <p:spPr>
          <a:xfrm>
            <a:off x="122655" y="1562083"/>
            <a:ext cx="11946679" cy="442674"/>
          </a:xfrm>
          <a:prstGeom prst="roundRect">
            <a:avLst/>
          </a:prstGeom>
          <a:solidFill>
            <a:schemeClr val="accent1">
              <a:lumMod val="20000"/>
              <a:lumOff val="80000"/>
              <a:alpha val="20000"/>
            </a:schemeClr>
          </a:solidFill>
          <a:ln>
            <a:solidFill>
              <a:schemeClr val="accent1"/>
            </a:solidFill>
          </a:ln>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2. To implement automatic object segmentation and mask generation</a:t>
            </a:r>
            <a:r>
              <a:rPr lang="en-US" dirty="0"/>
              <a:t>.</a:t>
            </a:r>
          </a:p>
        </p:txBody>
      </p:sp>
      <p:sp>
        <p:nvSpPr>
          <p:cNvPr id="9" name="TextBox 8">
            <a:extLst>
              <a:ext uri="{FF2B5EF4-FFF2-40B4-BE49-F238E27FC236}">
                <a16:creationId xmlns:a16="http://schemas.microsoft.com/office/drawing/2014/main" id="{67D77936-C892-C26D-2863-36F6FEE7A71E}"/>
              </a:ext>
            </a:extLst>
          </p:cNvPr>
          <p:cNvSpPr txBox="1"/>
          <p:nvPr/>
        </p:nvSpPr>
        <p:spPr>
          <a:xfrm>
            <a:off x="122655" y="2326064"/>
            <a:ext cx="11946679" cy="442674"/>
          </a:xfrm>
          <a:prstGeom prst="roundRect">
            <a:avLst/>
          </a:prstGeom>
          <a:solidFill>
            <a:schemeClr val="accent1">
              <a:lumMod val="20000"/>
              <a:lumOff val="80000"/>
              <a:alpha val="20000"/>
            </a:schemeClr>
          </a:solidFill>
          <a:ln>
            <a:solidFill>
              <a:schemeClr val="accent1"/>
            </a:solidFill>
          </a:ln>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3. To perform mask refinement using OpenCV techniques.</a:t>
            </a:r>
            <a:endParaRPr lang="en-US"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E884E8A-CC1C-FBD8-5F36-2A7014877BAA}"/>
              </a:ext>
            </a:extLst>
          </p:cNvPr>
          <p:cNvSpPr txBox="1"/>
          <p:nvPr/>
        </p:nvSpPr>
        <p:spPr>
          <a:xfrm>
            <a:off x="122656" y="3090045"/>
            <a:ext cx="11946679" cy="442674"/>
          </a:xfrm>
          <a:prstGeom prst="roundRect">
            <a:avLst/>
          </a:prstGeom>
          <a:solidFill>
            <a:schemeClr val="accent1">
              <a:lumMod val="20000"/>
              <a:lumOff val="80000"/>
              <a:alpha val="20000"/>
            </a:schemeClr>
          </a:solidFill>
          <a:ln>
            <a:solidFill>
              <a:schemeClr val="accent1"/>
            </a:solidFill>
          </a:ln>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4. To reconstruct missing image regions using Stable Diffusion Inpainting.</a:t>
            </a:r>
          </a:p>
        </p:txBody>
      </p:sp>
      <p:sp>
        <p:nvSpPr>
          <p:cNvPr id="13" name="TextBox 12">
            <a:extLst>
              <a:ext uri="{FF2B5EF4-FFF2-40B4-BE49-F238E27FC236}">
                <a16:creationId xmlns:a16="http://schemas.microsoft.com/office/drawing/2014/main" id="{20331557-BAEA-2425-B283-773BE081FF88}"/>
              </a:ext>
            </a:extLst>
          </p:cNvPr>
          <p:cNvSpPr txBox="1"/>
          <p:nvPr/>
        </p:nvSpPr>
        <p:spPr>
          <a:xfrm>
            <a:off x="122656" y="3850374"/>
            <a:ext cx="11946679" cy="442674"/>
          </a:xfrm>
          <a:prstGeom prst="roundRect">
            <a:avLst/>
          </a:prstGeom>
          <a:solidFill>
            <a:schemeClr val="accent1">
              <a:lumMod val="20000"/>
              <a:lumOff val="80000"/>
              <a:alpha val="20000"/>
            </a:schemeClr>
          </a:solidFill>
          <a:ln>
            <a:solidFill>
              <a:schemeClr val="accent1"/>
            </a:solidFill>
          </a:ln>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5. To generate realistic and visually consistent outputs.</a:t>
            </a:r>
          </a:p>
        </p:txBody>
      </p:sp>
      <p:sp>
        <p:nvSpPr>
          <p:cNvPr id="17" name="TextBox 16">
            <a:extLst>
              <a:ext uri="{FF2B5EF4-FFF2-40B4-BE49-F238E27FC236}">
                <a16:creationId xmlns:a16="http://schemas.microsoft.com/office/drawing/2014/main" id="{FD8A0961-FA23-D42A-2671-EAE89B5AAAE1}"/>
              </a:ext>
            </a:extLst>
          </p:cNvPr>
          <p:cNvSpPr txBox="1"/>
          <p:nvPr/>
        </p:nvSpPr>
        <p:spPr>
          <a:xfrm>
            <a:off x="122655" y="4610703"/>
            <a:ext cx="11946679" cy="442674"/>
          </a:xfrm>
          <a:prstGeom prst="roundRect">
            <a:avLst/>
          </a:prstGeom>
          <a:solidFill>
            <a:schemeClr val="accent1">
              <a:lumMod val="20000"/>
              <a:lumOff val="80000"/>
              <a:alpha val="20000"/>
            </a:schemeClr>
          </a:solidFill>
          <a:ln>
            <a:solidFill>
              <a:schemeClr val="accent1"/>
            </a:solidFill>
          </a:ln>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6. To provide a user-friendly web-based interface for image processing.</a:t>
            </a:r>
          </a:p>
        </p:txBody>
      </p:sp>
      <p:sp>
        <p:nvSpPr>
          <p:cNvPr id="2" name="Footer Placeholder 2">
            <a:extLst>
              <a:ext uri="{FF2B5EF4-FFF2-40B4-BE49-F238E27FC236}">
                <a16:creationId xmlns:a16="http://schemas.microsoft.com/office/drawing/2014/main" id="{BABAA109-45F0-345E-E973-C1A68B5DFF04}"/>
              </a:ext>
            </a:extLst>
          </p:cNvPr>
          <p:cNvSpPr>
            <a:spLocks noGrp="1"/>
          </p:cNvSpPr>
          <p:nvPr>
            <p:ph type="ftr" sz="quarter" idx="11"/>
          </p:nvPr>
        </p:nvSpPr>
        <p:spPr>
          <a:xfrm>
            <a:off x="4038600" y="6356350"/>
            <a:ext cx="4114800" cy="365125"/>
          </a:xfrm>
        </p:spPr>
        <p:txBody>
          <a:bodyPr/>
          <a:lstStyle/>
          <a:p>
            <a:r>
              <a:rPr lang="en-US" dirty="0"/>
              <a:t>GEN AI 2025-26</a:t>
            </a:r>
            <a:endParaRPr lang="en-IN" dirty="0"/>
          </a:p>
        </p:txBody>
      </p:sp>
      <p:sp>
        <p:nvSpPr>
          <p:cNvPr id="14" name="Title 1">
            <a:extLst>
              <a:ext uri="{FF2B5EF4-FFF2-40B4-BE49-F238E27FC236}">
                <a16:creationId xmlns:a16="http://schemas.microsoft.com/office/drawing/2014/main" id="{76CAEC6F-9F61-93AB-20D4-C9C7C4C55CDB}"/>
              </a:ext>
            </a:extLst>
          </p:cNvPr>
          <p:cNvSpPr txBox="1">
            <a:spLocks/>
          </p:cNvSpPr>
          <p:nvPr/>
        </p:nvSpPr>
        <p:spPr>
          <a:xfrm>
            <a:off x="0" y="9832"/>
            <a:ext cx="1189703" cy="314632"/>
          </a:xfrm>
          <a:prstGeom prst="rect">
            <a:avLst/>
          </a:prstGeom>
          <a:ln w="12700">
            <a:solidFill>
              <a:schemeClr val="accent3">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b="1" dirty="0">
                <a:latin typeface="Times New Roman" panose="02020603050405020304" pitchFamily="18" charset="0"/>
                <a:cs typeface="Times New Roman" panose="02020603050405020304" pitchFamily="18" charset="0"/>
              </a:rPr>
              <a:t>TEAM - 03</a:t>
            </a:r>
          </a:p>
        </p:txBody>
      </p:sp>
    </p:spTree>
    <p:extLst>
      <p:ext uri="{BB962C8B-B14F-4D97-AF65-F5344CB8AC3E}">
        <p14:creationId xmlns:p14="http://schemas.microsoft.com/office/powerpoint/2010/main" val="1797604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34C5E0B-CC0A-1577-F818-90C450B3412F}"/>
              </a:ext>
            </a:extLst>
          </p:cNvPr>
          <p:cNvSpPr txBox="1">
            <a:spLocks/>
          </p:cNvSpPr>
          <p:nvPr/>
        </p:nvSpPr>
        <p:spPr>
          <a:xfrm>
            <a:off x="4380271" y="-9833"/>
            <a:ext cx="3431458" cy="386384"/>
          </a:xfrm>
          <a:prstGeom prst="rect">
            <a:avLst/>
          </a:prstGeom>
          <a:ln w="12700">
            <a:solidFill>
              <a:schemeClr val="accent3">
                <a:lumMod val="20000"/>
                <a:lumOff val="80000"/>
              </a:schemeClr>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System Architecture</a:t>
            </a:r>
          </a:p>
        </p:txBody>
      </p:sp>
      <p:sp>
        <p:nvSpPr>
          <p:cNvPr id="40" name="Date Placeholder 39">
            <a:extLst>
              <a:ext uri="{FF2B5EF4-FFF2-40B4-BE49-F238E27FC236}">
                <a16:creationId xmlns:a16="http://schemas.microsoft.com/office/drawing/2014/main" id="{EF2EA94D-4E18-0771-0778-8F384F6542CB}"/>
              </a:ext>
            </a:extLst>
          </p:cNvPr>
          <p:cNvSpPr>
            <a:spLocks noGrp="1"/>
          </p:cNvSpPr>
          <p:nvPr>
            <p:ph type="dt" sz="half" idx="10"/>
          </p:nvPr>
        </p:nvSpPr>
        <p:spPr/>
        <p:txBody>
          <a:bodyPr/>
          <a:lstStyle/>
          <a:p>
            <a:fld id="{9A59C65D-ECFC-47A8-B4E5-795DC62C3C51}" type="datetime1">
              <a:rPr lang="en-IN" smtClean="0"/>
              <a:t>03-06-2026</a:t>
            </a:fld>
            <a:endParaRPr lang="en-IN"/>
          </a:p>
        </p:txBody>
      </p:sp>
      <p:sp>
        <p:nvSpPr>
          <p:cNvPr id="41" name="Slide Number Placeholder 40">
            <a:extLst>
              <a:ext uri="{FF2B5EF4-FFF2-40B4-BE49-F238E27FC236}">
                <a16:creationId xmlns:a16="http://schemas.microsoft.com/office/drawing/2014/main" id="{74DB0682-6943-54D4-4F95-F7A9C329D2B8}"/>
              </a:ext>
            </a:extLst>
          </p:cNvPr>
          <p:cNvSpPr>
            <a:spLocks noGrp="1"/>
          </p:cNvSpPr>
          <p:nvPr>
            <p:ph type="sldNum" sz="quarter" idx="12"/>
          </p:nvPr>
        </p:nvSpPr>
        <p:spPr/>
        <p:txBody>
          <a:bodyPr/>
          <a:lstStyle/>
          <a:p>
            <a:fld id="{E1F63AF3-6154-4736-9721-29BAE7C5A3DC}" type="slidenum">
              <a:rPr lang="en-IN" smtClean="0"/>
              <a:t>4</a:t>
            </a:fld>
            <a:endParaRPr lang="en-IN"/>
          </a:p>
        </p:txBody>
      </p:sp>
      <p:pic>
        <p:nvPicPr>
          <p:cNvPr id="44" name="Picture 43" descr="KLE Technological University in Hubballi">
            <a:extLst>
              <a:ext uri="{FF2B5EF4-FFF2-40B4-BE49-F238E27FC236}">
                <a16:creationId xmlns:a16="http://schemas.microsoft.com/office/drawing/2014/main" id="{5CB3B9F1-7639-BB75-A1D3-60C44EB23DF2}"/>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10424159" y="-9834"/>
            <a:ext cx="1767841" cy="415999"/>
          </a:xfrm>
          <a:prstGeom prst="rect">
            <a:avLst/>
          </a:prstGeom>
          <a:noFill/>
          <a:ln>
            <a:noFill/>
          </a:ln>
          <a:extLst>
            <a:ext uri="{53640926-AAD7-44D8-BBD7-CCE9431645EC}">
              <a14:shadowObscured xmlns:a14="http://schemas.microsoft.com/office/drawing/2010/main"/>
            </a:ext>
          </a:extLst>
        </p:spPr>
      </p:pic>
      <p:pic>
        <p:nvPicPr>
          <p:cNvPr id="3" name="Picture 2">
            <a:extLst>
              <a:ext uri="{FF2B5EF4-FFF2-40B4-BE49-F238E27FC236}">
                <a16:creationId xmlns:a16="http://schemas.microsoft.com/office/drawing/2014/main" id="{6353B988-927D-F301-E820-44CD6EE876B3}"/>
              </a:ext>
            </a:extLst>
          </p:cNvPr>
          <p:cNvPicPr>
            <a:picLocks noChangeAspect="1"/>
          </p:cNvPicPr>
          <p:nvPr/>
        </p:nvPicPr>
        <p:blipFill>
          <a:blip r:embed="rId3"/>
          <a:srcRect b="18739"/>
          <a:stretch>
            <a:fillRect/>
          </a:stretch>
        </p:blipFill>
        <p:spPr>
          <a:xfrm>
            <a:off x="0" y="1050525"/>
            <a:ext cx="12192000" cy="4376881"/>
          </a:xfrm>
          <a:prstGeom prst="rect">
            <a:avLst/>
          </a:prstGeom>
        </p:spPr>
      </p:pic>
      <p:sp>
        <p:nvSpPr>
          <p:cNvPr id="2" name="Footer Placeholder 2">
            <a:extLst>
              <a:ext uri="{FF2B5EF4-FFF2-40B4-BE49-F238E27FC236}">
                <a16:creationId xmlns:a16="http://schemas.microsoft.com/office/drawing/2014/main" id="{DE240A6B-9170-AE81-4AB0-EE86BCFEE871}"/>
              </a:ext>
            </a:extLst>
          </p:cNvPr>
          <p:cNvSpPr>
            <a:spLocks noGrp="1"/>
          </p:cNvSpPr>
          <p:nvPr>
            <p:ph type="ftr" sz="quarter" idx="11"/>
          </p:nvPr>
        </p:nvSpPr>
        <p:spPr>
          <a:xfrm>
            <a:off x="4038600" y="6356350"/>
            <a:ext cx="4114800" cy="365125"/>
          </a:xfrm>
        </p:spPr>
        <p:txBody>
          <a:bodyPr/>
          <a:lstStyle/>
          <a:p>
            <a:r>
              <a:rPr lang="en-US" dirty="0"/>
              <a:t>GEN AI 2025-26</a:t>
            </a:r>
            <a:endParaRPr lang="en-IN" dirty="0"/>
          </a:p>
        </p:txBody>
      </p:sp>
      <p:sp>
        <p:nvSpPr>
          <p:cNvPr id="4" name="Title 1">
            <a:extLst>
              <a:ext uri="{FF2B5EF4-FFF2-40B4-BE49-F238E27FC236}">
                <a16:creationId xmlns:a16="http://schemas.microsoft.com/office/drawing/2014/main" id="{9A40A5FD-1D4F-0950-5D89-F5AD4199D906}"/>
              </a:ext>
            </a:extLst>
          </p:cNvPr>
          <p:cNvSpPr txBox="1">
            <a:spLocks/>
          </p:cNvSpPr>
          <p:nvPr/>
        </p:nvSpPr>
        <p:spPr>
          <a:xfrm>
            <a:off x="0" y="9832"/>
            <a:ext cx="1189703" cy="314632"/>
          </a:xfrm>
          <a:prstGeom prst="rect">
            <a:avLst/>
          </a:prstGeom>
          <a:ln w="12700">
            <a:solidFill>
              <a:schemeClr val="accent3">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b="1" dirty="0">
                <a:latin typeface="Times New Roman" panose="02020603050405020304" pitchFamily="18" charset="0"/>
                <a:cs typeface="Times New Roman" panose="02020603050405020304" pitchFamily="18" charset="0"/>
              </a:rPr>
              <a:t>TEAM - 03</a:t>
            </a:r>
          </a:p>
        </p:txBody>
      </p:sp>
    </p:spTree>
    <p:extLst>
      <p:ext uri="{BB962C8B-B14F-4D97-AF65-F5344CB8AC3E}">
        <p14:creationId xmlns:p14="http://schemas.microsoft.com/office/powerpoint/2010/main" val="3370439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D4356-1E4E-98BA-6C6E-C9F8966A1063}"/>
            </a:ext>
          </a:extLst>
        </p:cNvPr>
        <p:cNvGrpSpPr/>
        <p:nvPr/>
      </p:nvGrpSpPr>
      <p:grpSpPr>
        <a:xfrm>
          <a:off x="0" y="0"/>
          <a:ext cx="0" cy="0"/>
          <a:chOff x="0" y="0"/>
          <a:chExt cx="0" cy="0"/>
        </a:xfrm>
      </p:grpSpPr>
      <p:pic>
        <p:nvPicPr>
          <p:cNvPr id="7" name="Picture 6" descr="KLE Technological University in Hubballi">
            <a:extLst>
              <a:ext uri="{FF2B5EF4-FFF2-40B4-BE49-F238E27FC236}">
                <a16:creationId xmlns:a16="http://schemas.microsoft.com/office/drawing/2014/main" id="{F0E5BA70-9702-C287-699D-68786A7BE5F4}"/>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10550013" y="-9833"/>
            <a:ext cx="1641987" cy="386384"/>
          </a:xfrm>
          <a:prstGeom prst="rect">
            <a:avLst/>
          </a:prstGeom>
          <a:noFill/>
          <a:ln>
            <a:noFill/>
          </a:ln>
          <a:extLst>
            <a:ext uri="{53640926-AAD7-44D8-BBD7-CCE9431645EC}">
              <a14:shadowObscured xmlns:a14="http://schemas.microsoft.com/office/drawing/2010/main"/>
            </a:ext>
          </a:extLst>
        </p:spPr>
      </p:pic>
      <p:sp>
        <p:nvSpPr>
          <p:cNvPr id="11" name="Date Placeholder 10">
            <a:extLst>
              <a:ext uri="{FF2B5EF4-FFF2-40B4-BE49-F238E27FC236}">
                <a16:creationId xmlns:a16="http://schemas.microsoft.com/office/drawing/2014/main" id="{A590D703-C8E0-D3D9-2A3C-A899AF8220C3}"/>
              </a:ext>
            </a:extLst>
          </p:cNvPr>
          <p:cNvSpPr>
            <a:spLocks noGrp="1"/>
          </p:cNvSpPr>
          <p:nvPr>
            <p:ph type="dt" sz="half" idx="10"/>
          </p:nvPr>
        </p:nvSpPr>
        <p:spPr/>
        <p:txBody>
          <a:bodyPr/>
          <a:lstStyle/>
          <a:p>
            <a:fld id="{2429C11F-0C05-443E-90CE-5F4D9188C1F5}" type="datetime1">
              <a:rPr lang="en-IN" smtClean="0"/>
              <a:t>03-06-2026</a:t>
            </a:fld>
            <a:endParaRPr lang="en-IN"/>
          </a:p>
        </p:txBody>
      </p:sp>
      <p:sp>
        <p:nvSpPr>
          <p:cNvPr id="12" name="Slide Number Placeholder 11">
            <a:extLst>
              <a:ext uri="{FF2B5EF4-FFF2-40B4-BE49-F238E27FC236}">
                <a16:creationId xmlns:a16="http://schemas.microsoft.com/office/drawing/2014/main" id="{19C80982-1CCE-A90D-EA3E-9CF90A5E0DEE}"/>
              </a:ext>
            </a:extLst>
          </p:cNvPr>
          <p:cNvSpPr>
            <a:spLocks noGrp="1"/>
          </p:cNvSpPr>
          <p:nvPr>
            <p:ph type="sldNum" sz="quarter" idx="12"/>
          </p:nvPr>
        </p:nvSpPr>
        <p:spPr/>
        <p:txBody>
          <a:bodyPr/>
          <a:lstStyle/>
          <a:p>
            <a:fld id="{E1F63AF3-6154-4736-9721-29BAE7C5A3DC}" type="slidenum">
              <a:rPr lang="en-IN" smtClean="0"/>
              <a:t>5</a:t>
            </a:fld>
            <a:endParaRPr lang="en-IN"/>
          </a:p>
        </p:txBody>
      </p:sp>
      <p:sp>
        <p:nvSpPr>
          <p:cNvPr id="4" name="Title 1">
            <a:extLst>
              <a:ext uri="{FF2B5EF4-FFF2-40B4-BE49-F238E27FC236}">
                <a16:creationId xmlns:a16="http://schemas.microsoft.com/office/drawing/2014/main" id="{AD98B3A3-A328-1DAF-99A2-F65EEFE27321}"/>
              </a:ext>
            </a:extLst>
          </p:cNvPr>
          <p:cNvSpPr txBox="1">
            <a:spLocks/>
          </p:cNvSpPr>
          <p:nvPr/>
        </p:nvSpPr>
        <p:spPr>
          <a:xfrm>
            <a:off x="4380271" y="-9833"/>
            <a:ext cx="3431458" cy="386384"/>
          </a:xfrm>
          <a:prstGeom prst="rect">
            <a:avLst/>
          </a:prstGeom>
          <a:ln w="12700">
            <a:solidFill>
              <a:schemeClr val="accent3">
                <a:lumMod val="20000"/>
                <a:lumOff val="80000"/>
              </a:schemeClr>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System Architecture</a:t>
            </a:r>
          </a:p>
        </p:txBody>
      </p:sp>
      <p:sp>
        <p:nvSpPr>
          <p:cNvPr id="5" name="TextBox 4">
            <a:extLst>
              <a:ext uri="{FF2B5EF4-FFF2-40B4-BE49-F238E27FC236}">
                <a16:creationId xmlns:a16="http://schemas.microsoft.com/office/drawing/2014/main" id="{0B5DB8AC-BE5A-3AD0-94A6-98A1B8447746}"/>
              </a:ext>
            </a:extLst>
          </p:cNvPr>
          <p:cNvSpPr txBox="1"/>
          <p:nvPr/>
        </p:nvSpPr>
        <p:spPr>
          <a:xfrm>
            <a:off x="110613" y="535701"/>
            <a:ext cx="11970774" cy="1532334"/>
          </a:xfrm>
          <a:prstGeom prst="roundRect">
            <a:avLst/>
          </a:prstGeom>
          <a:solidFill>
            <a:schemeClr val="tx2">
              <a:lumMod val="20000"/>
              <a:lumOff val="80000"/>
              <a:alpha val="11000"/>
            </a:schemeClr>
          </a:solidFill>
          <a:ln>
            <a:solidFill>
              <a:schemeClr val="accent1">
                <a:lumMod val="75000"/>
              </a:schemeClr>
            </a:solidFill>
          </a:ln>
        </p:spPr>
        <p:txBody>
          <a:bodyPr wrap="square" rtlCol="0">
            <a:spAutoFit/>
          </a:bodyPr>
          <a:lstStyle/>
          <a:p>
            <a:pPr marL="457200" indent="-457200">
              <a:buAutoNum type="arabicPeriod"/>
            </a:pPr>
            <a:r>
              <a:rPr lang="en-IN" sz="2200" b="1" dirty="0">
                <a:latin typeface="Times New Roman" panose="02020603050405020304" pitchFamily="18" charset="0"/>
                <a:cs typeface="Times New Roman" panose="02020603050405020304" pitchFamily="18" charset="0"/>
              </a:rPr>
              <a:t>Image Input Module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Accepts the input image from the user.</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Acts as the entry point of the system.</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Supports different image formats such as JPG, PNG, and JPEG.</a:t>
            </a:r>
          </a:p>
        </p:txBody>
      </p:sp>
      <p:sp>
        <p:nvSpPr>
          <p:cNvPr id="8" name="TextBox 7">
            <a:extLst>
              <a:ext uri="{FF2B5EF4-FFF2-40B4-BE49-F238E27FC236}">
                <a16:creationId xmlns:a16="http://schemas.microsoft.com/office/drawing/2014/main" id="{B38C3386-F477-8919-66A5-8466748C4933}"/>
              </a:ext>
            </a:extLst>
          </p:cNvPr>
          <p:cNvSpPr txBox="1"/>
          <p:nvPr/>
        </p:nvSpPr>
        <p:spPr>
          <a:xfrm>
            <a:off x="110613" y="2196372"/>
            <a:ext cx="11970774" cy="1498283"/>
          </a:xfrm>
          <a:prstGeom prst="roundRect">
            <a:avLst/>
          </a:prstGeom>
          <a:solidFill>
            <a:schemeClr val="tx2">
              <a:lumMod val="20000"/>
              <a:lumOff val="80000"/>
              <a:alpha val="11000"/>
            </a:schemeClr>
          </a:solidFill>
          <a:ln>
            <a:solidFill>
              <a:schemeClr val="accent1">
                <a:lumMod val="75000"/>
              </a:schemeClr>
            </a:solidFill>
          </a:ln>
        </p:spPr>
        <p:txBody>
          <a:bodyPr wrap="square" rtlCol="0">
            <a:spAutoFit/>
          </a:bodyPr>
          <a:lstStyle/>
          <a:p>
            <a:r>
              <a:rPr lang="en-IN" sz="2200" b="1" dirty="0">
                <a:latin typeface="Times New Roman" panose="02020603050405020304" pitchFamily="18" charset="0"/>
                <a:cs typeface="Times New Roman" panose="02020603050405020304" pitchFamily="18" charset="0"/>
              </a:rPr>
              <a:t>2. Mode Selection Module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two methods for object removal</a:t>
            </a:r>
            <a:r>
              <a:rPr lang="en-US" dirty="0"/>
              <a:t>.</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Manual mask upload.	ii. Automatic object detection &amp; mask creation</a:t>
            </a:r>
            <a:endParaRPr lang="en-US" dirty="0"/>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increases flexibility.</a:t>
            </a:r>
          </a:p>
        </p:txBody>
      </p:sp>
      <p:sp>
        <p:nvSpPr>
          <p:cNvPr id="9" name="TextBox 8">
            <a:extLst>
              <a:ext uri="{FF2B5EF4-FFF2-40B4-BE49-F238E27FC236}">
                <a16:creationId xmlns:a16="http://schemas.microsoft.com/office/drawing/2014/main" id="{F7EA50F9-A4F3-FD9B-79BE-BF47661F5A3A}"/>
              </a:ext>
            </a:extLst>
          </p:cNvPr>
          <p:cNvSpPr txBox="1"/>
          <p:nvPr/>
        </p:nvSpPr>
        <p:spPr>
          <a:xfrm>
            <a:off x="110613" y="3887856"/>
            <a:ext cx="11970774" cy="2179320"/>
          </a:xfrm>
          <a:prstGeom prst="roundRect">
            <a:avLst/>
          </a:prstGeom>
          <a:solidFill>
            <a:schemeClr val="tx2">
              <a:lumMod val="20000"/>
              <a:lumOff val="80000"/>
              <a:alpha val="11000"/>
            </a:schemeClr>
          </a:solidFill>
          <a:ln>
            <a:solidFill>
              <a:schemeClr val="accent1">
                <a:lumMod val="75000"/>
              </a:schemeClr>
            </a:solidFill>
          </a:ln>
        </p:spPr>
        <p:txBody>
          <a:bodyPr wrap="square" rtlCol="0">
            <a:spAutoFit/>
          </a:bodyPr>
          <a:lstStyle/>
          <a:p>
            <a:r>
              <a:rPr lang="en-IN" sz="2200" b="1" dirty="0">
                <a:latin typeface="Times New Roman" panose="02020603050405020304" pitchFamily="18" charset="0"/>
                <a:cs typeface="Times New Roman" panose="02020603050405020304" pitchFamily="18" charset="0"/>
              </a:rPr>
              <a:t>3. U²-Net (REMBG) Segmentation Model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Detects foreground and objects automatically and generates the masks.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a deep learning-based image segmentation model designed to accurately identify and separate foreground objects from the background.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Input image is passed through </a:t>
            </a:r>
            <a:r>
              <a:rPr lang="en-IN" sz="2000" dirty="0">
                <a:latin typeface="Times New Roman" panose="02020603050405020304" pitchFamily="18" charset="0"/>
                <a:cs typeface="Times New Roman" panose="02020603050405020304" pitchFamily="18" charset="0"/>
              </a:rPr>
              <a:t>U²-Net, where the network extracts the object boundaries &amp; foreground regions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Then the foreground object is removed and the Binary mask is generated.</a:t>
            </a:r>
          </a:p>
        </p:txBody>
      </p:sp>
      <p:sp>
        <p:nvSpPr>
          <p:cNvPr id="3" name="Footer Placeholder 2">
            <a:extLst>
              <a:ext uri="{FF2B5EF4-FFF2-40B4-BE49-F238E27FC236}">
                <a16:creationId xmlns:a16="http://schemas.microsoft.com/office/drawing/2014/main" id="{3C160C37-34A2-4B27-3641-05BFA6AEBD55}"/>
              </a:ext>
            </a:extLst>
          </p:cNvPr>
          <p:cNvSpPr>
            <a:spLocks noGrp="1"/>
          </p:cNvSpPr>
          <p:nvPr>
            <p:ph type="ftr" sz="quarter" idx="11"/>
          </p:nvPr>
        </p:nvSpPr>
        <p:spPr>
          <a:xfrm>
            <a:off x="4038600" y="6356350"/>
            <a:ext cx="4114800" cy="365125"/>
          </a:xfrm>
        </p:spPr>
        <p:txBody>
          <a:bodyPr/>
          <a:lstStyle/>
          <a:p>
            <a:r>
              <a:rPr lang="en-US" dirty="0"/>
              <a:t>GEN AI 2025-26</a:t>
            </a:r>
            <a:endParaRPr lang="en-IN" dirty="0"/>
          </a:p>
        </p:txBody>
      </p:sp>
      <p:sp>
        <p:nvSpPr>
          <p:cNvPr id="10" name="Title 1">
            <a:extLst>
              <a:ext uri="{FF2B5EF4-FFF2-40B4-BE49-F238E27FC236}">
                <a16:creationId xmlns:a16="http://schemas.microsoft.com/office/drawing/2014/main" id="{C6AB42C3-882E-EF37-0539-515726B7947A}"/>
              </a:ext>
            </a:extLst>
          </p:cNvPr>
          <p:cNvSpPr txBox="1">
            <a:spLocks/>
          </p:cNvSpPr>
          <p:nvPr/>
        </p:nvSpPr>
        <p:spPr>
          <a:xfrm>
            <a:off x="0" y="9832"/>
            <a:ext cx="1189703" cy="314632"/>
          </a:xfrm>
          <a:prstGeom prst="rect">
            <a:avLst/>
          </a:prstGeom>
          <a:ln w="12700">
            <a:solidFill>
              <a:schemeClr val="accent3">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b="1" dirty="0">
                <a:latin typeface="Times New Roman" panose="02020603050405020304" pitchFamily="18" charset="0"/>
                <a:cs typeface="Times New Roman" panose="02020603050405020304" pitchFamily="18" charset="0"/>
              </a:rPr>
              <a:t>TEAM - 03</a:t>
            </a:r>
          </a:p>
        </p:txBody>
      </p:sp>
    </p:spTree>
    <p:extLst>
      <p:ext uri="{BB962C8B-B14F-4D97-AF65-F5344CB8AC3E}">
        <p14:creationId xmlns:p14="http://schemas.microsoft.com/office/powerpoint/2010/main" val="1390062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0DCFB-03F2-0538-842C-C385F07F904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704E956-0AB2-D7ED-A26B-D444A41D4022}"/>
              </a:ext>
            </a:extLst>
          </p:cNvPr>
          <p:cNvSpPr txBox="1">
            <a:spLocks/>
          </p:cNvSpPr>
          <p:nvPr/>
        </p:nvSpPr>
        <p:spPr>
          <a:xfrm>
            <a:off x="0" y="0"/>
            <a:ext cx="1189703" cy="314632"/>
          </a:xfrm>
          <a:prstGeom prst="rect">
            <a:avLst/>
          </a:prstGeom>
          <a:ln w="12700">
            <a:solidFill>
              <a:schemeClr val="accent3">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b="1" dirty="0">
                <a:latin typeface="Times New Roman" panose="02020603050405020304" pitchFamily="18" charset="0"/>
                <a:cs typeface="Times New Roman" panose="02020603050405020304" pitchFamily="18" charset="0"/>
              </a:rPr>
              <a:t>TEAM - 03</a:t>
            </a:r>
          </a:p>
        </p:txBody>
      </p:sp>
      <p:pic>
        <p:nvPicPr>
          <p:cNvPr id="7" name="Picture 6" descr="KLE Technological University in Hubballi">
            <a:extLst>
              <a:ext uri="{FF2B5EF4-FFF2-40B4-BE49-F238E27FC236}">
                <a16:creationId xmlns:a16="http://schemas.microsoft.com/office/drawing/2014/main" id="{B67071CE-BEA9-2AD2-556E-58379CDA7D54}"/>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10550013" y="-9833"/>
            <a:ext cx="1641987" cy="386384"/>
          </a:xfrm>
          <a:prstGeom prst="rect">
            <a:avLst/>
          </a:prstGeom>
          <a:noFill/>
          <a:ln>
            <a:noFill/>
          </a:ln>
          <a:extLst>
            <a:ext uri="{53640926-AAD7-44D8-BBD7-CCE9431645EC}">
              <a14:shadowObscured xmlns:a14="http://schemas.microsoft.com/office/drawing/2010/main"/>
            </a:ext>
          </a:extLst>
        </p:spPr>
      </p:pic>
      <p:sp>
        <p:nvSpPr>
          <p:cNvPr id="11" name="Date Placeholder 10">
            <a:extLst>
              <a:ext uri="{FF2B5EF4-FFF2-40B4-BE49-F238E27FC236}">
                <a16:creationId xmlns:a16="http://schemas.microsoft.com/office/drawing/2014/main" id="{AA5FCA3C-9CF4-75F3-0366-C3B84A22E3F1}"/>
              </a:ext>
            </a:extLst>
          </p:cNvPr>
          <p:cNvSpPr>
            <a:spLocks noGrp="1"/>
          </p:cNvSpPr>
          <p:nvPr>
            <p:ph type="dt" sz="half" idx="10"/>
          </p:nvPr>
        </p:nvSpPr>
        <p:spPr/>
        <p:txBody>
          <a:bodyPr/>
          <a:lstStyle/>
          <a:p>
            <a:fld id="{2429C11F-0C05-443E-90CE-5F4D9188C1F5}" type="datetime1">
              <a:rPr lang="en-IN" smtClean="0"/>
              <a:t>03-06-2026</a:t>
            </a:fld>
            <a:endParaRPr lang="en-IN"/>
          </a:p>
        </p:txBody>
      </p:sp>
      <p:sp>
        <p:nvSpPr>
          <p:cNvPr id="12" name="Slide Number Placeholder 11">
            <a:extLst>
              <a:ext uri="{FF2B5EF4-FFF2-40B4-BE49-F238E27FC236}">
                <a16:creationId xmlns:a16="http://schemas.microsoft.com/office/drawing/2014/main" id="{01CD3ABA-AF07-332D-D1C7-5CF2503CB4FC}"/>
              </a:ext>
            </a:extLst>
          </p:cNvPr>
          <p:cNvSpPr>
            <a:spLocks noGrp="1"/>
          </p:cNvSpPr>
          <p:nvPr>
            <p:ph type="sldNum" sz="quarter" idx="12"/>
          </p:nvPr>
        </p:nvSpPr>
        <p:spPr/>
        <p:txBody>
          <a:bodyPr/>
          <a:lstStyle/>
          <a:p>
            <a:fld id="{E1F63AF3-6154-4736-9721-29BAE7C5A3DC}" type="slidenum">
              <a:rPr lang="en-IN" smtClean="0"/>
              <a:t>6</a:t>
            </a:fld>
            <a:endParaRPr lang="en-IN"/>
          </a:p>
        </p:txBody>
      </p:sp>
      <p:sp>
        <p:nvSpPr>
          <p:cNvPr id="3" name="TextBox 2">
            <a:extLst>
              <a:ext uri="{FF2B5EF4-FFF2-40B4-BE49-F238E27FC236}">
                <a16:creationId xmlns:a16="http://schemas.microsoft.com/office/drawing/2014/main" id="{EBAF18FB-1A37-6E4A-D722-12E021B8A6CE}"/>
              </a:ext>
            </a:extLst>
          </p:cNvPr>
          <p:cNvSpPr txBox="1"/>
          <p:nvPr/>
        </p:nvSpPr>
        <p:spPr>
          <a:xfrm>
            <a:off x="110613" y="419527"/>
            <a:ext cx="11970774" cy="1532334"/>
          </a:xfrm>
          <a:prstGeom prst="roundRect">
            <a:avLst/>
          </a:prstGeom>
          <a:solidFill>
            <a:schemeClr val="tx2">
              <a:lumMod val="20000"/>
              <a:lumOff val="80000"/>
              <a:alpha val="11000"/>
            </a:schemeClr>
          </a:solidFill>
          <a:ln>
            <a:solidFill>
              <a:schemeClr val="accent1">
                <a:lumMod val="75000"/>
              </a:schemeClr>
            </a:solidFill>
          </a:ln>
        </p:spPr>
        <p:txBody>
          <a:bodyPr wrap="square" rtlCol="0">
            <a:spAutoFit/>
          </a:bodyPr>
          <a:lstStyle/>
          <a:p>
            <a:r>
              <a:rPr lang="en-IN" sz="2400" b="1" dirty="0">
                <a:latin typeface="Times New Roman" panose="02020603050405020304" pitchFamily="18" charset="0"/>
                <a:cs typeface="Times New Roman" panose="02020603050405020304" pitchFamily="18" charset="0"/>
              </a:rPr>
              <a:t>4. REMBG Library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a free, open-source Python library used to automatically remove backgrounds from images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easy access to U²-Net segmentation.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Simplifies segmentation implementation.</a:t>
            </a:r>
          </a:p>
        </p:txBody>
      </p:sp>
      <p:sp>
        <p:nvSpPr>
          <p:cNvPr id="4" name="TextBox 3">
            <a:extLst>
              <a:ext uri="{FF2B5EF4-FFF2-40B4-BE49-F238E27FC236}">
                <a16:creationId xmlns:a16="http://schemas.microsoft.com/office/drawing/2014/main" id="{441A4D1C-333F-421C-BCAA-DC04E54648E1}"/>
              </a:ext>
            </a:extLst>
          </p:cNvPr>
          <p:cNvSpPr txBox="1"/>
          <p:nvPr/>
        </p:nvSpPr>
        <p:spPr>
          <a:xfrm>
            <a:off x="110613" y="2056756"/>
            <a:ext cx="11970774" cy="2213372"/>
          </a:xfrm>
          <a:prstGeom prst="roundRect">
            <a:avLst/>
          </a:prstGeom>
          <a:solidFill>
            <a:schemeClr val="tx2">
              <a:lumMod val="20000"/>
              <a:lumOff val="80000"/>
              <a:alpha val="11000"/>
            </a:schemeClr>
          </a:solidFill>
          <a:ln>
            <a:solidFill>
              <a:schemeClr val="accent1">
                <a:lumMod val="75000"/>
              </a:schemeClr>
            </a:solidFill>
          </a:ln>
        </p:spPr>
        <p:txBody>
          <a:bodyPr wrap="square" rtlCol="0">
            <a:spAutoFit/>
          </a:bodyPr>
          <a:lstStyle/>
          <a:p>
            <a:r>
              <a:rPr lang="en-IN" sz="2400" b="1" dirty="0">
                <a:latin typeface="Times New Roman" panose="02020603050405020304" pitchFamily="18" charset="0"/>
                <a:cs typeface="Times New Roman" panose="02020603050405020304" pitchFamily="18" charset="0"/>
              </a:rPr>
              <a:t>5. Mask Refinement Module (OpenCV)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Improves mask quality before inpainting.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Because the mask may contain noise, small holes and incomplete boundaries.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Dilation : here it expands the mask boundaries.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also fills the gaps and holes.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also smoothens the mask edges to remove noise.</a:t>
            </a:r>
          </a:p>
        </p:txBody>
      </p:sp>
      <p:sp>
        <p:nvSpPr>
          <p:cNvPr id="5" name="TextBox 4">
            <a:extLst>
              <a:ext uri="{FF2B5EF4-FFF2-40B4-BE49-F238E27FC236}">
                <a16:creationId xmlns:a16="http://schemas.microsoft.com/office/drawing/2014/main" id="{B463CEC3-1F81-36E7-2B3E-C9FA4D5780B7}"/>
              </a:ext>
            </a:extLst>
          </p:cNvPr>
          <p:cNvSpPr txBox="1"/>
          <p:nvPr/>
        </p:nvSpPr>
        <p:spPr>
          <a:xfrm>
            <a:off x="110613" y="4383200"/>
            <a:ext cx="11970774" cy="1838801"/>
          </a:xfrm>
          <a:prstGeom prst="roundRect">
            <a:avLst/>
          </a:prstGeom>
          <a:solidFill>
            <a:schemeClr val="tx2">
              <a:lumMod val="20000"/>
              <a:lumOff val="80000"/>
              <a:alpha val="11000"/>
            </a:schemeClr>
          </a:solidFill>
          <a:ln>
            <a:solidFill>
              <a:schemeClr val="accent1">
                <a:lumMod val="75000"/>
              </a:schemeClr>
            </a:solidFill>
          </a:ln>
        </p:spPr>
        <p:txBody>
          <a:bodyPr wrap="square" rtlCol="0">
            <a:spAutoFit/>
          </a:bodyPr>
          <a:lstStyle/>
          <a:p>
            <a:r>
              <a:rPr lang="en-IN" sz="2200" b="1" dirty="0">
                <a:latin typeface="Times New Roman" panose="02020603050405020304" pitchFamily="18" charset="0"/>
                <a:cs typeface="Times New Roman" panose="02020603050405020304" pitchFamily="18" charset="0"/>
              </a:rPr>
              <a:t>6. Stable Diffusion Inpainting Model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removes the object and reconstructs the image.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 use : “</a:t>
            </a:r>
            <a:r>
              <a:rPr lang="en-IN" b="1" dirty="0" err="1"/>
              <a:t>runwayml</a:t>
            </a:r>
            <a:r>
              <a:rPr lang="en-IN" b="1" dirty="0"/>
              <a:t>/stable-diffusion-inpainting”</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is an open-source model and specifically trained for the image inpainting.</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produces the realistic reconstructed images.</a:t>
            </a:r>
          </a:p>
        </p:txBody>
      </p:sp>
      <p:sp>
        <p:nvSpPr>
          <p:cNvPr id="8" name="Footer Placeholder 2">
            <a:extLst>
              <a:ext uri="{FF2B5EF4-FFF2-40B4-BE49-F238E27FC236}">
                <a16:creationId xmlns:a16="http://schemas.microsoft.com/office/drawing/2014/main" id="{A2316666-66A5-5BFD-7918-37A8075A6480}"/>
              </a:ext>
            </a:extLst>
          </p:cNvPr>
          <p:cNvSpPr>
            <a:spLocks noGrp="1"/>
          </p:cNvSpPr>
          <p:nvPr>
            <p:ph type="ftr" sz="quarter" idx="11"/>
          </p:nvPr>
        </p:nvSpPr>
        <p:spPr>
          <a:xfrm>
            <a:off x="4038600" y="6356350"/>
            <a:ext cx="4114800" cy="365125"/>
          </a:xfrm>
        </p:spPr>
        <p:txBody>
          <a:bodyPr/>
          <a:lstStyle/>
          <a:p>
            <a:r>
              <a:rPr lang="en-US" dirty="0"/>
              <a:t>GEN AI 2025-26</a:t>
            </a:r>
            <a:endParaRPr lang="en-IN" dirty="0"/>
          </a:p>
        </p:txBody>
      </p:sp>
    </p:spTree>
    <p:extLst>
      <p:ext uri="{BB962C8B-B14F-4D97-AF65-F5344CB8AC3E}">
        <p14:creationId xmlns:p14="http://schemas.microsoft.com/office/powerpoint/2010/main" val="385515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5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5F3D0-2384-38BA-F084-BEABB905A9B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545B250-5D33-3F3E-52AF-135261C9FF1D}"/>
              </a:ext>
            </a:extLst>
          </p:cNvPr>
          <p:cNvSpPr txBox="1">
            <a:spLocks/>
          </p:cNvSpPr>
          <p:nvPr/>
        </p:nvSpPr>
        <p:spPr>
          <a:xfrm>
            <a:off x="0" y="0"/>
            <a:ext cx="1189703" cy="314632"/>
          </a:xfrm>
          <a:prstGeom prst="rect">
            <a:avLst/>
          </a:prstGeom>
          <a:ln w="12700">
            <a:solidFill>
              <a:schemeClr val="accent3">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b="1" dirty="0">
                <a:latin typeface="Times New Roman" panose="02020603050405020304" pitchFamily="18" charset="0"/>
                <a:cs typeface="Times New Roman" panose="02020603050405020304" pitchFamily="18" charset="0"/>
              </a:rPr>
              <a:t>TEAM - 03</a:t>
            </a:r>
          </a:p>
        </p:txBody>
      </p:sp>
      <p:pic>
        <p:nvPicPr>
          <p:cNvPr id="7" name="Picture 6" descr="KLE Technological University in Hubballi">
            <a:extLst>
              <a:ext uri="{FF2B5EF4-FFF2-40B4-BE49-F238E27FC236}">
                <a16:creationId xmlns:a16="http://schemas.microsoft.com/office/drawing/2014/main" id="{92E0371B-3EFE-0959-61BE-F095006035D3}"/>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10550013" y="-9833"/>
            <a:ext cx="1641987" cy="386384"/>
          </a:xfrm>
          <a:prstGeom prst="rect">
            <a:avLst/>
          </a:prstGeom>
          <a:noFill/>
          <a:ln>
            <a:noFill/>
          </a:ln>
          <a:extLst>
            <a:ext uri="{53640926-AAD7-44D8-BBD7-CCE9431645EC}">
              <a14:shadowObscured xmlns:a14="http://schemas.microsoft.com/office/drawing/2010/main"/>
            </a:ext>
          </a:extLst>
        </p:spPr>
      </p:pic>
      <p:sp>
        <p:nvSpPr>
          <p:cNvPr id="11" name="Date Placeholder 10">
            <a:extLst>
              <a:ext uri="{FF2B5EF4-FFF2-40B4-BE49-F238E27FC236}">
                <a16:creationId xmlns:a16="http://schemas.microsoft.com/office/drawing/2014/main" id="{BFFA5F27-1F54-289C-9A14-B4FE2733D17E}"/>
              </a:ext>
            </a:extLst>
          </p:cNvPr>
          <p:cNvSpPr>
            <a:spLocks noGrp="1"/>
          </p:cNvSpPr>
          <p:nvPr>
            <p:ph type="dt" sz="half" idx="10"/>
          </p:nvPr>
        </p:nvSpPr>
        <p:spPr/>
        <p:txBody>
          <a:bodyPr/>
          <a:lstStyle/>
          <a:p>
            <a:fld id="{2429C11F-0C05-443E-90CE-5F4D9188C1F5}" type="datetime1">
              <a:rPr lang="en-IN" smtClean="0"/>
              <a:t>03-06-2026</a:t>
            </a:fld>
            <a:endParaRPr lang="en-IN"/>
          </a:p>
        </p:txBody>
      </p:sp>
      <p:sp>
        <p:nvSpPr>
          <p:cNvPr id="12" name="Slide Number Placeholder 11">
            <a:extLst>
              <a:ext uri="{FF2B5EF4-FFF2-40B4-BE49-F238E27FC236}">
                <a16:creationId xmlns:a16="http://schemas.microsoft.com/office/drawing/2014/main" id="{6EA13223-89E9-3D05-8A81-096254DDC49E}"/>
              </a:ext>
            </a:extLst>
          </p:cNvPr>
          <p:cNvSpPr>
            <a:spLocks noGrp="1"/>
          </p:cNvSpPr>
          <p:nvPr>
            <p:ph type="sldNum" sz="quarter" idx="12"/>
          </p:nvPr>
        </p:nvSpPr>
        <p:spPr/>
        <p:txBody>
          <a:bodyPr/>
          <a:lstStyle/>
          <a:p>
            <a:fld id="{E1F63AF3-6154-4736-9721-29BAE7C5A3DC}" type="slidenum">
              <a:rPr lang="en-IN" smtClean="0"/>
              <a:t>7</a:t>
            </a:fld>
            <a:endParaRPr lang="en-IN"/>
          </a:p>
        </p:txBody>
      </p:sp>
      <p:sp>
        <p:nvSpPr>
          <p:cNvPr id="3" name="TextBox 2">
            <a:extLst>
              <a:ext uri="{FF2B5EF4-FFF2-40B4-BE49-F238E27FC236}">
                <a16:creationId xmlns:a16="http://schemas.microsoft.com/office/drawing/2014/main" id="{E31EA7F5-6222-91B6-C89D-C6AD1BBD8F24}"/>
              </a:ext>
            </a:extLst>
          </p:cNvPr>
          <p:cNvSpPr txBox="1"/>
          <p:nvPr/>
        </p:nvSpPr>
        <p:spPr>
          <a:xfrm>
            <a:off x="110613" y="376551"/>
            <a:ext cx="11970774" cy="2179320"/>
          </a:xfrm>
          <a:prstGeom prst="roundRect">
            <a:avLst/>
          </a:prstGeom>
          <a:solidFill>
            <a:schemeClr val="tx2">
              <a:lumMod val="20000"/>
              <a:lumOff val="80000"/>
              <a:alpha val="11000"/>
            </a:schemeClr>
          </a:solidFill>
          <a:ln>
            <a:solidFill>
              <a:schemeClr val="accent1">
                <a:lumMod val="75000"/>
              </a:schemeClr>
            </a:solidFill>
          </a:ln>
        </p:spPr>
        <p:txBody>
          <a:bodyPr wrap="square" rtlCol="0">
            <a:spAutoFit/>
          </a:bodyPr>
          <a:lstStyle/>
          <a:p>
            <a:r>
              <a:rPr lang="en-IN" sz="2200" b="1" dirty="0">
                <a:latin typeface="Times New Roman" panose="02020603050405020304" pitchFamily="18" charset="0"/>
                <a:cs typeface="Times New Roman" panose="02020603050405020304" pitchFamily="18" charset="0"/>
              </a:rPr>
              <a:t>6. Stable Diffusion Inpainting Model (working)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takes inputs as Original image , refined mask , positive prompt and negative prompt.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Here at first the masked region is identified.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Then the stable diffusion analyses the nearby colors , textures , lights and context.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then generates new pixels for the missing area.</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generated content is blended with surrounding pixels.</a:t>
            </a:r>
          </a:p>
        </p:txBody>
      </p:sp>
      <p:sp>
        <p:nvSpPr>
          <p:cNvPr id="4" name="TextBox 3">
            <a:extLst>
              <a:ext uri="{FF2B5EF4-FFF2-40B4-BE49-F238E27FC236}">
                <a16:creationId xmlns:a16="http://schemas.microsoft.com/office/drawing/2014/main" id="{83B121D5-9486-FFB0-8360-F45039BDA6C3}"/>
              </a:ext>
            </a:extLst>
          </p:cNvPr>
          <p:cNvSpPr txBox="1"/>
          <p:nvPr/>
        </p:nvSpPr>
        <p:spPr>
          <a:xfrm>
            <a:off x="110613" y="2617790"/>
            <a:ext cx="11970774" cy="1498283"/>
          </a:xfrm>
          <a:prstGeom prst="roundRect">
            <a:avLst/>
          </a:prstGeom>
          <a:solidFill>
            <a:schemeClr val="tx2">
              <a:lumMod val="20000"/>
              <a:lumOff val="80000"/>
              <a:alpha val="11000"/>
            </a:schemeClr>
          </a:solidFill>
          <a:ln>
            <a:solidFill>
              <a:schemeClr val="accent1">
                <a:lumMod val="75000"/>
              </a:schemeClr>
            </a:solidFill>
          </a:ln>
        </p:spPr>
        <p:txBody>
          <a:bodyPr wrap="square" rtlCol="0">
            <a:spAutoFit/>
          </a:bodyPr>
          <a:lstStyle/>
          <a:p>
            <a:r>
              <a:rPr lang="en-IN" sz="2200" b="1" dirty="0">
                <a:latin typeface="Times New Roman" panose="02020603050405020304" pitchFamily="18" charset="0"/>
                <a:cs typeface="Times New Roman" panose="02020603050405020304" pitchFamily="18" charset="0"/>
              </a:rPr>
              <a:t>7. Image Reconstruction Module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Generates the final image.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Here the removed region is reconstructed and surrounding textures are continued naturally.</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Colors and lightings are matched.</a:t>
            </a:r>
          </a:p>
        </p:txBody>
      </p:sp>
      <p:sp>
        <p:nvSpPr>
          <p:cNvPr id="8" name="TextBox 7">
            <a:extLst>
              <a:ext uri="{FF2B5EF4-FFF2-40B4-BE49-F238E27FC236}">
                <a16:creationId xmlns:a16="http://schemas.microsoft.com/office/drawing/2014/main" id="{F7F2FC78-D856-BB4D-6C5C-ABBA71B5C0AA}"/>
              </a:ext>
            </a:extLst>
          </p:cNvPr>
          <p:cNvSpPr txBox="1"/>
          <p:nvPr/>
        </p:nvSpPr>
        <p:spPr>
          <a:xfrm>
            <a:off x="110613" y="4343351"/>
            <a:ext cx="11970774" cy="1532334"/>
          </a:xfrm>
          <a:prstGeom prst="roundRect">
            <a:avLst/>
          </a:prstGeom>
          <a:solidFill>
            <a:schemeClr val="tx2">
              <a:lumMod val="20000"/>
              <a:lumOff val="80000"/>
              <a:alpha val="11000"/>
            </a:schemeClr>
          </a:solidFill>
          <a:ln>
            <a:solidFill>
              <a:schemeClr val="accent1">
                <a:lumMod val="75000"/>
              </a:schemeClr>
            </a:solidFill>
          </a:ln>
        </p:spPr>
        <p:txBody>
          <a:bodyPr wrap="square" rtlCol="0">
            <a:spAutoFit/>
          </a:bodyPr>
          <a:lstStyle/>
          <a:p>
            <a:r>
              <a:rPr lang="en-IN" sz="2200" b="1" dirty="0">
                <a:latin typeface="Times New Roman" panose="02020603050405020304" pitchFamily="18" charset="0"/>
                <a:cs typeface="Times New Roman" panose="02020603050405020304" pitchFamily="18" charset="0"/>
              </a:rPr>
              <a:t>8</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Gradio</a:t>
            </a:r>
            <a:r>
              <a:rPr lang="en-IN" sz="2400" b="1" dirty="0">
                <a:latin typeface="Times New Roman" panose="02020603050405020304" pitchFamily="18" charset="0"/>
                <a:cs typeface="Times New Roman" panose="02020603050405020304" pitchFamily="18" charset="0"/>
              </a:rPr>
              <a:t> Web Interface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provides the user friendly interface.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also easy to deployment and supports the image upload.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Real-time visualization.</a:t>
            </a:r>
          </a:p>
        </p:txBody>
      </p:sp>
      <p:sp>
        <p:nvSpPr>
          <p:cNvPr id="5" name="Footer Placeholder 2">
            <a:extLst>
              <a:ext uri="{FF2B5EF4-FFF2-40B4-BE49-F238E27FC236}">
                <a16:creationId xmlns:a16="http://schemas.microsoft.com/office/drawing/2014/main" id="{BE99F332-348D-E084-D1C6-C5ACFAFC7409}"/>
              </a:ext>
            </a:extLst>
          </p:cNvPr>
          <p:cNvSpPr>
            <a:spLocks noGrp="1"/>
          </p:cNvSpPr>
          <p:nvPr>
            <p:ph type="ftr" sz="quarter" idx="11"/>
          </p:nvPr>
        </p:nvSpPr>
        <p:spPr>
          <a:xfrm>
            <a:off x="4038600" y="6356350"/>
            <a:ext cx="4114800" cy="365125"/>
          </a:xfrm>
        </p:spPr>
        <p:txBody>
          <a:bodyPr/>
          <a:lstStyle/>
          <a:p>
            <a:r>
              <a:rPr lang="en-US" dirty="0"/>
              <a:t>GEN AI 2025-26</a:t>
            </a:r>
            <a:endParaRPr lang="en-IN" dirty="0"/>
          </a:p>
        </p:txBody>
      </p:sp>
    </p:spTree>
    <p:extLst>
      <p:ext uri="{BB962C8B-B14F-4D97-AF65-F5344CB8AC3E}">
        <p14:creationId xmlns:p14="http://schemas.microsoft.com/office/powerpoint/2010/main" val="397072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5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a:extLst>
            <a:ext uri="{FF2B5EF4-FFF2-40B4-BE49-F238E27FC236}">
              <a16:creationId xmlns:a16="http://schemas.microsoft.com/office/drawing/2014/main" id="{EABDD749-D7FF-362E-C70F-A41BC2C38B8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69B6321-9C51-2080-F1CC-38324E5F5C61}"/>
              </a:ext>
            </a:extLst>
          </p:cNvPr>
          <p:cNvSpPr txBox="1">
            <a:spLocks/>
          </p:cNvSpPr>
          <p:nvPr/>
        </p:nvSpPr>
        <p:spPr>
          <a:xfrm>
            <a:off x="0" y="0"/>
            <a:ext cx="1189703" cy="314632"/>
          </a:xfrm>
          <a:prstGeom prst="rect">
            <a:avLst/>
          </a:prstGeom>
          <a:ln w="12700">
            <a:solidFill>
              <a:schemeClr val="accent3">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b="1" dirty="0">
                <a:latin typeface="Times New Roman" panose="02020603050405020304" pitchFamily="18" charset="0"/>
                <a:cs typeface="Times New Roman" panose="02020603050405020304" pitchFamily="18" charset="0"/>
              </a:rPr>
              <a:t>TEAM - 03</a:t>
            </a:r>
          </a:p>
        </p:txBody>
      </p:sp>
      <p:pic>
        <p:nvPicPr>
          <p:cNvPr id="7" name="Picture 6" descr="KLE Technological University in Hubballi">
            <a:extLst>
              <a:ext uri="{FF2B5EF4-FFF2-40B4-BE49-F238E27FC236}">
                <a16:creationId xmlns:a16="http://schemas.microsoft.com/office/drawing/2014/main" id="{92E7CC67-B732-29AF-564A-CC884293EC1A}"/>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10550013" y="-9833"/>
            <a:ext cx="1641987" cy="386384"/>
          </a:xfrm>
          <a:prstGeom prst="rect">
            <a:avLst/>
          </a:prstGeom>
          <a:noFill/>
          <a:ln>
            <a:noFill/>
          </a:ln>
          <a:extLst>
            <a:ext uri="{53640926-AAD7-44D8-BBD7-CCE9431645EC}">
              <a14:shadowObscured xmlns:a14="http://schemas.microsoft.com/office/drawing/2010/main"/>
            </a:ext>
          </a:extLst>
        </p:spPr>
      </p:pic>
      <p:sp>
        <p:nvSpPr>
          <p:cNvPr id="11" name="Date Placeholder 10">
            <a:extLst>
              <a:ext uri="{FF2B5EF4-FFF2-40B4-BE49-F238E27FC236}">
                <a16:creationId xmlns:a16="http://schemas.microsoft.com/office/drawing/2014/main" id="{97D8D7E3-30A0-2E43-BD17-694D01D998AD}"/>
              </a:ext>
            </a:extLst>
          </p:cNvPr>
          <p:cNvSpPr>
            <a:spLocks noGrp="1"/>
          </p:cNvSpPr>
          <p:nvPr>
            <p:ph type="dt" sz="half" idx="10"/>
          </p:nvPr>
        </p:nvSpPr>
        <p:spPr/>
        <p:txBody>
          <a:bodyPr/>
          <a:lstStyle/>
          <a:p>
            <a:fld id="{2429C11F-0C05-443E-90CE-5F4D9188C1F5}" type="datetime1">
              <a:rPr lang="en-IN" smtClean="0"/>
              <a:t>03-06-2026</a:t>
            </a:fld>
            <a:endParaRPr lang="en-IN"/>
          </a:p>
        </p:txBody>
      </p:sp>
      <p:sp>
        <p:nvSpPr>
          <p:cNvPr id="12" name="Slide Number Placeholder 11">
            <a:extLst>
              <a:ext uri="{FF2B5EF4-FFF2-40B4-BE49-F238E27FC236}">
                <a16:creationId xmlns:a16="http://schemas.microsoft.com/office/drawing/2014/main" id="{6EBBDDCD-49D1-9775-F794-9E22C53A9AB4}"/>
              </a:ext>
            </a:extLst>
          </p:cNvPr>
          <p:cNvSpPr>
            <a:spLocks noGrp="1"/>
          </p:cNvSpPr>
          <p:nvPr>
            <p:ph type="sldNum" sz="quarter" idx="12"/>
          </p:nvPr>
        </p:nvSpPr>
        <p:spPr/>
        <p:txBody>
          <a:bodyPr/>
          <a:lstStyle/>
          <a:p>
            <a:fld id="{E1F63AF3-6154-4736-9721-29BAE7C5A3DC}" type="slidenum">
              <a:rPr lang="en-IN" smtClean="0"/>
              <a:t>8</a:t>
            </a:fld>
            <a:endParaRPr lang="en-IN"/>
          </a:p>
        </p:txBody>
      </p:sp>
      <p:pic>
        <p:nvPicPr>
          <p:cNvPr id="4" name="Picture 3">
            <a:extLst>
              <a:ext uri="{FF2B5EF4-FFF2-40B4-BE49-F238E27FC236}">
                <a16:creationId xmlns:a16="http://schemas.microsoft.com/office/drawing/2014/main" id="{00C9B568-F72A-E41F-D2D8-2DF8A20BEA91}"/>
              </a:ext>
            </a:extLst>
          </p:cNvPr>
          <p:cNvPicPr>
            <a:picLocks noChangeAspect="1"/>
          </p:cNvPicPr>
          <p:nvPr/>
        </p:nvPicPr>
        <p:blipFill>
          <a:blip r:embed="rId4"/>
          <a:stretch>
            <a:fillRect/>
          </a:stretch>
        </p:blipFill>
        <p:spPr>
          <a:xfrm>
            <a:off x="195398" y="1171537"/>
            <a:ext cx="5900602" cy="4514926"/>
          </a:xfrm>
          <a:prstGeom prst="rect">
            <a:avLst/>
          </a:prstGeom>
          <a:ln>
            <a:solidFill>
              <a:schemeClr val="tx1"/>
            </a:solid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76D61B7E-1ADE-3607-5218-FBF35D22C342}"/>
              </a:ext>
            </a:extLst>
          </p:cNvPr>
          <p:cNvPicPr>
            <a:picLocks noChangeAspect="1"/>
          </p:cNvPicPr>
          <p:nvPr/>
        </p:nvPicPr>
        <p:blipFill>
          <a:blip r:embed="rId5"/>
          <a:stretch>
            <a:fillRect/>
          </a:stretch>
        </p:blipFill>
        <p:spPr>
          <a:xfrm>
            <a:off x="6291398" y="1171537"/>
            <a:ext cx="5900602" cy="4514926"/>
          </a:xfrm>
          <a:prstGeom prst="rect">
            <a:avLst/>
          </a:prstGeom>
          <a:ln>
            <a:solidFill>
              <a:schemeClr val="tx1"/>
            </a:solidFill>
          </a:ln>
          <a:effectLst>
            <a:outerShdw blurRad="190500" algn="tl" rotWithShape="0">
              <a:srgbClr val="000000">
                <a:alpha val="70000"/>
              </a:srgbClr>
            </a:outerShdw>
          </a:effectLst>
        </p:spPr>
      </p:pic>
      <p:sp>
        <p:nvSpPr>
          <p:cNvPr id="3" name="Title 1">
            <a:extLst>
              <a:ext uri="{FF2B5EF4-FFF2-40B4-BE49-F238E27FC236}">
                <a16:creationId xmlns:a16="http://schemas.microsoft.com/office/drawing/2014/main" id="{CAF6749E-B2AD-F927-9C29-51494C0E6FAF}"/>
              </a:ext>
            </a:extLst>
          </p:cNvPr>
          <p:cNvSpPr txBox="1">
            <a:spLocks/>
          </p:cNvSpPr>
          <p:nvPr/>
        </p:nvSpPr>
        <p:spPr>
          <a:xfrm>
            <a:off x="4380271" y="-9833"/>
            <a:ext cx="3431458" cy="386384"/>
          </a:xfrm>
          <a:prstGeom prst="rect">
            <a:avLst/>
          </a:prstGeom>
          <a:ln w="12700">
            <a:solidFill>
              <a:schemeClr val="accent3">
                <a:lumMod val="20000"/>
                <a:lumOff val="80000"/>
              </a:schemeClr>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Web - Page interface</a:t>
            </a:r>
          </a:p>
        </p:txBody>
      </p:sp>
      <p:sp>
        <p:nvSpPr>
          <p:cNvPr id="5" name="Title 1">
            <a:extLst>
              <a:ext uri="{FF2B5EF4-FFF2-40B4-BE49-F238E27FC236}">
                <a16:creationId xmlns:a16="http://schemas.microsoft.com/office/drawing/2014/main" id="{1ACC0293-1D86-A543-7207-45702CD47E80}"/>
              </a:ext>
            </a:extLst>
          </p:cNvPr>
          <p:cNvSpPr txBox="1">
            <a:spLocks/>
          </p:cNvSpPr>
          <p:nvPr/>
        </p:nvSpPr>
        <p:spPr>
          <a:xfrm>
            <a:off x="1356852" y="660054"/>
            <a:ext cx="3431458" cy="386384"/>
          </a:xfrm>
          <a:prstGeom prst="rect">
            <a:avLst/>
          </a:prstGeom>
          <a:ln w="12700">
            <a:solidFill>
              <a:schemeClr val="accent3">
                <a:lumMod val="20000"/>
                <a:lumOff val="80000"/>
              </a:schemeClr>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Manual mode</a:t>
            </a:r>
          </a:p>
        </p:txBody>
      </p:sp>
      <p:sp>
        <p:nvSpPr>
          <p:cNvPr id="8" name="Title 1">
            <a:extLst>
              <a:ext uri="{FF2B5EF4-FFF2-40B4-BE49-F238E27FC236}">
                <a16:creationId xmlns:a16="http://schemas.microsoft.com/office/drawing/2014/main" id="{1DCB74E3-9EEF-143E-C444-539FF55B6989}"/>
              </a:ext>
            </a:extLst>
          </p:cNvPr>
          <p:cNvSpPr txBox="1">
            <a:spLocks/>
          </p:cNvSpPr>
          <p:nvPr/>
        </p:nvSpPr>
        <p:spPr>
          <a:xfrm>
            <a:off x="7285703" y="660054"/>
            <a:ext cx="3431458" cy="386384"/>
          </a:xfrm>
          <a:prstGeom prst="rect">
            <a:avLst/>
          </a:prstGeom>
          <a:ln w="12700">
            <a:solidFill>
              <a:schemeClr val="accent3">
                <a:lumMod val="20000"/>
                <a:lumOff val="80000"/>
              </a:schemeClr>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Automatic mode</a:t>
            </a:r>
          </a:p>
        </p:txBody>
      </p:sp>
      <p:sp>
        <p:nvSpPr>
          <p:cNvPr id="10" name="Footer Placeholder 2">
            <a:extLst>
              <a:ext uri="{FF2B5EF4-FFF2-40B4-BE49-F238E27FC236}">
                <a16:creationId xmlns:a16="http://schemas.microsoft.com/office/drawing/2014/main" id="{77999D43-59FC-CED9-2CDF-BAE3306C7E9A}"/>
              </a:ext>
            </a:extLst>
          </p:cNvPr>
          <p:cNvSpPr>
            <a:spLocks noGrp="1"/>
          </p:cNvSpPr>
          <p:nvPr>
            <p:ph type="ftr" sz="quarter" idx="11"/>
          </p:nvPr>
        </p:nvSpPr>
        <p:spPr>
          <a:xfrm>
            <a:off x="4038600" y="6356350"/>
            <a:ext cx="4114800" cy="365125"/>
          </a:xfrm>
        </p:spPr>
        <p:txBody>
          <a:bodyPr/>
          <a:lstStyle/>
          <a:p>
            <a:r>
              <a:rPr lang="en-US" dirty="0"/>
              <a:t>GEN AI 2025-26</a:t>
            </a:r>
            <a:endParaRPr lang="en-IN" dirty="0"/>
          </a:p>
        </p:txBody>
      </p:sp>
    </p:spTree>
    <p:extLst>
      <p:ext uri="{BB962C8B-B14F-4D97-AF65-F5344CB8AC3E}">
        <p14:creationId xmlns:p14="http://schemas.microsoft.com/office/powerpoint/2010/main" val="178453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82ACC-6EB0-9FF9-005B-DC5A79B2A3C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379C076-BDA3-25F0-5213-B92A05E3AC43}"/>
              </a:ext>
            </a:extLst>
          </p:cNvPr>
          <p:cNvSpPr txBox="1">
            <a:spLocks/>
          </p:cNvSpPr>
          <p:nvPr/>
        </p:nvSpPr>
        <p:spPr>
          <a:xfrm>
            <a:off x="0" y="0"/>
            <a:ext cx="1189703" cy="314632"/>
          </a:xfrm>
          <a:prstGeom prst="rect">
            <a:avLst/>
          </a:prstGeom>
          <a:ln w="12700">
            <a:solidFill>
              <a:schemeClr val="accent3">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b="1" dirty="0">
                <a:latin typeface="Times New Roman" panose="02020603050405020304" pitchFamily="18" charset="0"/>
                <a:cs typeface="Times New Roman" panose="02020603050405020304" pitchFamily="18" charset="0"/>
              </a:rPr>
              <a:t>TEAM - 03</a:t>
            </a:r>
          </a:p>
        </p:txBody>
      </p:sp>
      <p:pic>
        <p:nvPicPr>
          <p:cNvPr id="7" name="Picture 6" descr="KLE Technological University in Hubballi">
            <a:extLst>
              <a:ext uri="{FF2B5EF4-FFF2-40B4-BE49-F238E27FC236}">
                <a16:creationId xmlns:a16="http://schemas.microsoft.com/office/drawing/2014/main" id="{7A555651-EA11-F1C2-BA00-E641391A849B}"/>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10550013" y="-9833"/>
            <a:ext cx="1641987" cy="386384"/>
          </a:xfrm>
          <a:prstGeom prst="rect">
            <a:avLst/>
          </a:prstGeom>
          <a:noFill/>
          <a:ln>
            <a:noFill/>
          </a:ln>
          <a:extLst>
            <a:ext uri="{53640926-AAD7-44D8-BBD7-CCE9431645EC}">
              <a14:shadowObscured xmlns:a14="http://schemas.microsoft.com/office/drawing/2010/main"/>
            </a:ext>
          </a:extLst>
        </p:spPr>
      </p:pic>
      <p:sp>
        <p:nvSpPr>
          <p:cNvPr id="11" name="Date Placeholder 10">
            <a:extLst>
              <a:ext uri="{FF2B5EF4-FFF2-40B4-BE49-F238E27FC236}">
                <a16:creationId xmlns:a16="http://schemas.microsoft.com/office/drawing/2014/main" id="{1011EAEE-0A23-3A0C-1A61-57CEE9F10C27}"/>
              </a:ext>
            </a:extLst>
          </p:cNvPr>
          <p:cNvSpPr>
            <a:spLocks noGrp="1"/>
          </p:cNvSpPr>
          <p:nvPr>
            <p:ph type="dt" sz="half" idx="10"/>
          </p:nvPr>
        </p:nvSpPr>
        <p:spPr/>
        <p:txBody>
          <a:bodyPr/>
          <a:lstStyle/>
          <a:p>
            <a:fld id="{2429C11F-0C05-443E-90CE-5F4D9188C1F5}" type="datetime1">
              <a:rPr lang="en-IN" smtClean="0"/>
              <a:t>03-06-2026</a:t>
            </a:fld>
            <a:endParaRPr lang="en-IN"/>
          </a:p>
        </p:txBody>
      </p:sp>
      <p:sp>
        <p:nvSpPr>
          <p:cNvPr id="12" name="Slide Number Placeholder 11">
            <a:extLst>
              <a:ext uri="{FF2B5EF4-FFF2-40B4-BE49-F238E27FC236}">
                <a16:creationId xmlns:a16="http://schemas.microsoft.com/office/drawing/2014/main" id="{4C53F368-5B94-A85D-FADF-3AB1F3F8ECB2}"/>
              </a:ext>
            </a:extLst>
          </p:cNvPr>
          <p:cNvSpPr>
            <a:spLocks noGrp="1"/>
          </p:cNvSpPr>
          <p:nvPr>
            <p:ph type="sldNum" sz="quarter" idx="12"/>
          </p:nvPr>
        </p:nvSpPr>
        <p:spPr/>
        <p:txBody>
          <a:bodyPr/>
          <a:lstStyle/>
          <a:p>
            <a:fld id="{E1F63AF3-6154-4736-9721-29BAE7C5A3DC}" type="slidenum">
              <a:rPr lang="en-IN" smtClean="0"/>
              <a:t>9</a:t>
            </a:fld>
            <a:endParaRPr lang="en-IN"/>
          </a:p>
        </p:txBody>
      </p:sp>
      <p:pic>
        <p:nvPicPr>
          <p:cNvPr id="8" name="Picture 7">
            <a:extLst>
              <a:ext uri="{FF2B5EF4-FFF2-40B4-BE49-F238E27FC236}">
                <a16:creationId xmlns:a16="http://schemas.microsoft.com/office/drawing/2014/main" id="{6D7F504E-3609-0AC1-A1F8-606369B8E03C}"/>
              </a:ext>
            </a:extLst>
          </p:cNvPr>
          <p:cNvPicPr>
            <a:picLocks noChangeAspect="1"/>
          </p:cNvPicPr>
          <p:nvPr/>
        </p:nvPicPr>
        <p:blipFill>
          <a:blip r:embed="rId4"/>
          <a:stretch>
            <a:fillRect/>
          </a:stretch>
        </p:blipFill>
        <p:spPr>
          <a:xfrm>
            <a:off x="0" y="457366"/>
            <a:ext cx="12192000" cy="5943268"/>
          </a:xfrm>
          <a:prstGeom prst="rect">
            <a:avLst/>
          </a:prstGeom>
        </p:spPr>
      </p:pic>
      <p:sp>
        <p:nvSpPr>
          <p:cNvPr id="3" name="Title 1">
            <a:extLst>
              <a:ext uri="{FF2B5EF4-FFF2-40B4-BE49-F238E27FC236}">
                <a16:creationId xmlns:a16="http://schemas.microsoft.com/office/drawing/2014/main" id="{A48A4798-79E3-F3F2-AE38-0AA8DB4637FE}"/>
              </a:ext>
            </a:extLst>
          </p:cNvPr>
          <p:cNvSpPr txBox="1">
            <a:spLocks/>
          </p:cNvSpPr>
          <p:nvPr/>
        </p:nvSpPr>
        <p:spPr>
          <a:xfrm>
            <a:off x="4380271" y="-9833"/>
            <a:ext cx="3431458" cy="386384"/>
          </a:xfrm>
          <a:prstGeom prst="rect">
            <a:avLst/>
          </a:prstGeom>
          <a:ln w="12700">
            <a:solidFill>
              <a:schemeClr val="accent3">
                <a:lumMod val="20000"/>
                <a:lumOff val="80000"/>
              </a:schemeClr>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Manual Mode output</a:t>
            </a:r>
          </a:p>
        </p:txBody>
      </p:sp>
      <p:sp>
        <p:nvSpPr>
          <p:cNvPr id="4" name="Footer Placeholder 2">
            <a:extLst>
              <a:ext uri="{FF2B5EF4-FFF2-40B4-BE49-F238E27FC236}">
                <a16:creationId xmlns:a16="http://schemas.microsoft.com/office/drawing/2014/main" id="{C7A9B427-EDB6-FE15-D774-5FA1D3232A11}"/>
              </a:ext>
            </a:extLst>
          </p:cNvPr>
          <p:cNvSpPr>
            <a:spLocks noGrp="1"/>
          </p:cNvSpPr>
          <p:nvPr>
            <p:ph type="ftr" sz="quarter" idx="11"/>
          </p:nvPr>
        </p:nvSpPr>
        <p:spPr>
          <a:xfrm>
            <a:off x="4038600" y="6356350"/>
            <a:ext cx="4114800" cy="365125"/>
          </a:xfrm>
        </p:spPr>
        <p:txBody>
          <a:bodyPr/>
          <a:lstStyle/>
          <a:p>
            <a:r>
              <a:rPr lang="en-US" dirty="0"/>
              <a:t>GEN AI 2025-26</a:t>
            </a:r>
            <a:endParaRPr lang="en-IN" dirty="0"/>
          </a:p>
        </p:txBody>
      </p:sp>
    </p:spTree>
    <p:extLst>
      <p:ext uri="{BB962C8B-B14F-4D97-AF65-F5344CB8AC3E}">
        <p14:creationId xmlns:p14="http://schemas.microsoft.com/office/powerpoint/2010/main" val="2526371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E5B96-00F3-96B1-9E30-7F9E55D20B1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6714C5D-8A7A-63B3-0F3F-D73FF3D7C19C}"/>
              </a:ext>
            </a:extLst>
          </p:cNvPr>
          <p:cNvSpPr txBox="1">
            <a:spLocks/>
          </p:cNvSpPr>
          <p:nvPr/>
        </p:nvSpPr>
        <p:spPr>
          <a:xfrm>
            <a:off x="0" y="0"/>
            <a:ext cx="1189703" cy="314632"/>
          </a:xfrm>
          <a:prstGeom prst="rect">
            <a:avLst/>
          </a:prstGeom>
          <a:ln w="12700">
            <a:solidFill>
              <a:schemeClr val="accent3">
                <a:lumMod val="20000"/>
                <a:lumOff val="80000"/>
              </a:schemeClr>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b="1" dirty="0">
                <a:latin typeface="Times New Roman" panose="02020603050405020304" pitchFamily="18" charset="0"/>
                <a:cs typeface="Times New Roman" panose="02020603050405020304" pitchFamily="18" charset="0"/>
              </a:rPr>
              <a:t>TEAM - 03</a:t>
            </a:r>
          </a:p>
        </p:txBody>
      </p:sp>
      <p:pic>
        <p:nvPicPr>
          <p:cNvPr id="7" name="Picture 6" descr="KLE Technological University in Hubballi">
            <a:extLst>
              <a:ext uri="{FF2B5EF4-FFF2-40B4-BE49-F238E27FC236}">
                <a16:creationId xmlns:a16="http://schemas.microsoft.com/office/drawing/2014/main" id="{33E16081-B0FA-A446-0209-848AC277FD11}"/>
              </a:ext>
            </a:extLst>
          </p:cNvPr>
          <p:cNvPicPr>
            <a:picLocks noChangeAspect="1"/>
          </p:cNvPicPr>
          <p:nvPr/>
        </p:nvPicPr>
        <p:blipFill rotWithShape="1">
          <a:blip r:embed="rId3">
            <a:extLst>
              <a:ext uri="{28A0092B-C50C-407E-A947-70E740481C1C}">
                <a14:useLocalDpi xmlns:a14="http://schemas.microsoft.com/office/drawing/2010/main" val="0"/>
              </a:ext>
            </a:extLst>
          </a:blip>
          <a:srcRect t="37713" b="37711"/>
          <a:stretch/>
        </p:blipFill>
        <p:spPr bwMode="auto">
          <a:xfrm>
            <a:off x="10550013" y="-9833"/>
            <a:ext cx="1641987" cy="386384"/>
          </a:xfrm>
          <a:prstGeom prst="rect">
            <a:avLst/>
          </a:prstGeom>
          <a:noFill/>
          <a:ln>
            <a:noFill/>
          </a:ln>
          <a:extLst>
            <a:ext uri="{53640926-AAD7-44D8-BBD7-CCE9431645EC}">
              <a14:shadowObscured xmlns:a14="http://schemas.microsoft.com/office/drawing/2010/main"/>
            </a:ext>
          </a:extLst>
        </p:spPr>
      </p:pic>
      <p:sp>
        <p:nvSpPr>
          <p:cNvPr id="11" name="Date Placeholder 10">
            <a:extLst>
              <a:ext uri="{FF2B5EF4-FFF2-40B4-BE49-F238E27FC236}">
                <a16:creationId xmlns:a16="http://schemas.microsoft.com/office/drawing/2014/main" id="{2998D4A4-9D1C-FB94-4803-437A4C07644B}"/>
              </a:ext>
            </a:extLst>
          </p:cNvPr>
          <p:cNvSpPr>
            <a:spLocks noGrp="1"/>
          </p:cNvSpPr>
          <p:nvPr>
            <p:ph type="dt" sz="half" idx="10"/>
          </p:nvPr>
        </p:nvSpPr>
        <p:spPr/>
        <p:txBody>
          <a:bodyPr/>
          <a:lstStyle/>
          <a:p>
            <a:fld id="{2429C11F-0C05-443E-90CE-5F4D9188C1F5}" type="datetime1">
              <a:rPr lang="en-IN" smtClean="0"/>
              <a:t>03-06-2026</a:t>
            </a:fld>
            <a:endParaRPr lang="en-IN"/>
          </a:p>
        </p:txBody>
      </p:sp>
      <p:sp>
        <p:nvSpPr>
          <p:cNvPr id="12" name="Slide Number Placeholder 11">
            <a:extLst>
              <a:ext uri="{FF2B5EF4-FFF2-40B4-BE49-F238E27FC236}">
                <a16:creationId xmlns:a16="http://schemas.microsoft.com/office/drawing/2014/main" id="{FBDA17C3-5009-3F6A-2315-1F3EABE86B89}"/>
              </a:ext>
            </a:extLst>
          </p:cNvPr>
          <p:cNvSpPr>
            <a:spLocks noGrp="1"/>
          </p:cNvSpPr>
          <p:nvPr>
            <p:ph type="sldNum" sz="quarter" idx="12"/>
          </p:nvPr>
        </p:nvSpPr>
        <p:spPr/>
        <p:txBody>
          <a:bodyPr/>
          <a:lstStyle/>
          <a:p>
            <a:fld id="{E1F63AF3-6154-4736-9721-29BAE7C5A3DC}" type="slidenum">
              <a:rPr lang="en-IN" smtClean="0"/>
              <a:t>10</a:t>
            </a:fld>
            <a:endParaRPr lang="en-IN"/>
          </a:p>
        </p:txBody>
      </p:sp>
      <p:pic>
        <p:nvPicPr>
          <p:cNvPr id="8" name="Picture 7">
            <a:extLst>
              <a:ext uri="{FF2B5EF4-FFF2-40B4-BE49-F238E27FC236}">
                <a16:creationId xmlns:a16="http://schemas.microsoft.com/office/drawing/2014/main" id="{1AD7A1D9-9AAF-4A31-A60B-5540AF93E851}"/>
              </a:ext>
            </a:extLst>
          </p:cNvPr>
          <p:cNvPicPr>
            <a:picLocks noChangeAspect="1"/>
          </p:cNvPicPr>
          <p:nvPr/>
        </p:nvPicPr>
        <p:blipFill>
          <a:blip r:embed="rId4"/>
          <a:stretch>
            <a:fillRect/>
          </a:stretch>
        </p:blipFill>
        <p:spPr>
          <a:xfrm>
            <a:off x="0" y="452185"/>
            <a:ext cx="12192000" cy="5953630"/>
          </a:xfrm>
          <a:prstGeom prst="rect">
            <a:avLst/>
          </a:prstGeom>
        </p:spPr>
      </p:pic>
      <p:sp>
        <p:nvSpPr>
          <p:cNvPr id="3" name="Title 1">
            <a:extLst>
              <a:ext uri="{FF2B5EF4-FFF2-40B4-BE49-F238E27FC236}">
                <a16:creationId xmlns:a16="http://schemas.microsoft.com/office/drawing/2014/main" id="{6488EDE8-2161-640D-2D90-E36E8F04D80D}"/>
              </a:ext>
            </a:extLst>
          </p:cNvPr>
          <p:cNvSpPr txBox="1">
            <a:spLocks/>
          </p:cNvSpPr>
          <p:nvPr/>
        </p:nvSpPr>
        <p:spPr>
          <a:xfrm>
            <a:off x="4380271" y="-9833"/>
            <a:ext cx="3431458" cy="386384"/>
          </a:xfrm>
          <a:prstGeom prst="rect">
            <a:avLst/>
          </a:prstGeom>
          <a:ln w="12700">
            <a:solidFill>
              <a:schemeClr val="accent3">
                <a:lumMod val="20000"/>
                <a:lumOff val="80000"/>
              </a:schemeClr>
            </a:solidFill>
          </a:ln>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Automatic mode output</a:t>
            </a:r>
          </a:p>
        </p:txBody>
      </p:sp>
      <p:sp>
        <p:nvSpPr>
          <p:cNvPr id="4" name="Footer Placeholder 2">
            <a:extLst>
              <a:ext uri="{FF2B5EF4-FFF2-40B4-BE49-F238E27FC236}">
                <a16:creationId xmlns:a16="http://schemas.microsoft.com/office/drawing/2014/main" id="{28612716-993B-9633-EF57-6D5DBA7E6E16}"/>
              </a:ext>
            </a:extLst>
          </p:cNvPr>
          <p:cNvSpPr>
            <a:spLocks noGrp="1"/>
          </p:cNvSpPr>
          <p:nvPr>
            <p:ph type="ftr" sz="quarter" idx="11"/>
          </p:nvPr>
        </p:nvSpPr>
        <p:spPr>
          <a:xfrm>
            <a:off x="4038600" y="6356350"/>
            <a:ext cx="4114800" cy="365125"/>
          </a:xfrm>
        </p:spPr>
        <p:txBody>
          <a:bodyPr/>
          <a:lstStyle/>
          <a:p>
            <a:r>
              <a:rPr lang="en-US" dirty="0"/>
              <a:t>GEN AI 2025-26</a:t>
            </a:r>
            <a:endParaRPr lang="en-IN" dirty="0"/>
          </a:p>
        </p:txBody>
      </p:sp>
    </p:spTree>
    <p:extLst>
      <p:ext uri="{BB962C8B-B14F-4D97-AF65-F5344CB8AC3E}">
        <p14:creationId xmlns:p14="http://schemas.microsoft.com/office/powerpoint/2010/main" val="4175341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DE854C-2FA3-4BD7-6533-E53F4711BE4E}"/>
              </a:ext>
            </a:extLst>
          </p:cNvPr>
          <p:cNvSpPr>
            <a:spLocks noGrp="1"/>
          </p:cNvSpPr>
          <p:nvPr>
            <p:ph type="dt" sz="half" idx="10"/>
          </p:nvPr>
        </p:nvSpPr>
        <p:spPr/>
        <p:txBody>
          <a:bodyPr/>
          <a:lstStyle/>
          <a:p>
            <a:fld id="{AD261933-BEC7-4747-84D4-6B98F8B68E77}" type="datetime1">
              <a:rPr lang="en-IN" smtClean="0"/>
              <a:t>03-06-2026</a:t>
            </a:fld>
            <a:endParaRPr lang="en-IN"/>
          </a:p>
        </p:txBody>
      </p:sp>
      <p:sp>
        <p:nvSpPr>
          <p:cNvPr id="3" name="Footer Placeholder 2">
            <a:extLst>
              <a:ext uri="{FF2B5EF4-FFF2-40B4-BE49-F238E27FC236}">
                <a16:creationId xmlns:a16="http://schemas.microsoft.com/office/drawing/2014/main" id="{974ECDE2-49E4-3878-C07A-89EA01C1C92E}"/>
              </a:ext>
            </a:extLst>
          </p:cNvPr>
          <p:cNvSpPr>
            <a:spLocks noGrp="1"/>
          </p:cNvSpPr>
          <p:nvPr>
            <p:ph type="ftr" sz="quarter" idx="11"/>
          </p:nvPr>
        </p:nvSpPr>
        <p:spPr/>
        <p:txBody>
          <a:bodyPr/>
          <a:lstStyle/>
          <a:p>
            <a:r>
              <a:rPr lang="en-US" dirty="0"/>
              <a:t>GEN AI 2025-26</a:t>
            </a:r>
            <a:endParaRPr lang="en-IN" dirty="0"/>
          </a:p>
        </p:txBody>
      </p:sp>
      <p:sp>
        <p:nvSpPr>
          <p:cNvPr id="4" name="Slide Number Placeholder 3">
            <a:extLst>
              <a:ext uri="{FF2B5EF4-FFF2-40B4-BE49-F238E27FC236}">
                <a16:creationId xmlns:a16="http://schemas.microsoft.com/office/drawing/2014/main" id="{67D131D2-4F22-8323-A5A5-A268F00C10A3}"/>
              </a:ext>
            </a:extLst>
          </p:cNvPr>
          <p:cNvSpPr>
            <a:spLocks noGrp="1"/>
          </p:cNvSpPr>
          <p:nvPr>
            <p:ph type="sldNum" sz="quarter" idx="12"/>
          </p:nvPr>
        </p:nvSpPr>
        <p:spPr/>
        <p:txBody>
          <a:bodyPr/>
          <a:lstStyle/>
          <a:p>
            <a:fld id="{E1F63AF3-6154-4736-9721-29BAE7C5A3DC}" type="slidenum">
              <a:rPr lang="en-IN" smtClean="0"/>
              <a:t>11</a:t>
            </a:fld>
            <a:endParaRPr lang="en-IN"/>
          </a:p>
        </p:txBody>
      </p:sp>
      <p:sp>
        <p:nvSpPr>
          <p:cNvPr id="5" name="Title 1">
            <a:extLst>
              <a:ext uri="{FF2B5EF4-FFF2-40B4-BE49-F238E27FC236}">
                <a16:creationId xmlns:a16="http://schemas.microsoft.com/office/drawing/2014/main" id="{680C3596-8B7D-B609-E8C2-B6A93D32FA6B}"/>
              </a:ext>
            </a:extLst>
          </p:cNvPr>
          <p:cNvSpPr txBox="1">
            <a:spLocks/>
          </p:cNvSpPr>
          <p:nvPr/>
        </p:nvSpPr>
        <p:spPr>
          <a:xfrm>
            <a:off x="2507225" y="1661652"/>
            <a:ext cx="5565059" cy="2153732"/>
          </a:xfrm>
          <a:prstGeom prst="rect">
            <a:avLst/>
          </a:prstGeom>
          <a:ln w="12700">
            <a:solidFill>
              <a:schemeClr val="accent3">
                <a:lumMod val="20000"/>
                <a:lumOff val="80000"/>
              </a:schemeClr>
            </a:solidFill>
          </a:ln>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7200" b="1" dirty="0">
                <a:latin typeface="Times New Roman" panose="02020603050405020304" pitchFamily="18" charset="0"/>
                <a:cs typeface="Times New Roman" panose="02020603050405020304" pitchFamily="18" charset="0"/>
              </a:rPr>
              <a:t>THANK YOU</a:t>
            </a:r>
          </a:p>
        </p:txBody>
      </p:sp>
      <p:sp>
        <p:nvSpPr>
          <p:cNvPr id="6" name="Title 1">
            <a:extLst>
              <a:ext uri="{FF2B5EF4-FFF2-40B4-BE49-F238E27FC236}">
                <a16:creationId xmlns:a16="http://schemas.microsoft.com/office/drawing/2014/main" id="{E5DFBF2D-421A-BB83-A7ED-5798A5A90691}"/>
              </a:ext>
            </a:extLst>
          </p:cNvPr>
          <p:cNvSpPr txBox="1">
            <a:spLocks/>
          </p:cNvSpPr>
          <p:nvPr/>
        </p:nvSpPr>
        <p:spPr>
          <a:xfrm>
            <a:off x="0" y="9832"/>
            <a:ext cx="1189703" cy="314632"/>
          </a:xfrm>
          <a:prstGeom prst="rect">
            <a:avLst/>
          </a:prstGeom>
          <a:ln w="12700">
            <a:solidFill>
              <a:schemeClr val="accent3">
                <a:lumMod val="20000"/>
                <a:lumOff val="80000"/>
              </a:schemeClr>
            </a:solidFill>
          </a:ln>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b="1" dirty="0">
                <a:latin typeface="Times New Roman" panose="02020603050405020304" pitchFamily="18" charset="0"/>
                <a:cs typeface="Times New Roman" panose="02020603050405020304" pitchFamily="18" charset="0"/>
              </a:rPr>
              <a:t>TEAM - 03</a:t>
            </a:r>
          </a:p>
        </p:txBody>
      </p:sp>
      <p:pic>
        <p:nvPicPr>
          <p:cNvPr id="7" name="Picture 6" descr="KLE Technological University in Hubballi">
            <a:extLst>
              <a:ext uri="{FF2B5EF4-FFF2-40B4-BE49-F238E27FC236}">
                <a16:creationId xmlns:a16="http://schemas.microsoft.com/office/drawing/2014/main" id="{1566DB7B-A63E-61F8-B5A6-97F452CC4E3B}"/>
              </a:ext>
            </a:extLst>
          </p:cNvPr>
          <p:cNvPicPr>
            <a:picLocks noChangeAspect="1"/>
          </p:cNvPicPr>
          <p:nvPr/>
        </p:nvPicPr>
        <p:blipFill rotWithShape="1">
          <a:blip r:embed="rId2">
            <a:extLst>
              <a:ext uri="{28A0092B-C50C-407E-A947-70E740481C1C}">
                <a14:useLocalDpi xmlns:a14="http://schemas.microsoft.com/office/drawing/2010/main" val="0"/>
              </a:ext>
            </a:extLst>
          </a:blip>
          <a:srcRect t="37713" b="37711"/>
          <a:stretch/>
        </p:blipFill>
        <p:spPr bwMode="auto">
          <a:xfrm>
            <a:off x="10550013" y="-9833"/>
            <a:ext cx="1641987" cy="38638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107325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TM03457485[[fn=Mesh]]</Template>
  <TotalTime>124</TotalTime>
  <Words>790</Words>
  <Application>Microsoft Office PowerPoint</Application>
  <PresentationFormat>Widescreen</PresentationFormat>
  <Paragraphs>145</Paragraphs>
  <Slides>11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Office Theme</vt:lpstr>
      <vt:lpstr>TEAM - 03</vt:lpstr>
      <vt:lpstr>TEAM - 03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suraj alagouda</dc:creator>
  <cp:lastModifiedBy>suraj alagouda</cp:lastModifiedBy>
  <cp:revision>5</cp:revision>
  <cp:lastPrinted>2025-10-05T01:37:59Z</cp:lastPrinted>
  <dcterms:created xsi:type="dcterms:W3CDTF">2025-09-24T17:57:30Z</dcterms:created>
  <dcterms:modified xsi:type="dcterms:W3CDTF">2026-06-03T17:51:17Z</dcterms:modified>
</cp:coreProperties>
</file>