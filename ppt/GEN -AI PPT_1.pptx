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8D4726-78EC-C1A0-E781-031AA06177C4}" v="42" dt="2026-06-03T17:50:11.6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D6D85A-2021-4D8C-A5AA-E7B804AF7C5A}" type="doc">
      <dgm:prSet loTypeId="urn:microsoft.com/office/officeart/2005/8/layout/chevron2" loCatId="process" qsTypeId="urn:microsoft.com/office/officeart/2005/8/quickstyle/simple1" qsCatId="simple" csTypeId="urn:microsoft.com/office/officeart/2005/8/colors/accent0_3" csCatId="mainScheme" phldr="1"/>
      <dgm:spPr/>
      <dgm:t>
        <a:bodyPr/>
        <a:lstStyle/>
        <a:p>
          <a:endParaRPr lang="en-US"/>
        </a:p>
      </dgm:t>
    </dgm:pt>
    <dgm:pt modelId="{E6C5B94D-71D9-4152-A1BC-FD574F688CB8}">
      <dgm:prSet phldrT="[Text]" phldr="0" custT="1"/>
      <dgm:spPr/>
      <dgm:t>
        <a:bodyPr/>
        <a:lstStyle/>
        <a:p>
          <a:pPr rtl="0"/>
          <a:r>
            <a:rPr lang="en-US" sz="2000">
              <a:latin typeface="Times New Roman"/>
              <a:cs typeface="Times New Roman"/>
            </a:rPr>
            <a:t>1.</a:t>
          </a:r>
          <a:endParaRPr lang="en-US" sz="2000" b="0">
            <a:latin typeface="Times New Roman"/>
            <a:cs typeface="Times New Roman"/>
          </a:endParaRPr>
        </a:p>
      </dgm:t>
    </dgm:pt>
    <dgm:pt modelId="{00290AE3-27E1-48BF-9EED-4E19177B7266}" type="parTrans" cxnId="{6DCA6E60-B993-4417-850E-F8744454E9AC}">
      <dgm:prSet/>
      <dgm:spPr/>
      <dgm:t>
        <a:bodyPr/>
        <a:lstStyle/>
        <a:p>
          <a:endParaRPr lang="en-US"/>
        </a:p>
      </dgm:t>
    </dgm:pt>
    <dgm:pt modelId="{60A88CCB-97D1-48B6-9B62-3FBEB71EFC35}" type="sibTrans" cxnId="{6DCA6E60-B993-4417-850E-F8744454E9AC}">
      <dgm:prSet/>
      <dgm:spPr/>
      <dgm:t>
        <a:bodyPr/>
        <a:lstStyle/>
        <a:p>
          <a:endParaRPr lang="en-US"/>
        </a:p>
      </dgm:t>
    </dgm:pt>
    <dgm:pt modelId="{B8E3268D-92E9-4740-A500-2DDC1D6603AC}">
      <dgm:prSet phldrT="[Text]" phldr="0" custT="1"/>
      <dgm:spPr/>
      <dgm:t>
        <a:bodyPr/>
        <a:lstStyle/>
        <a:p>
          <a:r>
            <a:rPr lang="en-US" sz="2000">
              <a:latin typeface="Times New Roman"/>
              <a:cs typeface="Times New Roman"/>
            </a:rPr>
            <a:t>3.</a:t>
          </a:r>
        </a:p>
      </dgm:t>
    </dgm:pt>
    <dgm:pt modelId="{9BFC90F5-8259-4167-857B-39899948C0F3}" type="parTrans" cxnId="{A1EE6E17-3BC6-4F10-B67D-C1116EF7887F}">
      <dgm:prSet/>
      <dgm:spPr/>
      <dgm:t>
        <a:bodyPr/>
        <a:lstStyle/>
        <a:p>
          <a:endParaRPr lang="en-US"/>
        </a:p>
      </dgm:t>
    </dgm:pt>
    <dgm:pt modelId="{E809E651-1FB9-4115-B78F-DA9794301F89}" type="sibTrans" cxnId="{A1EE6E17-3BC6-4F10-B67D-C1116EF7887F}">
      <dgm:prSet/>
      <dgm:spPr/>
      <dgm:t>
        <a:bodyPr/>
        <a:lstStyle/>
        <a:p>
          <a:endParaRPr lang="en-US"/>
        </a:p>
      </dgm:t>
    </dgm:pt>
    <dgm:pt modelId="{B182C4BA-63C4-404C-BED1-8248C397347D}">
      <dgm:prSet phldrT="[Text]" phldr="0" custT="1"/>
      <dgm:spPr/>
      <dgm:t>
        <a:bodyPr/>
        <a:lstStyle/>
        <a:p>
          <a:pPr rtl="0"/>
          <a:r>
            <a:rPr lang="en-US" sz="2000">
              <a:latin typeface="Times New Roman"/>
              <a:cs typeface="Times New Roman"/>
            </a:rPr>
            <a:t> </a:t>
          </a:r>
          <a:r>
            <a:rPr lang="en-US" sz="2000" b="0" i="0">
              <a:latin typeface="Times New Roman" panose="02020603050405020304" pitchFamily="18" charset="0"/>
              <a:cs typeface="Times New Roman" panose="02020603050405020304" pitchFamily="18" charset="0"/>
            </a:rPr>
            <a:t>To improve the visual quality of reconstructed images by maintaining texture, structure, and background consistency so that the edited region looks natural.</a:t>
          </a:r>
          <a:endParaRPr lang="en-US" sz="2000" b="0">
            <a:latin typeface="Times New Roman" panose="02020603050405020304" pitchFamily="18" charset="0"/>
            <a:cs typeface="Times New Roman" panose="02020603050405020304" pitchFamily="18" charset="0"/>
          </a:endParaRPr>
        </a:p>
      </dgm:t>
    </dgm:pt>
    <dgm:pt modelId="{A3F9E415-FACC-43B0-87CB-1D8F65BF9E5C}" type="parTrans" cxnId="{C3434E1B-FA12-47F0-B4EA-33EEFCAE4FFD}">
      <dgm:prSet/>
      <dgm:spPr/>
      <dgm:t>
        <a:bodyPr/>
        <a:lstStyle/>
        <a:p>
          <a:endParaRPr lang="en-US"/>
        </a:p>
      </dgm:t>
    </dgm:pt>
    <dgm:pt modelId="{F00D8169-2605-4091-A704-4FAD646D803F}" type="sibTrans" cxnId="{C3434E1B-FA12-47F0-B4EA-33EEFCAE4FFD}">
      <dgm:prSet/>
      <dgm:spPr/>
      <dgm:t>
        <a:bodyPr/>
        <a:lstStyle/>
        <a:p>
          <a:endParaRPr lang="en-US"/>
        </a:p>
      </dgm:t>
    </dgm:pt>
    <dgm:pt modelId="{5A654553-ADDA-49C3-BC5D-07C658E0E719}">
      <dgm:prSet phldr="0"/>
      <dgm:spPr/>
      <dgm:t>
        <a:bodyPr/>
        <a:lstStyle/>
        <a:p>
          <a:r>
            <a:rPr lang="en-US" sz="2000">
              <a:latin typeface="Times New Roman"/>
              <a:cs typeface="Times New Roman"/>
            </a:rPr>
            <a:t>2.</a:t>
          </a:r>
          <a:endParaRPr lang="en-US"/>
        </a:p>
      </dgm:t>
    </dgm:pt>
    <dgm:pt modelId="{5F1C8A7F-86AC-45C6-87BE-9EFFBF36525F}" type="parTrans" cxnId="{A83C8E47-32D6-4E92-95D9-C783295DF92D}">
      <dgm:prSet/>
      <dgm:spPr/>
      <dgm:t>
        <a:bodyPr/>
        <a:lstStyle/>
        <a:p>
          <a:endParaRPr lang="en-US"/>
        </a:p>
      </dgm:t>
    </dgm:pt>
    <dgm:pt modelId="{0D11AE21-5632-4B82-B527-8B889A3ABE4C}" type="sibTrans" cxnId="{A83C8E47-32D6-4E92-95D9-C783295DF92D}">
      <dgm:prSet/>
      <dgm:spPr/>
      <dgm:t>
        <a:bodyPr/>
        <a:lstStyle/>
        <a:p>
          <a:endParaRPr lang="en-US"/>
        </a:p>
      </dgm:t>
    </dgm:pt>
    <dgm:pt modelId="{BF1D9E23-E868-4A02-A09A-F0CB2B58A826}">
      <dgm:prSet phldr="0"/>
      <dgm:spPr/>
      <dgm:t>
        <a:bodyPr/>
        <a:lstStyle/>
        <a:p>
          <a:pPr rtl="0"/>
          <a:r>
            <a:rPr lang="en-US" sz="2000" b="0">
              <a:latin typeface="Times New Roman" panose="02020603050405020304" pitchFamily="18" charset="0"/>
              <a:ea typeface="Calibri"/>
              <a:cs typeface="Times New Roman" panose="02020603050405020304" pitchFamily="18" charset="0"/>
            </a:rPr>
            <a:t>To </a:t>
          </a:r>
          <a:r>
            <a:rPr lang="en-US" sz="2000" b="0" i="0">
              <a:latin typeface="Times New Roman" panose="02020603050405020304" pitchFamily="18" charset="0"/>
              <a:cs typeface="Times New Roman" panose="02020603050405020304" pitchFamily="18" charset="0"/>
            </a:rPr>
            <a:t>develop an image inpainting system capable of removing unwanted objects from an image and reconstructing the missing background naturally using surrounding visual information.</a:t>
          </a:r>
          <a:endParaRPr lang="en-US" sz="1800" b="0">
            <a:latin typeface="Times New Roman" panose="02020603050405020304" pitchFamily="18" charset="0"/>
            <a:ea typeface="Calibri"/>
            <a:cs typeface="Times New Roman" panose="02020603050405020304" pitchFamily="18" charset="0"/>
          </a:endParaRPr>
        </a:p>
      </dgm:t>
    </dgm:pt>
    <dgm:pt modelId="{D4C4252F-2AD4-45E4-A908-8414E839F146}" type="parTrans" cxnId="{1A025DAD-DD19-4734-8293-0754C0CBCD09}">
      <dgm:prSet/>
      <dgm:spPr/>
      <dgm:t>
        <a:bodyPr/>
        <a:lstStyle/>
        <a:p>
          <a:endParaRPr lang="en-US"/>
        </a:p>
      </dgm:t>
    </dgm:pt>
    <dgm:pt modelId="{2DA3C4FB-1CEE-4078-9BC9-01A3F8AE5D11}" type="sibTrans" cxnId="{1A025DAD-DD19-4734-8293-0754C0CBCD09}">
      <dgm:prSet/>
      <dgm:spPr/>
      <dgm:t>
        <a:bodyPr/>
        <a:lstStyle/>
        <a:p>
          <a:endParaRPr lang="en-US"/>
        </a:p>
      </dgm:t>
    </dgm:pt>
    <dgm:pt modelId="{50B980E7-518E-4DED-AE6E-539B0FD499D4}">
      <dgm:prSet phldrT="[Text]" phldr="0" custT="1"/>
      <dgm:spPr/>
      <dgm:t>
        <a:bodyPr/>
        <a:lstStyle/>
        <a:p>
          <a:pPr rtl="0"/>
          <a:r>
            <a:rPr lang="en-US" sz="2000" b="0">
              <a:latin typeface="Times New Roman" panose="02020603050405020304" pitchFamily="18" charset="0"/>
              <a:cs typeface="Times New Roman" panose="02020603050405020304" pitchFamily="18" charset="0"/>
            </a:rPr>
            <a:t>To </a:t>
          </a:r>
          <a:r>
            <a:rPr lang="en-US" sz="2000" b="0" i="0">
              <a:latin typeface="Times New Roman" panose="02020603050405020304" pitchFamily="18" charset="0"/>
              <a:cs typeface="Times New Roman" panose="02020603050405020304" pitchFamily="18" charset="0"/>
            </a:rPr>
            <a:t> use pre-trained models for generating realistic and contextually accurate content in the masked regions without training the model from scratch.</a:t>
          </a:r>
          <a:endParaRPr lang="en-US" sz="2400" b="0">
            <a:latin typeface="Times New Roman" panose="02020603050405020304" pitchFamily="18" charset="0"/>
            <a:cs typeface="Times New Roman" panose="02020603050405020304" pitchFamily="18" charset="0"/>
          </a:endParaRPr>
        </a:p>
      </dgm:t>
    </dgm:pt>
    <dgm:pt modelId="{AA974549-E9A2-4901-84F8-5BC0B19771F4}" type="parTrans" cxnId="{9CCA0E47-7E0A-432C-A4E2-C5A682F4F701}">
      <dgm:prSet/>
      <dgm:spPr/>
      <dgm:t>
        <a:bodyPr/>
        <a:lstStyle/>
        <a:p>
          <a:endParaRPr lang="en-US"/>
        </a:p>
      </dgm:t>
    </dgm:pt>
    <dgm:pt modelId="{2BC6E8C8-D5CB-4A67-B305-EC8DB30990FD}" type="sibTrans" cxnId="{9CCA0E47-7E0A-432C-A4E2-C5A682F4F701}">
      <dgm:prSet/>
      <dgm:spPr/>
      <dgm:t>
        <a:bodyPr/>
        <a:lstStyle/>
        <a:p>
          <a:endParaRPr lang="en-US"/>
        </a:p>
      </dgm:t>
    </dgm:pt>
    <dgm:pt modelId="{F8829E42-CF5A-4ABB-B6D9-2A883F4D55F8}" type="pres">
      <dgm:prSet presAssocID="{A1D6D85A-2021-4D8C-A5AA-E7B804AF7C5A}" presName="linearFlow" presStyleCnt="0">
        <dgm:presLayoutVars>
          <dgm:dir/>
          <dgm:animLvl val="lvl"/>
          <dgm:resizeHandles val="exact"/>
        </dgm:presLayoutVars>
      </dgm:prSet>
      <dgm:spPr/>
    </dgm:pt>
    <dgm:pt modelId="{F0C43979-AB38-4347-BC1B-DF890985BA20}" type="pres">
      <dgm:prSet presAssocID="{E6C5B94D-71D9-4152-A1BC-FD574F688CB8}" presName="composite" presStyleCnt="0"/>
      <dgm:spPr/>
    </dgm:pt>
    <dgm:pt modelId="{B30F38D9-9D92-44CD-841D-1142D6F60EC9}" type="pres">
      <dgm:prSet presAssocID="{E6C5B94D-71D9-4152-A1BC-FD574F688CB8}" presName="parentText" presStyleLbl="alignNode1" presStyleIdx="0" presStyleCnt="3">
        <dgm:presLayoutVars>
          <dgm:chMax val="1"/>
          <dgm:bulletEnabled val="1"/>
        </dgm:presLayoutVars>
      </dgm:prSet>
      <dgm:spPr/>
    </dgm:pt>
    <dgm:pt modelId="{F1A61698-FDCB-4D37-AABC-C9A90AEF33FE}" type="pres">
      <dgm:prSet presAssocID="{E6C5B94D-71D9-4152-A1BC-FD574F688CB8}" presName="descendantText" presStyleLbl="alignAcc1" presStyleIdx="0" presStyleCnt="3">
        <dgm:presLayoutVars>
          <dgm:bulletEnabled val="1"/>
        </dgm:presLayoutVars>
      </dgm:prSet>
      <dgm:spPr/>
    </dgm:pt>
    <dgm:pt modelId="{574A3293-CC6E-494E-BA52-D9F2BF00FE65}" type="pres">
      <dgm:prSet presAssocID="{60A88CCB-97D1-48B6-9B62-3FBEB71EFC35}" presName="sp" presStyleCnt="0"/>
      <dgm:spPr/>
    </dgm:pt>
    <dgm:pt modelId="{42613488-02A5-42D3-A0A6-A19A3ADDA059}" type="pres">
      <dgm:prSet presAssocID="{5A654553-ADDA-49C3-BC5D-07C658E0E719}" presName="composite" presStyleCnt="0"/>
      <dgm:spPr/>
    </dgm:pt>
    <dgm:pt modelId="{34B2C450-C3AC-4D9B-A2B4-4180956F8C5B}" type="pres">
      <dgm:prSet presAssocID="{5A654553-ADDA-49C3-BC5D-07C658E0E719}" presName="parentText" presStyleLbl="alignNode1" presStyleIdx="1" presStyleCnt="3">
        <dgm:presLayoutVars>
          <dgm:chMax val="1"/>
          <dgm:bulletEnabled val="1"/>
        </dgm:presLayoutVars>
      </dgm:prSet>
      <dgm:spPr/>
    </dgm:pt>
    <dgm:pt modelId="{6730C642-599F-4FFA-A0EC-E3900A85D650}" type="pres">
      <dgm:prSet presAssocID="{5A654553-ADDA-49C3-BC5D-07C658E0E719}" presName="descendantText" presStyleLbl="alignAcc1" presStyleIdx="1" presStyleCnt="3">
        <dgm:presLayoutVars>
          <dgm:bulletEnabled val="1"/>
        </dgm:presLayoutVars>
      </dgm:prSet>
      <dgm:spPr/>
    </dgm:pt>
    <dgm:pt modelId="{D4182B79-D8CC-4D94-B1BF-66795BA27280}" type="pres">
      <dgm:prSet presAssocID="{0D11AE21-5632-4B82-B527-8B889A3ABE4C}" presName="sp" presStyleCnt="0"/>
      <dgm:spPr/>
    </dgm:pt>
    <dgm:pt modelId="{69D950DF-3B0F-4053-9192-96D80BA62138}" type="pres">
      <dgm:prSet presAssocID="{B8E3268D-92E9-4740-A500-2DDC1D6603AC}" presName="composite" presStyleCnt="0"/>
      <dgm:spPr/>
    </dgm:pt>
    <dgm:pt modelId="{2AAD2069-D2C9-4006-8AC5-99AA606F0E74}" type="pres">
      <dgm:prSet presAssocID="{B8E3268D-92E9-4740-A500-2DDC1D6603AC}" presName="parentText" presStyleLbl="alignNode1" presStyleIdx="2" presStyleCnt="3">
        <dgm:presLayoutVars>
          <dgm:chMax val="1"/>
          <dgm:bulletEnabled val="1"/>
        </dgm:presLayoutVars>
      </dgm:prSet>
      <dgm:spPr/>
    </dgm:pt>
    <dgm:pt modelId="{49406972-6D37-43C2-B41F-C23508D916A3}" type="pres">
      <dgm:prSet presAssocID="{B8E3268D-92E9-4740-A500-2DDC1D6603AC}" presName="descendantText" presStyleLbl="alignAcc1" presStyleIdx="2" presStyleCnt="3">
        <dgm:presLayoutVars>
          <dgm:bulletEnabled val="1"/>
        </dgm:presLayoutVars>
      </dgm:prSet>
      <dgm:spPr/>
    </dgm:pt>
  </dgm:ptLst>
  <dgm:cxnLst>
    <dgm:cxn modelId="{A1EE6E17-3BC6-4F10-B67D-C1116EF7887F}" srcId="{A1D6D85A-2021-4D8C-A5AA-E7B804AF7C5A}" destId="{B8E3268D-92E9-4740-A500-2DDC1D6603AC}" srcOrd="2" destOrd="0" parTransId="{9BFC90F5-8259-4167-857B-39899948C0F3}" sibTransId="{E809E651-1FB9-4115-B78F-DA9794301F89}"/>
    <dgm:cxn modelId="{51E1961A-61D0-4BA3-BBD1-33DDF5FCF183}" type="presOf" srcId="{B8E3268D-92E9-4740-A500-2DDC1D6603AC}" destId="{2AAD2069-D2C9-4006-8AC5-99AA606F0E74}" srcOrd="0" destOrd="0" presId="urn:microsoft.com/office/officeart/2005/8/layout/chevron2"/>
    <dgm:cxn modelId="{C3434E1B-FA12-47F0-B4EA-33EEFCAE4FFD}" srcId="{B8E3268D-92E9-4740-A500-2DDC1D6603AC}" destId="{B182C4BA-63C4-404C-BED1-8248C397347D}" srcOrd="0" destOrd="0" parTransId="{A3F9E415-FACC-43B0-87CB-1D8F65BF9E5C}" sibTransId="{F00D8169-2605-4091-A704-4FAD646D803F}"/>
    <dgm:cxn modelId="{6DCA6E60-B993-4417-850E-F8744454E9AC}" srcId="{A1D6D85A-2021-4D8C-A5AA-E7B804AF7C5A}" destId="{E6C5B94D-71D9-4152-A1BC-FD574F688CB8}" srcOrd="0" destOrd="0" parTransId="{00290AE3-27E1-48BF-9EED-4E19177B7266}" sibTransId="{60A88CCB-97D1-48B6-9B62-3FBEB71EFC35}"/>
    <dgm:cxn modelId="{9CCA0E47-7E0A-432C-A4E2-C5A682F4F701}" srcId="{5A654553-ADDA-49C3-BC5D-07C658E0E719}" destId="{50B980E7-518E-4DED-AE6E-539B0FD499D4}" srcOrd="0" destOrd="0" parTransId="{AA974549-E9A2-4901-84F8-5BC0B19771F4}" sibTransId="{2BC6E8C8-D5CB-4A67-B305-EC8DB30990FD}"/>
    <dgm:cxn modelId="{A83C8E47-32D6-4E92-95D9-C783295DF92D}" srcId="{A1D6D85A-2021-4D8C-A5AA-E7B804AF7C5A}" destId="{5A654553-ADDA-49C3-BC5D-07C658E0E719}" srcOrd="1" destOrd="0" parTransId="{5F1C8A7F-86AC-45C6-87BE-9EFFBF36525F}" sibTransId="{0D11AE21-5632-4B82-B527-8B889A3ABE4C}"/>
    <dgm:cxn modelId="{4AA1097D-8557-4236-9BA9-6326BEBE39B9}" type="presOf" srcId="{5A654553-ADDA-49C3-BC5D-07C658E0E719}" destId="{34B2C450-C3AC-4D9B-A2B4-4180956F8C5B}" srcOrd="0" destOrd="0" presId="urn:microsoft.com/office/officeart/2005/8/layout/chevron2"/>
    <dgm:cxn modelId="{D097D994-7171-4EE8-8B0D-B748DFB3E15E}" type="presOf" srcId="{50B980E7-518E-4DED-AE6E-539B0FD499D4}" destId="{6730C642-599F-4FFA-A0EC-E3900A85D650}" srcOrd="0" destOrd="0" presId="urn:microsoft.com/office/officeart/2005/8/layout/chevron2"/>
    <dgm:cxn modelId="{6C6424A3-0D74-4D4F-B3FF-EE49013D2797}" type="presOf" srcId="{B182C4BA-63C4-404C-BED1-8248C397347D}" destId="{49406972-6D37-43C2-B41F-C23508D916A3}" srcOrd="0" destOrd="0" presId="urn:microsoft.com/office/officeart/2005/8/layout/chevron2"/>
    <dgm:cxn modelId="{1A025DAD-DD19-4734-8293-0754C0CBCD09}" srcId="{E6C5B94D-71D9-4152-A1BC-FD574F688CB8}" destId="{BF1D9E23-E868-4A02-A09A-F0CB2B58A826}" srcOrd="0" destOrd="0" parTransId="{D4C4252F-2AD4-45E4-A908-8414E839F146}" sibTransId="{2DA3C4FB-1CEE-4078-9BC9-01A3F8AE5D11}"/>
    <dgm:cxn modelId="{181D59B4-D712-4E5A-BC24-99565B12F81F}" type="presOf" srcId="{E6C5B94D-71D9-4152-A1BC-FD574F688CB8}" destId="{B30F38D9-9D92-44CD-841D-1142D6F60EC9}" srcOrd="0" destOrd="0" presId="urn:microsoft.com/office/officeart/2005/8/layout/chevron2"/>
    <dgm:cxn modelId="{0DFBB8FC-D5AC-4BE4-8552-3D3FC712F8F4}" type="presOf" srcId="{BF1D9E23-E868-4A02-A09A-F0CB2B58A826}" destId="{F1A61698-FDCB-4D37-AABC-C9A90AEF33FE}" srcOrd="0" destOrd="0" presId="urn:microsoft.com/office/officeart/2005/8/layout/chevron2"/>
    <dgm:cxn modelId="{615DE0FC-41DD-45AF-9241-6BD1C5FDE39C}" type="presOf" srcId="{A1D6D85A-2021-4D8C-A5AA-E7B804AF7C5A}" destId="{F8829E42-CF5A-4ABB-B6D9-2A883F4D55F8}" srcOrd="0" destOrd="0" presId="urn:microsoft.com/office/officeart/2005/8/layout/chevron2"/>
    <dgm:cxn modelId="{824E4BF1-7C97-4FE0-81A4-A26AD750BF2E}" type="presParOf" srcId="{F8829E42-CF5A-4ABB-B6D9-2A883F4D55F8}" destId="{F0C43979-AB38-4347-BC1B-DF890985BA20}" srcOrd="0" destOrd="0" presId="urn:microsoft.com/office/officeart/2005/8/layout/chevron2"/>
    <dgm:cxn modelId="{5DD0EA2C-09E3-442B-A528-D3493E69AA67}" type="presParOf" srcId="{F0C43979-AB38-4347-BC1B-DF890985BA20}" destId="{B30F38D9-9D92-44CD-841D-1142D6F60EC9}" srcOrd="0" destOrd="0" presId="urn:microsoft.com/office/officeart/2005/8/layout/chevron2"/>
    <dgm:cxn modelId="{A76A2DFF-57C2-4B58-B94A-897A25B9F5DA}" type="presParOf" srcId="{F0C43979-AB38-4347-BC1B-DF890985BA20}" destId="{F1A61698-FDCB-4D37-AABC-C9A90AEF33FE}" srcOrd="1" destOrd="0" presId="urn:microsoft.com/office/officeart/2005/8/layout/chevron2"/>
    <dgm:cxn modelId="{71CB9851-9B84-441E-ABAB-A2605D4CD9BA}" type="presParOf" srcId="{F8829E42-CF5A-4ABB-B6D9-2A883F4D55F8}" destId="{574A3293-CC6E-494E-BA52-D9F2BF00FE65}" srcOrd="1" destOrd="0" presId="urn:microsoft.com/office/officeart/2005/8/layout/chevron2"/>
    <dgm:cxn modelId="{8595BA79-193B-4040-B417-35AF5F722E1D}" type="presParOf" srcId="{F8829E42-CF5A-4ABB-B6D9-2A883F4D55F8}" destId="{42613488-02A5-42D3-A0A6-A19A3ADDA059}" srcOrd="2" destOrd="0" presId="urn:microsoft.com/office/officeart/2005/8/layout/chevron2"/>
    <dgm:cxn modelId="{9D0828A0-5A89-4C58-84F3-9AE10E123FC0}" type="presParOf" srcId="{42613488-02A5-42D3-A0A6-A19A3ADDA059}" destId="{34B2C450-C3AC-4D9B-A2B4-4180956F8C5B}" srcOrd="0" destOrd="0" presId="urn:microsoft.com/office/officeart/2005/8/layout/chevron2"/>
    <dgm:cxn modelId="{F77600C8-F7DE-4A01-975D-30859F14A9F1}" type="presParOf" srcId="{42613488-02A5-42D3-A0A6-A19A3ADDA059}" destId="{6730C642-599F-4FFA-A0EC-E3900A85D650}" srcOrd="1" destOrd="0" presId="urn:microsoft.com/office/officeart/2005/8/layout/chevron2"/>
    <dgm:cxn modelId="{305C2368-4273-4EEF-B548-8E2E42A9FEC7}" type="presParOf" srcId="{F8829E42-CF5A-4ABB-B6D9-2A883F4D55F8}" destId="{D4182B79-D8CC-4D94-B1BF-66795BA27280}" srcOrd="3" destOrd="0" presId="urn:microsoft.com/office/officeart/2005/8/layout/chevron2"/>
    <dgm:cxn modelId="{AF497C26-C13A-457F-B5F9-D1245BD06C5D}" type="presParOf" srcId="{F8829E42-CF5A-4ABB-B6D9-2A883F4D55F8}" destId="{69D950DF-3B0F-4053-9192-96D80BA62138}" srcOrd="4" destOrd="0" presId="urn:microsoft.com/office/officeart/2005/8/layout/chevron2"/>
    <dgm:cxn modelId="{E1E0C03B-8E6B-4CFA-BE47-6BB0764FF93A}" type="presParOf" srcId="{69D950DF-3B0F-4053-9192-96D80BA62138}" destId="{2AAD2069-D2C9-4006-8AC5-99AA606F0E74}" srcOrd="0" destOrd="0" presId="urn:microsoft.com/office/officeart/2005/8/layout/chevron2"/>
    <dgm:cxn modelId="{9B6A17FD-AA0D-48DD-9E61-42A7F96BE342}" type="presParOf" srcId="{69D950DF-3B0F-4053-9192-96D80BA62138}" destId="{49406972-6D37-43C2-B41F-C23508D916A3}"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0F38D9-9D92-44CD-841D-1142D6F60EC9}">
      <dsp:nvSpPr>
        <dsp:cNvPr id="0" name=""/>
        <dsp:cNvSpPr/>
      </dsp:nvSpPr>
      <dsp:spPr>
        <a:xfrm rot="5400000">
          <a:off x="-189590" y="191514"/>
          <a:ext cx="1263935" cy="884754"/>
        </a:xfrm>
        <a:prstGeom prst="chevron">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Times New Roman"/>
              <a:cs typeface="Times New Roman"/>
            </a:rPr>
            <a:t>1.</a:t>
          </a:r>
          <a:endParaRPr lang="en-US" sz="2000" b="0" kern="1200">
            <a:latin typeface="Times New Roman"/>
            <a:cs typeface="Times New Roman"/>
          </a:endParaRPr>
        </a:p>
      </dsp:txBody>
      <dsp:txXfrm rot="-5400000">
        <a:off x="1" y="444300"/>
        <a:ext cx="884754" cy="379181"/>
      </dsp:txXfrm>
    </dsp:sp>
    <dsp:sp modelId="{F1A61698-FDCB-4D37-AABC-C9A90AEF33FE}">
      <dsp:nvSpPr>
        <dsp:cNvPr id="0" name=""/>
        <dsp:cNvSpPr/>
      </dsp:nvSpPr>
      <dsp:spPr>
        <a:xfrm rot="5400000">
          <a:off x="5589299" y="-4702620"/>
          <a:ext cx="821558" cy="10230648"/>
        </a:xfrm>
        <a:prstGeom prst="round2Same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rtl="0">
            <a:lnSpc>
              <a:spcPct val="90000"/>
            </a:lnSpc>
            <a:spcBef>
              <a:spcPct val="0"/>
            </a:spcBef>
            <a:spcAft>
              <a:spcPct val="15000"/>
            </a:spcAft>
            <a:buChar char="•"/>
          </a:pPr>
          <a:r>
            <a:rPr lang="en-US" sz="2000" b="0" kern="1200">
              <a:latin typeface="Times New Roman" panose="02020603050405020304" pitchFamily="18" charset="0"/>
              <a:ea typeface="Calibri"/>
              <a:cs typeface="Times New Roman" panose="02020603050405020304" pitchFamily="18" charset="0"/>
            </a:rPr>
            <a:t>To </a:t>
          </a:r>
          <a:r>
            <a:rPr lang="en-US" sz="2000" b="0" i="0" kern="1200">
              <a:latin typeface="Times New Roman" panose="02020603050405020304" pitchFamily="18" charset="0"/>
              <a:cs typeface="Times New Roman" panose="02020603050405020304" pitchFamily="18" charset="0"/>
            </a:rPr>
            <a:t>develop an image inpainting system capable of removing unwanted objects from an image and reconstructing the missing background naturally using surrounding visual information.</a:t>
          </a:r>
          <a:endParaRPr lang="en-US" sz="2000" b="0" kern="1200">
            <a:latin typeface="Times New Roman" panose="02020603050405020304" pitchFamily="18" charset="0"/>
            <a:ea typeface="Calibri"/>
            <a:cs typeface="Times New Roman" panose="02020603050405020304" pitchFamily="18" charset="0"/>
          </a:endParaRPr>
        </a:p>
      </dsp:txBody>
      <dsp:txXfrm rot="-5400000">
        <a:off x="884755" y="42029"/>
        <a:ext cx="10190543" cy="741348"/>
      </dsp:txXfrm>
    </dsp:sp>
    <dsp:sp modelId="{34B2C450-C3AC-4D9B-A2B4-4180956F8C5B}">
      <dsp:nvSpPr>
        <dsp:cNvPr id="0" name=""/>
        <dsp:cNvSpPr/>
      </dsp:nvSpPr>
      <dsp:spPr>
        <a:xfrm rot="5400000">
          <a:off x="-189590" y="1256139"/>
          <a:ext cx="1263935" cy="884754"/>
        </a:xfrm>
        <a:prstGeom prst="chevron">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a:cs typeface="Times New Roman"/>
            </a:rPr>
            <a:t>2.</a:t>
          </a:r>
          <a:endParaRPr lang="en-US" sz="2400" kern="1200"/>
        </a:p>
      </dsp:txBody>
      <dsp:txXfrm rot="-5400000">
        <a:off x="1" y="1508925"/>
        <a:ext cx="884754" cy="379181"/>
      </dsp:txXfrm>
    </dsp:sp>
    <dsp:sp modelId="{6730C642-599F-4FFA-A0EC-E3900A85D650}">
      <dsp:nvSpPr>
        <dsp:cNvPr id="0" name=""/>
        <dsp:cNvSpPr/>
      </dsp:nvSpPr>
      <dsp:spPr>
        <a:xfrm rot="5400000">
          <a:off x="5589299" y="-3637995"/>
          <a:ext cx="821558" cy="10230648"/>
        </a:xfrm>
        <a:prstGeom prst="round2Same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rtl="0">
            <a:lnSpc>
              <a:spcPct val="90000"/>
            </a:lnSpc>
            <a:spcBef>
              <a:spcPct val="0"/>
            </a:spcBef>
            <a:spcAft>
              <a:spcPct val="15000"/>
            </a:spcAft>
            <a:buChar char="•"/>
          </a:pPr>
          <a:r>
            <a:rPr lang="en-US" sz="2000" b="0" kern="1200">
              <a:latin typeface="Times New Roman" panose="02020603050405020304" pitchFamily="18" charset="0"/>
              <a:cs typeface="Times New Roman" panose="02020603050405020304" pitchFamily="18" charset="0"/>
            </a:rPr>
            <a:t>To </a:t>
          </a:r>
          <a:r>
            <a:rPr lang="en-US" sz="2000" b="0" i="0" kern="1200">
              <a:latin typeface="Times New Roman" panose="02020603050405020304" pitchFamily="18" charset="0"/>
              <a:cs typeface="Times New Roman" panose="02020603050405020304" pitchFamily="18" charset="0"/>
            </a:rPr>
            <a:t> use pre-trained models for generating realistic and contextually accurate content in the masked regions without training the model from scratch.</a:t>
          </a:r>
          <a:endParaRPr lang="en-US" sz="2400" b="0" kern="1200">
            <a:latin typeface="Times New Roman" panose="02020603050405020304" pitchFamily="18" charset="0"/>
            <a:cs typeface="Times New Roman" panose="02020603050405020304" pitchFamily="18" charset="0"/>
          </a:endParaRPr>
        </a:p>
      </dsp:txBody>
      <dsp:txXfrm rot="-5400000">
        <a:off x="884755" y="1106654"/>
        <a:ext cx="10190543" cy="741348"/>
      </dsp:txXfrm>
    </dsp:sp>
    <dsp:sp modelId="{2AAD2069-D2C9-4006-8AC5-99AA606F0E74}">
      <dsp:nvSpPr>
        <dsp:cNvPr id="0" name=""/>
        <dsp:cNvSpPr/>
      </dsp:nvSpPr>
      <dsp:spPr>
        <a:xfrm rot="5400000">
          <a:off x="-189590" y="2320764"/>
          <a:ext cx="1263935" cy="884754"/>
        </a:xfrm>
        <a:prstGeom prst="chevron">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latin typeface="Times New Roman"/>
              <a:cs typeface="Times New Roman"/>
            </a:rPr>
            <a:t>3.</a:t>
          </a:r>
        </a:p>
      </dsp:txBody>
      <dsp:txXfrm rot="-5400000">
        <a:off x="1" y="2573550"/>
        <a:ext cx="884754" cy="379181"/>
      </dsp:txXfrm>
    </dsp:sp>
    <dsp:sp modelId="{49406972-6D37-43C2-B41F-C23508D916A3}">
      <dsp:nvSpPr>
        <dsp:cNvPr id="0" name=""/>
        <dsp:cNvSpPr/>
      </dsp:nvSpPr>
      <dsp:spPr>
        <a:xfrm rot="5400000">
          <a:off x="5589299" y="-2573370"/>
          <a:ext cx="821558" cy="10230648"/>
        </a:xfrm>
        <a:prstGeom prst="round2Same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rtl="0">
            <a:lnSpc>
              <a:spcPct val="90000"/>
            </a:lnSpc>
            <a:spcBef>
              <a:spcPct val="0"/>
            </a:spcBef>
            <a:spcAft>
              <a:spcPct val="15000"/>
            </a:spcAft>
            <a:buChar char="•"/>
          </a:pPr>
          <a:r>
            <a:rPr lang="en-US" sz="2000" kern="1200">
              <a:latin typeface="Times New Roman"/>
              <a:cs typeface="Times New Roman"/>
            </a:rPr>
            <a:t> </a:t>
          </a:r>
          <a:r>
            <a:rPr lang="en-US" sz="2000" b="0" i="0" kern="1200">
              <a:latin typeface="Times New Roman" panose="02020603050405020304" pitchFamily="18" charset="0"/>
              <a:cs typeface="Times New Roman" panose="02020603050405020304" pitchFamily="18" charset="0"/>
            </a:rPr>
            <a:t>To improve the visual quality of reconstructed images by maintaining texture, structure, and background consistency so that the edited region looks natural.</a:t>
          </a:r>
          <a:endParaRPr lang="en-US" sz="2000" b="0" kern="1200">
            <a:latin typeface="Times New Roman" panose="02020603050405020304" pitchFamily="18" charset="0"/>
            <a:cs typeface="Times New Roman" panose="02020603050405020304" pitchFamily="18" charset="0"/>
          </a:endParaRPr>
        </a:p>
      </dsp:txBody>
      <dsp:txXfrm rot="-5400000">
        <a:off x="884755" y="2171279"/>
        <a:ext cx="10190543" cy="74134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E04B74-893D-45A0-B7E2-3F1399D81FD6}"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90167D-6950-40A5-BAE4-68EEFF97AFF2}" type="slidenum">
              <a:rPr lang="en-US" smtClean="0"/>
              <a:t>‹#›</a:t>
            </a:fld>
            <a:endParaRPr lang="en-US"/>
          </a:p>
        </p:txBody>
      </p:sp>
    </p:spTree>
    <p:extLst>
      <p:ext uri="{BB962C8B-B14F-4D97-AF65-F5344CB8AC3E}">
        <p14:creationId xmlns:p14="http://schemas.microsoft.com/office/powerpoint/2010/main" val="1332282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19C430D-9115-4345-B54D-C98D3C323EAE}" type="datetime1">
              <a:rPr lang="en-US" smtClean="0"/>
              <a:t>6/3/2026</a:t>
            </a:fld>
            <a:endParaRPr lang="en-US"/>
          </a:p>
        </p:txBody>
      </p:sp>
      <p:sp>
        <p:nvSpPr>
          <p:cNvPr id="5" name="Footer Placeholder 4"/>
          <p:cNvSpPr>
            <a:spLocks noGrp="1"/>
          </p:cNvSpPr>
          <p:nvPr>
            <p:ph type="ftr" sz="quarter" idx="11"/>
          </p:nvPr>
        </p:nvSpPr>
        <p:spPr/>
        <p:txBody>
          <a:bodyPr/>
          <a:lstStyle/>
          <a:p>
            <a:r>
              <a:rPr lang="en-US"/>
              <a:t>DEPARTMENT OF ECE</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5ED85E-A9E3-445C-9F4C-8CD6FE4B0FE4}" type="datetime1">
              <a:rPr lang="en-US" smtClean="0"/>
              <a:t>6/3/2026</a:t>
            </a:fld>
            <a:endParaRPr lang="en-US"/>
          </a:p>
        </p:txBody>
      </p:sp>
      <p:sp>
        <p:nvSpPr>
          <p:cNvPr id="5" name="Footer Placeholder 4"/>
          <p:cNvSpPr>
            <a:spLocks noGrp="1"/>
          </p:cNvSpPr>
          <p:nvPr>
            <p:ph type="ftr" sz="quarter" idx="11"/>
          </p:nvPr>
        </p:nvSpPr>
        <p:spPr/>
        <p:txBody>
          <a:bodyPr/>
          <a:lstStyle/>
          <a:p>
            <a:r>
              <a:rPr lang="en-US"/>
              <a:t>DEPARTMENT OF ECE</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D59C70-3771-4585-BCBE-2F4A36ACAAC4}" type="datetime1">
              <a:rPr lang="en-US" smtClean="0"/>
              <a:t>6/3/2026</a:t>
            </a:fld>
            <a:endParaRPr lang="en-US"/>
          </a:p>
        </p:txBody>
      </p:sp>
      <p:sp>
        <p:nvSpPr>
          <p:cNvPr id="5" name="Footer Placeholder 4"/>
          <p:cNvSpPr>
            <a:spLocks noGrp="1"/>
          </p:cNvSpPr>
          <p:nvPr>
            <p:ph type="ftr" sz="quarter" idx="11"/>
          </p:nvPr>
        </p:nvSpPr>
        <p:spPr/>
        <p:txBody>
          <a:bodyPr/>
          <a:lstStyle/>
          <a:p>
            <a:r>
              <a:rPr lang="en-US"/>
              <a:t>DEPARTMENT OF ECE</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A31BD4-3BF8-482A-9D18-C45673D133D5}" type="datetime1">
              <a:rPr lang="en-US" smtClean="0"/>
              <a:t>6/3/2026</a:t>
            </a:fld>
            <a:endParaRPr lang="en-US"/>
          </a:p>
        </p:txBody>
      </p:sp>
      <p:sp>
        <p:nvSpPr>
          <p:cNvPr id="6" name="Footer Placeholder 5"/>
          <p:cNvSpPr>
            <a:spLocks noGrp="1"/>
          </p:cNvSpPr>
          <p:nvPr>
            <p:ph type="ftr" sz="quarter" idx="11"/>
          </p:nvPr>
        </p:nvSpPr>
        <p:spPr/>
        <p:txBody>
          <a:bodyPr/>
          <a:lstStyle/>
          <a:p>
            <a:r>
              <a:rPr lang="en-US"/>
              <a:t>DEPARTMENT OF ECE</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C182FC3-B37C-4C9E-97D2-04F3F7965708}" type="datetime1">
              <a:rPr lang="en-US" smtClean="0"/>
              <a:t>6/3/2026</a:t>
            </a:fld>
            <a:endParaRPr lang="en-US"/>
          </a:p>
        </p:txBody>
      </p:sp>
      <p:sp>
        <p:nvSpPr>
          <p:cNvPr id="8" name="Footer Placeholder 7"/>
          <p:cNvSpPr>
            <a:spLocks noGrp="1"/>
          </p:cNvSpPr>
          <p:nvPr>
            <p:ph type="ftr" sz="quarter" idx="11"/>
          </p:nvPr>
        </p:nvSpPr>
        <p:spPr/>
        <p:txBody>
          <a:bodyPr/>
          <a:lstStyle/>
          <a:p>
            <a:r>
              <a:rPr lang="en-US"/>
              <a:t>DEPARTMENT OF ECE</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680328-0238-41AF-AC51-0EEC4026C3AA}" type="datetime1">
              <a:rPr lang="en-US" smtClean="0"/>
              <a:t>6/3/2026</a:t>
            </a:fld>
            <a:endParaRPr lang="en-US"/>
          </a:p>
        </p:txBody>
      </p:sp>
      <p:sp>
        <p:nvSpPr>
          <p:cNvPr id="4" name="Footer Placeholder 3"/>
          <p:cNvSpPr>
            <a:spLocks noGrp="1"/>
          </p:cNvSpPr>
          <p:nvPr>
            <p:ph type="ftr" sz="quarter" idx="11"/>
          </p:nvPr>
        </p:nvSpPr>
        <p:spPr/>
        <p:txBody>
          <a:bodyPr/>
          <a:lstStyle/>
          <a:p>
            <a:r>
              <a:rPr lang="en-US"/>
              <a:t>DEPARTMENT OF ECE</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384C5A-1F77-43A2-B870-85B698E2967B}" type="datetime1">
              <a:rPr lang="en-US" smtClean="0"/>
              <a:t>6/3/2026</a:t>
            </a:fld>
            <a:endParaRPr lang="en-US"/>
          </a:p>
        </p:txBody>
      </p:sp>
      <p:sp>
        <p:nvSpPr>
          <p:cNvPr id="3" name="Footer Placeholder 2"/>
          <p:cNvSpPr>
            <a:spLocks noGrp="1"/>
          </p:cNvSpPr>
          <p:nvPr>
            <p:ph type="ftr" sz="quarter" idx="11"/>
          </p:nvPr>
        </p:nvSpPr>
        <p:spPr/>
        <p:txBody>
          <a:bodyPr/>
          <a:lstStyle/>
          <a:p>
            <a:r>
              <a:rPr lang="en-US"/>
              <a:t>DEPARTMENT OF ECE</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2B60A5-2B75-43ED-A74B-F01F3E27D347}" type="datetime1">
              <a:rPr lang="en-US" smtClean="0"/>
              <a:t>6/3/2026</a:t>
            </a:fld>
            <a:endParaRPr lang="en-US"/>
          </a:p>
        </p:txBody>
      </p:sp>
      <p:sp>
        <p:nvSpPr>
          <p:cNvPr id="6" name="Footer Placeholder 5"/>
          <p:cNvSpPr>
            <a:spLocks noGrp="1"/>
          </p:cNvSpPr>
          <p:nvPr>
            <p:ph type="ftr" sz="quarter" idx="11"/>
          </p:nvPr>
        </p:nvSpPr>
        <p:spPr/>
        <p:txBody>
          <a:bodyPr/>
          <a:lstStyle/>
          <a:p>
            <a:r>
              <a:rPr lang="en-US"/>
              <a:t>DEPARTMENT OF ECE</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CD40124-BA00-4450-AB12-A2EB84D8F1CF}" type="datetime1">
              <a:rPr lang="en-US" smtClean="0"/>
              <a:t>6/3/2026</a:t>
            </a:fld>
            <a:endParaRPr lang="en-US"/>
          </a:p>
        </p:txBody>
      </p:sp>
      <p:sp>
        <p:nvSpPr>
          <p:cNvPr id="6" name="Footer Placeholder 5"/>
          <p:cNvSpPr>
            <a:spLocks noGrp="1"/>
          </p:cNvSpPr>
          <p:nvPr>
            <p:ph type="ftr" sz="quarter" idx="11"/>
          </p:nvPr>
        </p:nvSpPr>
        <p:spPr/>
        <p:txBody>
          <a:bodyPr/>
          <a:lstStyle/>
          <a:p>
            <a:r>
              <a:rPr lang="en-US"/>
              <a:t>DEPARTMENT OF ECE</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0CE8A3-473F-409C-94A9-47082CB6C83B}" type="datetime1">
              <a:rPr lang="en-US" smtClean="0"/>
              <a:t>6/3/2026</a:t>
            </a:fld>
            <a:endParaRPr lang="en-US"/>
          </a:p>
        </p:txBody>
      </p:sp>
      <p:sp>
        <p:nvSpPr>
          <p:cNvPr id="5" name="Footer Placeholder 4"/>
          <p:cNvSpPr>
            <a:spLocks noGrp="1"/>
          </p:cNvSpPr>
          <p:nvPr>
            <p:ph type="ftr" sz="quarter" idx="11"/>
          </p:nvPr>
        </p:nvSpPr>
        <p:spPr/>
        <p:txBody>
          <a:bodyPr/>
          <a:lstStyle/>
          <a:p>
            <a:r>
              <a:rPr lang="en-US"/>
              <a:t>DEPARTMENT OF ECE</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A6C052-DD23-448F-9992-9FD7B456BF35}" type="datetime1">
              <a:rPr lang="en-US" smtClean="0"/>
              <a:t>6/3/2026</a:t>
            </a:fld>
            <a:endParaRPr lang="en-US"/>
          </a:p>
        </p:txBody>
      </p:sp>
      <p:sp>
        <p:nvSpPr>
          <p:cNvPr id="5" name="Footer Placeholder 4"/>
          <p:cNvSpPr>
            <a:spLocks noGrp="1"/>
          </p:cNvSpPr>
          <p:nvPr>
            <p:ph type="ftr" sz="quarter" idx="11"/>
          </p:nvPr>
        </p:nvSpPr>
        <p:spPr/>
        <p:txBody>
          <a:bodyPr/>
          <a:lstStyle/>
          <a:p>
            <a:r>
              <a:rPr lang="en-US"/>
              <a:t>DEPARTMENT OF ECE</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B8C794-3102-49E6-8830-449F32285945}" type="datetime1">
              <a:rPr lang="en-US" smtClean="0"/>
              <a:t>6/3/2026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DEPARTMENT OF ECE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F9884F-D315-134D-3CBE-2B19A0FA917D}"/>
              </a:ext>
            </a:extLst>
          </p:cNvPr>
          <p:cNvPicPr>
            <a:picLocks noChangeAspect="1"/>
          </p:cNvPicPr>
          <p:nvPr/>
        </p:nvPicPr>
        <p:blipFill>
          <a:blip r:embed="rId2"/>
          <a:stretch>
            <a:fillRect/>
          </a:stretch>
        </p:blipFill>
        <p:spPr>
          <a:xfrm>
            <a:off x="2629859" y="40450"/>
            <a:ext cx="6714565" cy="563678"/>
          </a:xfrm>
          <a:prstGeom prst="rect">
            <a:avLst/>
          </a:prstGeom>
        </p:spPr>
      </p:pic>
      <p:cxnSp>
        <p:nvCxnSpPr>
          <p:cNvPr id="5" name="Straight Connector 4">
            <a:extLst>
              <a:ext uri="{FF2B5EF4-FFF2-40B4-BE49-F238E27FC236}">
                <a16:creationId xmlns:a16="http://schemas.microsoft.com/office/drawing/2014/main" id="{2FD3B507-39D4-E530-F8D1-6189359ECBFF}"/>
              </a:ext>
            </a:extLst>
          </p:cNvPr>
          <p:cNvCxnSpPr/>
          <p:nvPr/>
        </p:nvCxnSpPr>
        <p:spPr>
          <a:xfrm>
            <a:off x="2088" y="632174"/>
            <a:ext cx="12177386" cy="20876"/>
          </a:xfrm>
          <a:prstGeom prst="line">
            <a:avLst/>
          </a:prstGeom>
          <a:ln w="38100" cmpd="thickThin">
            <a:gradFill flip="none" rotWithShape="1">
              <a:gsLst>
                <a:gs pos="73000">
                  <a:srgbClr val="0070C0"/>
                </a:gs>
                <a:gs pos="100000">
                  <a:srgbClr val="FF0000"/>
                </a:gs>
                <a:gs pos="48000">
                  <a:srgbClr val="002060"/>
                </a:gs>
                <a:gs pos="25000">
                  <a:srgbClr val="0070C0"/>
                </a:gs>
                <a:gs pos="0">
                  <a:srgbClr val="FF0000"/>
                </a:gs>
                <a:gs pos="100000">
                  <a:schemeClr val="accent1">
                    <a:tint val="44500"/>
                    <a:satMod val="160000"/>
                  </a:schemeClr>
                </a:gs>
                <a:gs pos="100000">
                  <a:srgbClr val="FF0000"/>
                </a:gs>
              </a:gsLst>
              <a:path path="circle">
                <a:fillToRect l="100000" t="100000"/>
              </a:path>
              <a:tileRect r="-100000" b="-100000"/>
            </a:gradFill>
          </a:ln>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AB700422-F4E9-169D-B34A-CC24EEC61433}"/>
              </a:ext>
            </a:extLst>
          </p:cNvPr>
          <p:cNvSpPr>
            <a:spLocks noGrp="1"/>
          </p:cNvSpPr>
          <p:nvPr>
            <p:ph type="ctrTitle"/>
          </p:nvPr>
        </p:nvSpPr>
        <p:spPr>
          <a:xfrm>
            <a:off x="1322145" y="665113"/>
            <a:ext cx="9144000" cy="614245"/>
          </a:xfrm>
        </p:spPr>
        <p:txBody>
          <a:bodyPr>
            <a:normAutofit/>
          </a:bodyPr>
          <a:lstStyle/>
          <a:p>
            <a:r>
              <a:rPr lang="en-US" sz="3200" b="1">
                <a:solidFill>
                  <a:schemeClr val="tx2">
                    <a:lumMod val="90000"/>
                    <a:lumOff val="10000"/>
                  </a:schemeClr>
                </a:solidFill>
                <a:latin typeface="Times New Roman"/>
                <a:cs typeface="Times New Roman"/>
              </a:rPr>
              <a:t>GEN -AI </a:t>
            </a:r>
          </a:p>
        </p:txBody>
      </p:sp>
      <p:sp>
        <p:nvSpPr>
          <p:cNvPr id="7" name="Subtitle 2">
            <a:extLst>
              <a:ext uri="{FF2B5EF4-FFF2-40B4-BE49-F238E27FC236}">
                <a16:creationId xmlns:a16="http://schemas.microsoft.com/office/drawing/2014/main" id="{4BAB8FF9-18E2-A113-D53B-4888E8DD7E7F}"/>
              </a:ext>
            </a:extLst>
          </p:cNvPr>
          <p:cNvSpPr>
            <a:spLocks noGrp="1"/>
          </p:cNvSpPr>
          <p:nvPr>
            <p:ph type="subTitle" idx="1"/>
          </p:nvPr>
        </p:nvSpPr>
        <p:spPr>
          <a:xfrm>
            <a:off x="162614" y="1272821"/>
            <a:ext cx="11691804" cy="5087441"/>
          </a:xfrm>
        </p:spPr>
        <p:txBody>
          <a:bodyPr vert="horz" lIns="91440" tIns="45720" rIns="91440" bIns="45720" rtlCol="0" anchor="t">
            <a:normAutofit/>
          </a:bodyPr>
          <a:lstStyle/>
          <a:p>
            <a:pPr>
              <a:lnSpc>
                <a:spcPct val="100000"/>
              </a:lnSpc>
              <a:spcBef>
                <a:spcPts val="600"/>
              </a:spcBef>
            </a:pPr>
            <a:r>
              <a:rPr lang="en-IN" b="1">
                <a:solidFill>
                  <a:srgbClr val="000000"/>
                </a:solidFill>
                <a:latin typeface="Times New Roman"/>
                <a:ea typeface="Calibri"/>
                <a:cs typeface="Times New Roman"/>
              </a:rPr>
              <a:t> TITLE: </a:t>
            </a:r>
            <a:r>
              <a:rPr lang="en-IN" b="1">
                <a:solidFill>
                  <a:srgbClr val="000000"/>
                </a:solidFill>
                <a:latin typeface="Times New Roman"/>
                <a:ea typeface="+mn-lt"/>
                <a:cs typeface="Times New Roman"/>
              </a:rPr>
              <a:t>Image Restoration and Object Removal Using </a:t>
            </a:r>
            <a:r>
              <a:rPr lang="en-US" b="1">
                <a:latin typeface="Times New Roman" panose="02020603050405020304" pitchFamily="18" charset="0"/>
                <a:cs typeface="Times New Roman" panose="02020603050405020304" pitchFamily="18" charset="0"/>
              </a:rPr>
              <a:t>Generative</a:t>
            </a:r>
            <a:r>
              <a:rPr lang="en-IN" b="1">
                <a:solidFill>
                  <a:srgbClr val="000000"/>
                </a:solidFill>
                <a:latin typeface="Times New Roman"/>
                <a:ea typeface="+mn-lt"/>
                <a:cs typeface="Times New Roman"/>
              </a:rPr>
              <a:t>-AI</a:t>
            </a:r>
            <a:endParaRPr lang="en-IN" b="1">
              <a:solidFill>
                <a:srgbClr val="000000"/>
              </a:solidFill>
              <a:latin typeface="Times New Roman"/>
              <a:ea typeface="Calibri"/>
              <a:cs typeface="Times New Roman"/>
            </a:endParaRPr>
          </a:p>
          <a:p>
            <a:pPr algn="just">
              <a:lnSpc>
                <a:spcPct val="100000"/>
              </a:lnSpc>
              <a:spcBef>
                <a:spcPts val="600"/>
              </a:spcBef>
            </a:pPr>
            <a:endParaRPr lang="en-IN" b="1">
              <a:solidFill>
                <a:srgbClr val="000000"/>
              </a:solidFill>
              <a:latin typeface="Times New Roman"/>
              <a:ea typeface="Calibri"/>
              <a:cs typeface="Times New Roman"/>
            </a:endParaRPr>
          </a:p>
          <a:p>
            <a:pPr algn="l">
              <a:lnSpc>
                <a:spcPct val="150000"/>
              </a:lnSpc>
              <a:spcBef>
                <a:spcPts val="0"/>
              </a:spcBef>
            </a:pPr>
            <a:r>
              <a:rPr lang="en-IN" b="1">
                <a:solidFill>
                  <a:srgbClr val="002060"/>
                </a:solidFill>
                <a:latin typeface="Times New Roman"/>
                <a:ea typeface="Calibri"/>
                <a:cs typeface="Times New Roman"/>
              </a:rPr>
              <a:t>Course: GEN AI</a:t>
            </a:r>
            <a:endParaRPr lang="en-US">
              <a:latin typeface="Times New Roman"/>
              <a:ea typeface="Calibri"/>
              <a:cs typeface="Times New Roman"/>
            </a:endParaRPr>
          </a:p>
          <a:p>
            <a:pPr algn="l">
              <a:lnSpc>
                <a:spcPct val="150000"/>
              </a:lnSpc>
              <a:spcBef>
                <a:spcPts val="0"/>
              </a:spcBef>
            </a:pPr>
            <a:r>
              <a:rPr lang="en-IN" b="1">
                <a:solidFill>
                  <a:srgbClr val="002060"/>
                </a:solidFill>
                <a:latin typeface="Times New Roman"/>
                <a:ea typeface="Calibri"/>
                <a:cs typeface="Times New Roman"/>
              </a:rPr>
              <a:t>Course Code: </a:t>
            </a:r>
            <a:r>
              <a:rPr lang="en-IN">
                <a:solidFill>
                  <a:srgbClr val="002060"/>
                </a:solidFill>
                <a:latin typeface="Times New Roman"/>
                <a:ea typeface="Calibri"/>
                <a:cs typeface="Times New Roman"/>
              </a:rPr>
              <a:t>25EECC308</a:t>
            </a:r>
            <a:endParaRPr lang="en-US">
              <a:latin typeface="Times New Roman"/>
              <a:ea typeface="Calibri"/>
              <a:cs typeface="Times New Roman"/>
            </a:endParaRPr>
          </a:p>
          <a:p>
            <a:pPr algn="l">
              <a:lnSpc>
                <a:spcPct val="150000"/>
              </a:lnSpc>
              <a:spcBef>
                <a:spcPts val="0"/>
              </a:spcBef>
            </a:pPr>
            <a:r>
              <a:rPr lang="en-IN" b="1">
                <a:solidFill>
                  <a:srgbClr val="002060"/>
                </a:solidFill>
                <a:latin typeface="Times New Roman"/>
                <a:ea typeface="Calibri"/>
                <a:cs typeface="Times New Roman"/>
              </a:rPr>
              <a:t>Semester: </a:t>
            </a:r>
            <a:r>
              <a:rPr lang="en-IN">
                <a:solidFill>
                  <a:srgbClr val="002060"/>
                </a:solidFill>
                <a:latin typeface="Times New Roman"/>
                <a:ea typeface="Calibri"/>
                <a:cs typeface="Times New Roman"/>
              </a:rPr>
              <a:t>VI</a:t>
            </a:r>
            <a:endParaRPr lang="en-US">
              <a:latin typeface="Times New Roman"/>
              <a:ea typeface="Calibri"/>
              <a:cs typeface="Times New Roman"/>
            </a:endParaRPr>
          </a:p>
          <a:p>
            <a:pPr algn="l">
              <a:lnSpc>
                <a:spcPct val="150000"/>
              </a:lnSpc>
              <a:spcBef>
                <a:spcPts val="0"/>
              </a:spcBef>
            </a:pPr>
            <a:r>
              <a:rPr lang="en-IN" b="1">
                <a:solidFill>
                  <a:srgbClr val="002060"/>
                </a:solidFill>
                <a:latin typeface="Times New Roman"/>
                <a:ea typeface="Calibri"/>
                <a:cs typeface="Times New Roman"/>
              </a:rPr>
              <a:t>Credits: </a:t>
            </a:r>
            <a:r>
              <a:rPr lang="en-IN">
                <a:solidFill>
                  <a:srgbClr val="002060"/>
                </a:solidFill>
                <a:latin typeface="Times New Roman"/>
                <a:ea typeface="Calibri"/>
                <a:cs typeface="Times New Roman"/>
              </a:rPr>
              <a:t>4 [2-0-2]</a:t>
            </a:r>
            <a:endParaRPr lang="en-US">
              <a:latin typeface="Times New Roman"/>
              <a:ea typeface="Calibri"/>
              <a:cs typeface="Times New Roman"/>
            </a:endParaRPr>
          </a:p>
          <a:p>
            <a:pPr algn="l">
              <a:lnSpc>
                <a:spcPct val="150000"/>
              </a:lnSpc>
              <a:spcBef>
                <a:spcPts val="0"/>
              </a:spcBef>
            </a:pPr>
            <a:r>
              <a:rPr lang="en-IN" b="1">
                <a:solidFill>
                  <a:srgbClr val="002060"/>
                </a:solidFill>
                <a:latin typeface="Times New Roman"/>
                <a:ea typeface="Calibri"/>
                <a:cs typeface="Times New Roman"/>
              </a:rPr>
              <a:t>Guide</a:t>
            </a:r>
            <a:r>
              <a:rPr lang="en-IN">
                <a:solidFill>
                  <a:srgbClr val="002060"/>
                </a:solidFill>
                <a:latin typeface="Times New Roman"/>
                <a:ea typeface="Calibri"/>
                <a:cs typeface="Times New Roman"/>
              </a:rPr>
              <a:t>: Amith </a:t>
            </a:r>
            <a:r>
              <a:rPr lang="en-IN" err="1">
                <a:solidFill>
                  <a:srgbClr val="002060"/>
                </a:solidFill>
                <a:latin typeface="Times New Roman"/>
                <a:ea typeface="Calibri"/>
                <a:cs typeface="Times New Roman"/>
              </a:rPr>
              <a:t>Telgar</a:t>
            </a:r>
          </a:p>
        </p:txBody>
      </p:sp>
      <p:sp>
        <p:nvSpPr>
          <p:cNvPr id="8" name="Date Placeholder 7">
            <a:extLst>
              <a:ext uri="{FF2B5EF4-FFF2-40B4-BE49-F238E27FC236}">
                <a16:creationId xmlns:a16="http://schemas.microsoft.com/office/drawing/2014/main" id="{993A45D7-BD87-1D9A-B123-0BAC7B1C0550}"/>
              </a:ext>
            </a:extLst>
          </p:cNvPr>
          <p:cNvSpPr>
            <a:spLocks noGrp="1"/>
          </p:cNvSpPr>
          <p:nvPr>
            <p:ph type="dt" sz="half" idx="10"/>
          </p:nvPr>
        </p:nvSpPr>
        <p:spPr/>
        <p:txBody>
          <a:bodyPr/>
          <a:lstStyle/>
          <a:p>
            <a:fld id="{7D841A97-9DE3-4033-907F-9EF71A942AA9}" type="datetime1">
              <a:rPr lang="en-US" b="1" smtClean="0">
                <a:latin typeface="Times New Roman" panose="02020603050405020304" pitchFamily="18" charset="0"/>
                <a:cs typeface="Times New Roman" panose="02020603050405020304" pitchFamily="18" charset="0"/>
              </a:rPr>
              <a:t>6/3/2026</a:t>
            </a:fld>
            <a:endParaRPr lang="en-US" b="1">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64003A54-954F-270E-F173-60C0B3B26F20}"/>
              </a:ext>
            </a:extLst>
          </p:cNvPr>
          <p:cNvSpPr>
            <a:spLocks noGrp="1"/>
          </p:cNvSpPr>
          <p:nvPr>
            <p:ph type="ftr" sz="quarter" idx="11"/>
          </p:nvPr>
        </p:nvSpPr>
        <p:spPr/>
        <p:txBody>
          <a:bodyPr/>
          <a:lstStyle/>
          <a:p>
            <a:r>
              <a:rPr lang="en-US" b="1">
                <a:latin typeface="Times New Roman" panose="02020603050405020304" pitchFamily="18" charset="0"/>
                <a:cs typeface="Times New Roman" panose="02020603050405020304" pitchFamily="18" charset="0"/>
              </a:rPr>
              <a:t>DEPARTMENT OF ECE</a:t>
            </a:r>
          </a:p>
        </p:txBody>
      </p:sp>
      <p:sp>
        <p:nvSpPr>
          <p:cNvPr id="10" name="Slide Number Placeholder 9">
            <a:extLst>
              <a:ext uri="{FF2B5EF4-FFF2-40B4-BE49-F238E27FC236}">
                <a16:creationId xmlns:a16="http://schemas.microsoft.com/office/drawing/2014/main" id="{2533A4D8-1B50-03BE-F38E-124D7D15CB26}"/>
              </a:ext>
            </a:extLst>
          </p:cNvPr>
          <p:cNvSpPr>
            <a:spLocks noGrp="1"/>
          </p:cNvSpPr>
          <p:nvPr>
            <p:ph type="sldNum" sz="quarter" idx="12"/>
          </p:nvPr>
        </p:nvSpPr>
        <p:spPr/>
        <p:txBody>
          <a:bodyPr/>
          <a:lstStyle/>
          <a:p>
            <a:fld id="{330EA680-D336-4FF7-8B7A-9848BB0A1C32}" type="slidenum">
              <a:rPr lang="en-US" b="1" smtClean="0">
                <a:solidFill>
                  <a:schemeClr val="tx1"/>
                </a:solidFill>
                <a:latin typeface="Times New Roman" panose="02020603050405020304" pitchFamily="18" charset="0"/>
                <a:cs typeface="Times New Roman" panose="02020603050405020304" pitchFamily="18" charset="0"/>
              </a:rPr>
              <a:t>1</a:t>
            </a:fld>
            <a:endParaRPr lang="en-US" b="1">
              <a:solidFill>
                <a:schemeClr val="tx1"/>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E70215E1-A762-7CC2-3D83-F03C5FD4E2B1}"/>
              </a:ext>
            </a:extLst>
          </p:cNvPr>
          <p:cNvGraphicFramePr>
            <a:graphicFrameLocks noGrp="1"/>
          </p:cNvGraphicFramePr>
          <p:nvPr>
            <p:extLst>
              <p:ext uri="{D42A27DB-BD31-4B8C-83A1-F6EECF244321}">
                <p14:modId xmlns:p14="http://schemas.microsoft.com/office/powerpoint/2010/main" val="2725432093"/>
              </p:ext>
            </p:extLst>
          </p:nvPr>
        </p:nvGraphicFramePr>
        <p:xfrm>
          <a:off x="5531224" y="3056965"/>
          <a:ext cx="6304389" cy="2375648"/>
        </p:xfrm>
        <a:graphic>
          <a:graphicData uri="http://schemas.openxmlformats.org/drawingml/2006/table">
            <a:tbl>
              <a:tblPr bandRow="1">
                <a:tableStyleId>{5940675A-B579-460E-94D1-54222C63F5DA}</a:tableStyleId>
              </a:tblPr>
              <a:tblGrid>
                <a:gridCol w="826600">
                  <a:extLst>
                    <a:ext uri="{9D8B030D-6E8A-4147-A177-3AD203B41FA5}">
                      <a16:colId xmlns:a16="http://schemas.microsoft.com/office/drawing/2014/main" val="3542489898"/>
                    </a:ext>
                  </a:extLst>
                </a:gridCol>
                <a:gridCol w="992805">
                  <a:extLst>
                    <a:ext uri="{9D8B030D-6E8A-4147-A177-3AD203B41FA5}">
                      <a16:colId xmlns:a16="http://schemas.microsoft.com/office/drawing/2014/main" val="3069642519"/>
                    </a:ext>
                  </a:extLst>
                </a:gridCol>
                <a:gridCol w="895608">
                  <a:extLst>
                    <a:ext uri="{9D8B030D-6E8A-4147-A177-3AD203B41FA5}">
                      <a16:colId xmlns:a16="http://schemas.microsoft.com/office/drawing/2014/main" val="240520809"/>
                    </a:ext>
                  </a:extLst>
                </a:gridCol>
                <a:gridCol w="1722041">
                  <a:extLst>
                    <a:ext uri="{9D8B030D-6E8A-4147-A177-3AD203B41FA5}">
                      <a16:colId xmlns:a16="http://schemas.microsoft.com/office/drawing/2014/main" val="1572558768"/>
                    </a:ext>
                  </a:extLst>
                </a:gridCol>
                <a:gridCol w="1867335">
                  <a:extLst>
                    <a:ext uri="{9D8B030D-6E8A-4147-A177-3AD203B41FA5}">
                      <a16:colId xmlns:a16="http://schemas.microsoft.com/office/drawing/2014/main" val="4255369968"/>
                    </a:ext>
                  </a:extLst>
                </a:gridCol>
              </a:tblGrid>
              <a:tr h="393672">
                <a:tc gridSpan="5">
                  <a:txBody>
                    <a:bodyPr/>
                    <a:lstStyle/>
                    <a:p>
                      <a:pPr algn="ctr" fontAlgn="base">
                        <a:lnSpc>
                          <a:spcPts val="1950"/>
                        </a:lnSpc>
                        <a:buNone/>
                      </a:pPr>
                      <a:r>
                        <a:rPr lang="en-IN" sz="1600" b="1">
                          <a:solidFill>
                            <a:schemeClr val="tx1"/>
                          </a:solidFill>
                          <a:effectLst/>
                          <a:latin typeface="Times New Roman"/>
                          <a:cs typeface="Times New Roman"/>
                        </a:rPr>
                        <a:t>TEAM DETAILS -3</a:t>
                      </a:r>
                      <a:endParaRPr lang="en-IN" b="1">
                        <a:solidFill>
                          <a:schemeClr val="tx1"/>
                        </a:solidFill>
                        <a:effectLst/>
                        <a:latin typeface="Times New Roman"/>
                        <a:cs typeface="Times New Roman"/>
                      </a:endParaRPr>
                    </a:p>
                  </a:txBody>
                  <a:tcPr marT="34290" marB="3429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57423571"/>
                  </a:ext>
                </a:extLst>
              </a:tr>
              <a:tr h="347717">
                <a:tc>
                  <a:txBody>
                    <a:bodyPr/>
                    <a:lstStyle/>
                    <a:p>
                      <a:pPr algn="ctr" fontAlgn="base">
                        <a:lnSpc>
                          <a:spcPts val="1950"/>
                        </a:lnSpc>
                        <a:buNone/>
                      </a:pPr>
                      <a:r>
                        <a:rPr lang="en-US" sz="1600">
                          <a:effectLst/>
                          <a:latin typeface="Times New Roman"/>
                          <a:cs typeface="Times New Roman"/>
                        </a:rPr>
                        <a:t>Sl. No</a:t>
                      </a:r>
                      <a:endParaRPr lang="en-US">
                        <a:effectLst/>
                        <a:latin typeface="Times New Roman"/>
                        <a:cs typeface="Times New Roman"/>
                      </a:endParaRPr>
                    </a:p>
                  </a:txBody>
                  <a:tcPr marT="34290" marB="34290" anchor="ctr"/>
                </a:tc>
                <a:tc>
                  <a:txBody>
                    <a:bodyPr/>
                    <a:lstStyle/>
                    <a:p>
                      <a:pPr algn="ctr" fontAlgn="base">
                        <a:lnSpc>
                          <a:spcPts val="1950"/>
                        </a:lnSpc>
                        <a:buNone/>
                      </a:pPr>
                      <a:r>
                        <a:rPr lang="en-US" sz="1600">
                          <a:effectLst/>
                          <a:latin typeface="Times New Roman"/>
                          <a:cs typeface="Times New Roman"/>
                        </a:rPr>
                        <a:t>Roll No.</a:t>
                      </a:r>
                      <a:endParaRPr lang="en-US">
                        <a:effectLst/>
                        <a:latin typeface="Times New Roman"/>
                        <a:cs typeface="Times New Roman"/>
                      </a:endParaRPr>
                    </a:p>
                  </a:txBody>
                  <a:tcPr marT="34290" marB="34290" anchor="ctr"/>
                </a:tc>
                <a:tc>
                  <a:txBody>
                    <a:bodyPr/>
                    <a:lstStyle/>
                    <a:p>
                      <a:pPr algn="ctr" fontAlgn="base">
                        <a:lnSpc>
                          <a:spcPts val="1950"/>
                        </a:lnSpc>
                        <a:buNone/>
                      </a:pPr>
                      <a:r>
                        <a:rPr lang="en-US" sz="1600">
                          <a:effectLst/>
                          <a:latin typeface="Times New Roman"/>
                          <a:cs typeface="Times New Roman"/>
                        </a:rPr>
                        <a:t>Div</a:t>
                      </a:r>
                      <a:endParaRPr lang="en-US">
                        <a:effectLst/>
                        <a:latin typeface="Times New Roman"/>
                        <a:cs typeface="Times New Roman"/>
                      </a:endParaRPr>
                    </a:p>
                  </a:txBody>
                  <a:tcPr marT="34290" marB="34290" anchor="ctr"/>
                </a:tc>
                <a:tc>
                  <a:txBody>
                    <a:bodyPr/>
                    <a:lstStyle/>
                    <a:p>
                      <a:pPr algn="ctr" fontAlgn="base">
                        <a:lnSpc>
                          <a:spcPts val="1950"/>
                        </a:lnSpc>
                        <a:buNone/>
                      </a:pPr>
                      <a:r>
                        <a:rPr lang="en-US" sz="1600">
                          <a:effectLst/>
                          <a:latin typeface="Times New Roman"/>
                          <a:cs typeface="Times New Roman"/>
                        </a:rPr>
                        <a:t>SRN</a:t>
                      </a:r>
                      <a:endParaRPr lang="en-US">
                        <a:effectLst/>
                        <a:latin typeface="Times New Roman"/>
                        <a:cs typeface="Times New Roman"/>
                      </a:endParaRPr>
                    </a:p>
                  </a:txBody>
                  <a:tcPr marT="34290" marB="34290" anchor="ctr"/>
                </a:tc>
                <a:tc>
                  <a:txBody>
                    <a:bodyPr/>
                    <a:lstStyle/>
                    <a:p>
                      <a:pPr algn="ctr" fontAlgn="base">
                        <a:lnSpc>
                          <a:spcPts val="1950"/>
                        </a:lnSpc>
                        <a:buNone/>
                      </a:pPr>
                      <a:r>
                        <a:rPr lang="en-US" sz="1600">
                          <a:effectLst/>
                          <a:latin typeface="Times New Roman"/>
                          <a:cs typeface="Times New Roman"/>
                        </a:rPr>
                        <a:t>Name</a:t>
                      </a:r>
                      <a:endParaRPr lang="en-US">
                        <a:effectLst/>
                        <a:latin typeface="Times New Roman"/>
                        <a:cs typeface="Times New Roman"/>
                      </a:endParaRPr>
                    </a:p>
                  </a:txBody>
                  <a:tcPr marT="34290" marB="34290" anchor="ctr"/>
                </a:tc>
                <a:extLst>
                  <a:ext uri="{0D108BD9-81ED-4DB2-BD59-A6C34878D82A}">
                    <a16:rowId xmlns:a16="http://schemas.microsoft.com/office/drawing/2014/main" val="682316915"/>
                  </a:ext>
                </a:extLst>
              </a:tr>
              <a:tr h="544753">
                <a:tc>
                  <a:txBody>
                    <a:bodyPr/>
                    <a:lstStyle/>
                    <a:p>
                      <a:pPr algn="ctr" fontAlgn="base">
                        <a:lnSpc>
                          <a:spcPts val="1950"/>
                        </a:lnSpc>
                        <a:buNone/>
                      </a:pPr>
                      <a:r>
                        <a:rPr lang="en-US" sz="1600">
                          <a:effectLst/>
                          <a:latin typeface="Times New Roman"/>
                          <a:cs typeface="Times New Roman"/>
                        </a:rPr>
                        <a:t>1</a:t>
                      </a:r>
                      <a:endParaRPr lang="en-US">
                        <a:effectLst/>
                        <a:latin typeface="Times New Roman"/>
                        <a:cs typeface="Times New Roman"/>
                      </a:endParaRPr>
                    </a:p>
                  </a:txBody>
                  <a:tcPr marT="34290" marB="34290" anchor="ctr"/>
                </a:tc>
                <a:tc>
                  <a:txBody>
                    <a:bodyPr/>
                    <a:lstStyle/>
                    <a:p>
                      <a:pPr algn="ctr" fontAlgn="base">
                        <a:lnSpc>
                          <a:spcPts val="1950"/>
                        </a:lnSpc>
                        <a:buNone/>
                      </a:pPr>
                      <a:r>
                        <a:rPr lang="en-US" sz="1600">
                          <a:effectLst/>
                          <a:latin typeface="Times New Roman"/>
                          <a:cs typeface="Times New Roman"/>
                        </a:rPr>
                        <a:t>552</a:t>
                      </a:r>
                    </a:p>
                  </a:txBody>
                  <a:tcPr marT="34290" marB="34290" anchor="ctr"/>
                </a:tc>
                <a:tc>
                  <a:txBody>
                    <a:bodyPr/>
                    <a:lstStyle/>
                    <a:p>
                      <a:pPr algn="ctr" fontAlgn="base">
                        <a:lnSpc>
                          <a:spcPts val="1950"/>
                        </a:lnSpc>
                        <a:buNone/>
                      </a:pPr>
                      <a:r>
                        <a:rPr lang="en-US" sz="1600">
                          <a:effectLst/>
                          <a:latin typeface="Times New Roman"/>
                          <a:cs typeface="Times New Roman"/>
                        </a:rPr>
                        <a:t>E</a:t>
                      </a:r>
                      <a:endParaRPr lang="en-US">
                        <a:effectLst/>
                        <a:latin typeface="Times New Roman"/>
                        <a:cs typeface="Times New Roman"/>
                      </a:endParaRPr>
                    </a:p>
                  </a:txBody>
                  <a:tcPr marT="34290" marB="34290" anchor="ctr"/>
                </a:tc>
                <a:tc>
                  <a:txBody>
                    <a:bodyPr/>
                    <a:lstStyle/>
                    <a:p>
                      <a:pPr algn="ctr" fontAlgn="base">
                        <a:lnSpc>
                          <a:spcPts val="1950"/>
                        </a:lnSpc>
                        <a:buNone/>
                      </a:pPr>
                      <a:r>
                        <a:rPr lang="en-US" sz="1600">
                          <a:effectLst/>
                          <a:latin typeface="Times New Roman"/>
                          <a:cs typeface="Times New Roman"/>
                        </a:rPr>
                        <a:t>01FE23BEC286</a:t>
                      </a:r>
                      <a:endParaRPr lang="en-US">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1600">
                          <a:effectLst/>
                          <a:latin typeface="Times New Roman"/>
                          <a:cs typeface="Times New Roman"/>
                        </a:rPr>
                        <a:t>SAHANA .M</a:t>
                      </a:r>
                    </a:p>
                  </a:txBody>
                  <a:tcPr marT="34290" marB="34290" anchor="ctr"/>
                </a:tc>
                <a:extLst>
                  <a:ext uri="{0D108BD9-81ED-4DB2-BD59-A6C34878D82A}">
                    <a16:rowId xmlns:a16="http://schemas.microsoft.com/office/drawing/2014/main" val="1031824688"/>
                  </a:ext>
                </a:extLst>
              </a:tr>
              <a:tr h="544753">
                <a:tc>
                  <a:txBody>
                    <a:bodyPr/>
                    <a:lstStyle/>
                    <a:p>
                      <a:pPr algn="ctr" fontAlgn="base">
                        <a:lnSpc>
                          <a:spcPts val="1950"/>
                        </a:lnSpc>
                        <a:buNone/>
                      </a:pPr>
                      <a:r>
                        <a:rPr lang="en-US" sz="1600">
                          <a:effectLst/>
                          <a:latin typeface="Times New Roman"/>
                          <a:cs typeface="Times New Roman"/>
                        </a:rPr>
                        <a:t>2</a:t>
                      </a:r>
                      <a:endParaRPr lang="en-US">
                        <a:effectLst/>
                        <a:latin typeface="Times New Roman"/>
                        <a:cs typeface="Times New Roman"/>
                      </a:endParaRPr>
                    </a:p>
                  </a:txBody>
                  <a:tcPr marT="34290" marB="34290" anchor="ctr"/>
                </a:tc>
                <a:tc>
                  <a:txBody>
                    <a:bodyPr/>
                    <a:lstStyle/>
                    <a:p>
                      <a:pPr algn="ctr" fontAlgn="base">
                        <a:lnSpc>
                          <a:spcPts val="1950"/>
                        </a:lnSpc>
                        <a:buNone/>
                      </a:pPr>
                      <a:r>
                        <a:rPr lang="en-US" sz="1600">
                          <a:effectLst/>
                          <a:latin typeface="Times New Roman"/>
                          <a:cs typeface="Times New Roman"/>
                        </a:rPr>
                        <a:t>553</a:t>
                      </a:r>
                    </a:p>
                  </a:txBody>
                  <a:tcPr marT="34290" marB="34290" anchor="ctr"/>
                </a:tc>
                <a:tc>
                  <a:txBody>
                    <a:bodyPr/>
                    <a:lstStyle/>
                    <a:p>
                      <a:pPr algn="ctr" fontAlgn="base">
                        <a:lnSpc>
                          <a:spcPts val="1950"/>
                        </a:lnSpc>
                        <a:buNone/>
                      </a:pPr>
                      <a:r>
                        <a:rPr lang="en-US" sz="1600">
                          <a:effectLst/>
                          <a:latin typeface="Times New Roman"/>
                          <a:cs typeface="Times New Roman"/>
                        </a:rPr>
                        <a:t>E</a:t>
                      </a:r>
                      <a:endParaRPr lang="en-US">
                        <a:effectLst/>
                        <a:latin typeface="Times New Roman"/>
                        <a:cs typeface="Times New Roman"/>
                      </a:endParaRPr>
                    </a:p>
                  </a:txBody>
                  <a:tcPr marT="34290" marB="34290" anchor="ctr"/>
                </a:tc>
                <a:tc>
                  <a:txBody>
                    <a:bodyPr/>
                    <a:lstStyle/>
                    <a:p>
                      <a:pPr algn="ctr" fontAlgn="base">
                        <a:lnSpc>
                          <a:spcPts val="1950"/>
                        </a:lnSpc>
                        <a:buNone/>
                      </a:pPr>
                      <a:r>
                        <a:rPr lang="en-US" sz="1600">
                          <a:effectLst/>
                          <a:latin typeface="Times New Roman"/>
                          <a:cs typeface="Times New Roman"/>
                        </a:rPr>
                        <a:t>01FE23BEC287</a:t>
                      </a:r>
                      <a:endParaRPr lang="en-US">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1600">
                          <a:effectLst/>
                          <a:latin typeface="Times New Roman"/>
                          <a:cs typeface="Times New Roman"/>
                        </a:rPr>
                        <a:t>SURAJ . A</a:t>
                      </a:r>
                    </a:p>
                  </a:txBody>
                  <a:tcPr marT="34290" marB="34290" anchor="ctr"/>
                </a:tc>
                <a:extLst>
                  <a:ext uri="{0D108BD9-81ED-4DB2-BD59-A6C34878D82A}">
                    <a16:rowId xmlns:a16="http://schemas.microsoft.com/office/drawing/2014/main" val="2833478353"/>
                  </a:ext>
                </a:extLst>
              </a:tr>
              <a:tr h="544753">
                <a:tc>
                  <a:txBody>
                    <a:bodyPr/>
                    <a:lstStyle/>
                    <a:p>
                      <a:pPr algn="ctr" fontAlgn="base">
                        <a:lnSpc>
                          <a:spcPts val="1950"/>
                        </a:lnSpc>
                        <a:buNone/>
                      </a:pPr>
                      <a:r>
                        <a:rPr lang="en-US" sz="1600">
                          <a:effectLst/>
                          <a:latin typeface="Times New Roman"/>
                          <a:cs typeface="Times New Roman"/>
                        </a:rPr>
                        <a:t>3</a:t>
                      </a:r>
                      <a:endParaRPr lang="en-US">
                        <a:effectLst/>
                        <a:latin typeface="Times New Roman"/>
                        <a:cs typeface="Times New Roman"/>
                      </a:endParaRPr>
                    </a:p>
                  </a:txBody>
                  <a:tcPr marT="34290" marB="34290" anchor="ctr"/>
                </a:tc>
                <a:tc>
                  <a:txBody>
                    <a:bodyPr/>
                    <a:lstStyle/>
                    <a:p>
                      <a:pPr algn="ctr" fontAlgn="base">
                        <a:lnSpc>
                          <a:spcPts val="1950"/>
                        </a:lnSpc>
                        <a:buNone/>
                      </a:pPr>
                      <a:r>
                        <a:rPr lang="en-US" sz="1600">
                          <a:effectLst/>
                          <a:latin typeface="Times New Roman"/>
                          <a:cs typeface="Times New Roman"/>
                        </a:rPr>
                        <a:t>537</a:t>
                      </a:r>
                    </a:p>
                  </a:txBody>
                  <a:tcPr marT="34290" marB="34290" anchor="ctr"/>
                </a:tc>
                <a:tc>
                  <a:txBody>
                    <a:bodyPr/>
                    <a:lstStyle/>
                    <a:p>
                      <a:pPr algn="ctr" fontAlgn="base">
                        <a:lnSpc>
                          <a:spcPts val="1950"/>
                        </a:lnSpc>
                        <a:buNone/>
                      </a:pPr>
                      <a:r>
                        <a:rPr lang="en-US" sz="1600">
                          <a:effectLst/>
                          <a:latin typeface="Times New Roman"/>
                          <a:cs typeface="Times New Roman"/>
                        </a:rPr>
                        <a:t>E</a:t>
                      </a:r>
                      <a:endParaRPr lang="en-US">
                        <a:effectLst/>
                        <a:latin typeface="Times New Roman"/>
                        <a:cs typeface="Times New Roman"/>
                      </a:endParaRPr>
                    </a:p>
                  </a:txBody>
                  <a:tcPr marT="34290" marB="34290" anchor="ctr"/>
                </a:tc>
                <a:tc>
                  <a:txBody>
                    <a:bodyPr/>
                    <a:lstStyle/>
                    <a:p>
                      <a:pPr algn="ctr" fontAlgn="base">
                        <a:lnSpc>
                          <a:spcPts val="1950"/>
                        </a:lnSpc>
                        <a:buNone/>
                      </a:pPr>
                      <a:r>
                        <a:rPr lang="en-US" sz="1600">
                          <a:effectLst/>
                          <a:latin typeface="Times New Roman"/>
                          <a:cs typeface="Times New Roman"/>
                        </a:rPr>
                        <a:t>01FE23BEC271</a:t>
                      </a:r>
                      <a:endParaRPr lang="en-US">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1600">
                          <a:effectLst/>
                          <a:latin typeface="Times New Roman"/>
                          <a:cs typeface="Times New Roman"/>
                        </a:rPr>
                        <a:t>SATISH .B</a:t>
                      </a:r>
                    </a:p>
                  </a:txBody>
                  <a:tcPr marT="34290" marB="34290" anchor="ctr"/>
                </a:tc>
                <a:extLst>
                  <a:ext uri="{0D108BD9-81ED-4DB2-BD59-A6C34878D82A}">
                    <a16:rowId xmlns:a16="http://schemas.microsoft.com/office/drawing/2014/main" val="994987796"/>
                  </a:ext>
                </a:extLst>
              </a:tr>
            </a:tbl>
          </a:graphicData>
        </a:graphic>
      </p:graphicFrame>
    </p:spTree>
    <p:extLst>
      <p:ext uri="{BB962C8B-B14F-4D97-AF65-F5344CB8AC3E}">
        <p14:creationId xmlns:p14="http://schemas.microsoft.com/office/powerpoint/2010/main" val="233851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264A25A-22B6-FFE9-A699-E03D300D3189}"/>
              </a:ext>
            </a:extLst>
          </p:cNvPr>
          <p:cNvSpPr>
            <a:spLocks noGrp="1"/>
          </p:cNvSpPr>
          <p:nvPr>
            <p:ph type="dt" sz="half" idx="10"/>
          </p:nvPr>
        </p:nvSpPr>
        <p:spPr/>
        <p:txBody>
          <a:bodyPr/>
          <a:lstStyle/>
          <a:p>
            <a:fld id="{445ED85E-A9E3-445C-9F4C-8CD6FE4B0FE4}" type="datetime1">
              <a:rPr lang="en-US" smtClean="0"/>
              <a:t>6/3/2026</a:t>
            </a:fld>
            <a:endParaRPr lang="en-US"/>
          </a:p>
        </p:txBody>
      </p:sp>
      <p:sp>
        <p:nvSpPr>
          <p:cNvPr id="5" name="Footer Placeholder 4">
            <a:extLst>
              <a:ext uri="{FF2B5EF4-FFF2-40B4-BE49-F238E27FC236}">
                <a16:creationId xmlns:a16="http://schemas.microsoft.com/office/drawing/2014/main" id="{8192C487-169D-C2BD-A51A-48F1A4FA4F5C}"/>
              </a:ext>
            </a:extLst>
          </p:cNvPr>
          <p:cNvSpPr>
            <a:spLocks noGrp="1"/>
          </p:cNvSpPr>
          <p:nvPr>
            <p:ph type="ftr" sz="quarter" idx="11"/>
          </p:nvPr>
        </p:nvSpPr>
        <p:spPr/>
        <p:txBody>
          <a:bodyPr/>
          <a:lstStyle/>
          <a:p>
            <a:r>
              <a:rPr lang="en-US"/>
              <a:t>DEPARTMENT OF ECE</a:t>
            </a:r>
          </a:p>
        </p:txBody>
      </p:sp>
      <p:sp>
        <p:nvSpPr>
          <p:cNvPr id="6" name="Slide Number Placeholder 5">
            <a:extLst>
              <a:ext uri="{FF2B5EF4-FFF2-40B4-BE49-F238E27FC236}">
                <a16:creationId xmlns:a16="http://schemas.microsoft.com/office/drawing/2014/main" id="{395A282C-D55E-38B4-3FA2-04B0681438BB}"/>
              </a:ext>
            </a:extLst>
          </p:cNvPr>
          <p:cNvSpPr>
            <a:spLocks noGrp="1"/>
          </p:cNvSpPr>
          <p:nvPr>
            <p:ph type="sldNum" sz="quarter" idx="12"/>
          </p:nvPr>
        </p:nvSpPr>
        <p:spPr/>
        <p:txBody>
          <a:bodyPr/>
          <a:lstStyle/>
          <a:p>
            <a:fld id="{330EA680-D336-4FF7-8B7A-9848BB0A1C32}" type="slidenum">
              <a:rPr lang="en-US" smtClean="0"/>
              <a:t>2</a:t>
            </a:fld>
            <a:endParaRPr lang="en-US"/>
          </a:p>
        </p:txBody>
      </p:sp>
      <p:pic>
        <p:nvPicPr>
          <p:cNvPr id="1026" name="Picture 2" descr="KLE Technological University in Hubballi">
            <a:extLst>
              <a:ext uri="{FF2B5EF4-FFF2-40B4-BE49-F238E27FC236}">
                <a16:creationId xmlns:a16="http://schemas.microsoft.com/office/drawing/2014/main" id="{90AC194E-3D3C-6FAF-F85E-BBE427F383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537" y="0"/>
            <a:ext cx="2787463" cy="5020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FE6B2E1-585B-5B40-BB94-D72A44EADE35}"/>
              </a:ext>
            </a:extLst>
          </p:cNvPr>
          <p:cNvSpPr txBox="1"/>
          <p:nvPr/>
        </p:nvSpPr>
        <p:spPr>
          <a:xfrm>
            <a:off x="0" y="0"/>
            <a:ext cx="2191871" cy="338554"/>
          </a:xfrm>
          <a:prstGeom prst="rect">
            <a:avLst/>
          </a:prstGeom>
          <a:solidFill>
            <a:schemeClr val="tx2">
              <a:lumMod val="20000"/>
              <a:lumOff val="80000"/>
            </a:schemeClr>
          </a:solid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a:latin typeface="Times New Roman"/>
                <a:cs typeface="Times New Roman"/>
              </a:rPr>
              <a:t>GEN-AI (25EECC308)</a:t>
            </a:r>
          </a:p>
        </p:txBody>
      </p:sp>
      <p:sp>
        <p:nvSpPr>
          <p:cNvPr id="7" name="Title 1">
            <a:extLst>
              <a:ext uri="{FF2B5EF4-FFF2-40B4-BE49-F238E27FC236}">
                <a16:creationId xmlns:a16="http://schemas.microsoft.com/office/drawing/2014/main" id="{2D6200F2-674E-A86A-33BC-D4B4F177232E}"/>
              </a:ext>
            </a:extLst>
          </p:cNvPr>
          <p:cNvSpPr>
            <a:spLocks noGrp="1"/>
          </p:cNvSpPr>
          <p:nvPr/>
        </p:nvSpPr>
        <p:spPr>
          <a:xfrm>
            <a:off x="51829" y="502024"/>
            <a:ext cx="11492751" cy="5793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a:latin typeface="Times New Roman"/>
                <a:cs typeface="Times New Roman"/>
              </a:rPr>
              <a:t>PROBLEM STATEMENT :</a:t>
            </a:r>
            <a:endParaRPr lang="en-US"/>
          </a:p>
        </p:txBody>
      </p:sp>
      <p:sp>
        <p:nvSpPr>
          <p:cNvPr id="8" name="TextBox 10">
            <a:extLst>
              <a:ext uri="{FF2B5EF4-FFF2-40B4-BE49-F238E27FC236}">
                <a16:creationId xmlns:a16="http://schemas.microsoft.com/office/drawing/2014/main" id="{D1C9E2A7-6875-C94A-FA18-DB29595316A6}"/>
              </a:ext>
            </a:extLst>
          </p:cNvPr>
          <p:cNvSpPr txBox="1"/>
          <p:nvPr/>
        </p:nvSpPr>
        <p:spPr>
          <a:xfrm>
            <a:off x="0" y="1004048"/>
            <a:ext cx="12003741" cy="1046440"/>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buFont typeface="Wingdings" panose="05000000000000000000" pitchFamily="2" charset="2"/>
              <a:buChar char="Ø"/>
            </a:pPr>
            <a:r>
              <a:rPr lang="en-US" sz="2200">
                <a:latin typeface="Times New Roman" panose="02020603050405020304" pitchFamily="18" charset="0"/>
                <a:cs typeface="Times New Roman" panose="02020603050405020304" pitchFamily="18" charset="0"/>
              </a:rPr>
              <a:t> Development of an Image Inpainting System for Object Removal and Image Enhancement using pretrained Generative –AI models .</a:t>
            </a:r>
          </a:p>
          <a:p>
            <a:pPr marL="342900" indent="-342900" algn="just">
              <a:buFont typeface="Wingdings" panose="05000000000000000000" pitchFamily="2" charset="2"/>
              <a:buChar char="Ø"/>
            </a:pPr>
            <a:endParaRPr lang="en-US"/>
          </a:p>
        </p:txBody>
      </p:sp>
      <p:sp>
        <p:nvSpPr>
          <p:cNvPr id="9" name="Title 1">
            <a:extLst>
              <a:ext uri="{FF2B5EF4-FFF2-40B4-BE49-F238E27FC236}">
                <a16:creationId xmlns:a16="http://schemas.microsoft.com/office/drawing/2014/main" id="{D605C9A9-284A-899F-6D51-E16409832AAE}"/>
              </a:ext>
            </a:extLst>
          </p:cNvPr>
          <p:cNvSpPr txBox="1">
            <a:spLocks/>
          </p:cNvSpPr>
          <p:nvPr/>
        </p:nvSpPr>
        <p:spPr>
          <a:xfrm>
            <a:off x="51828" y="2088032"/>
            <a:ext cx="11492751" cy="806905"/>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2800" b="1">
                <a:latin typeface="Times New Roman" panose="02020603050405020304" pitchFamily="18" charset="0"/>
                <a:cs typeface="Times New Roman" panose="02020603050405020304" pitchFamily="18" charset="0"/>
              </a:rPr>
              <a:t>OBJECTIVES :</a:t>
            </a:r>
          </a:p>
          <a:p>
            <a:endParaRPr lang="en-IN" sz="2800" b="1">
              <a:latin typeface="Times New Roman" panose="02020603050405020304" pitchFamily="18" charset="0"/>
              <a:cs typeface="Times New Roman" panose="02020603050405020304" pitchFamily="18" charset="0"/>
            </a:endParaRPr>
          </a:p>
        </p:txBody>
      </p:sp>
      <p:graphicFrame>
        <p:nvGraphicFramePr>
          <p:cNvPr id="10" name="Diagram 9">
            <a:extLst>
              <a:ext uri="{FF2B5EF4-FFF2-40B4-BE49-F238E27FC236}">
                <a16:creationId xmlns:a16="http://schemas.microsoft.com/office/drawing/2014/main" id="{6858F668-4325-40C5-F12A-BDCFBF292F03}"/>
              </a:ext>
            </a:extLst>
          </p:cNvPr>
          <p:cNvGraphicFramePr/>
          <p:nvPr>
            <p:extLst>
              <p:ext uri="{D42A27DB-BD31-4B8C-83A1-F6EECF244321}">
                <p14:modId xmlns:p14="http://schemas.microsoft.com/office/powerpoint/2010/main" val="3920979372"/>
              </p:ext>
            </p:extLst>
          </p:nvPr>
        </p:nvGraphicFramePr>
        <p:xfrm>
          <a:off x="444168" y="2715982"/>
          <a:ext cx="11115403" cy="33970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83078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98C90-573C-4266-CAF5-458EFD1422D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55E3D8A-41AC-C22F-0B68-B640155F489D}"/>
              </a:ext>
            </a:extLst>
          </p:cNvPr>
          <p:cNvSpPr>
            <a:spLocks noGrp="1"/>
          </p:cNvSpPr>
          <p:nvPr>
            <p:ph type="dt" sz="half" idx="10"/>
          </p:nvPr>
        </p:nvSpPr>
        <p:spPr/>
        <p:txBody>
          <a:bodyPr/>
          <a:lstStyle/>
          <a:p>
            <a:fld id="{445ED85E-A9E3-445C-9F4C-8CD6FE4B0FE4}" type="datetime1">
              <a:rPr lang="en-US" smtClean="0"/>
              <a:t>6/3/2026</a:t>
            </a:fld>
            <a:endParaRPr lang="en-US"/>
          </a:p>
        </p:txBody>
      </p:sp>
      <p:sp>
        <p:nvSpPr>
          <p:cNvPr id="5" name="Footer Placeholder 4">
            <a:extLst>
              <a:ext uri="{FF2B5EF4-FFF2-40B4-BE49-F238E27FC236}">
                <a16:creationId xmlns:a16="http://schemas.microsoft.com/office/drawing/2014/main" id="{5F9046E8-3E65-D8ED-6124-A44A1ABF06F7}"/>
              </a:ext>
            </a:extLst>
          </p:cNvPr>
          <p:cNvSpPr>
            <a:spLocks noGrp="1"/>
          </p:cNvSpPr>
          <p:nvPr>
            <p:ph type="ftr" sz="quarter" idx="11"/>
          </p:nvPr>
        </p:nvSpPr>
        <p:spPr/>
        <p:txBody>
          <a:bodyPr/>
          <a:lstStyle/>
          <a:p>
            <a:r>
              <a:rPr lang="en-US"/>
              <a:t>DEPARTMENT OF ECE</a:t>
            </a:r>
          </a:p>
        </p:txBody>
      </p:sp>
      <p:sp>
        <p:nvSpPr>
          <p:cNvPr id="6" name="Slide Number Placeholder 5">
            <a:extLst>
              <a:ext uri="{FF2B5EF4-FFF2-40B4-BE49-F238E27FC236}">
                <a16:creationId xmlns:a16="http://schemas.microsoft.com/office/drawing/2014/main" id="{0103B1B4-4FCC-6041-AEFD-85EEC6BCD23A}"/>
              </a:ext>
            </a:extLst>
          </p:cNvPr>
          <p:cNvSpPr>
            <a:spLocks noGrp="1"/>
          </p:cNvSpPr>
          <p:nvPr>
            <p:ph type="sldNum" sz="quarter" idx="12"/>
          </p:nvPr>
        </p:nvSpPr>
        <p:spPr/>
        <p:txBody>
          <a:bodyPr/>
          <a:lstStyle/>
          <a:p>
            <a:fld id="{330EA680-D336-4FF7-8B7A-9848BB0A1C32}" type="slidenum">
              <a:rPr lang="en-US" smtClean="0"/>
              <a:t>3</a:t>
            </a:fld>
            <a:endParaRPr lang="en-US"/>
          </a:p>
        </p:txBody>
      </p:sp>
      <p:pic>
        <p:nvPicPr>
          <p:cNvPr id="1026" name="Picture 2" descr="KLE Technological University in Hubballi">
            <a:extLst>
              <a:ext uri="{FF2B5EF4-FFF2-40B4-BE49-F238E27FC236}">
                <a16:creationId xmlns:a16="http://schemas.microsoft.com/office/drawing/2014/main" id="{B447AAF8-F275-3F69-7232-F26DBA9787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537" y="0"/>
            <a:ext cx="2787463" cy="5020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A80131A-8EC5-C859-D073-895C6D67DE9C}"/>
              </a:ext>
            </a:extLst>
          </p:cNvPr>
          <p:cNvSpPr txBox="1"/>
          <p:nvPr/>
        </p:nvSpPr>
        <p:spPr>
          <a:xfrm>
            <a:off x="0" y="0"/>
            <a:ext cx="2191871" cy="338554"/>
          </a:xfrm>
          <a:prstGeom prst="rect">
            <a:avLst/>
          </a:prstGeom>
          <a:solidFill>
            <a:schemeClr val="tx2">
              <a:lumMod val="20000"/>
              <a:lumOff val="80000"/>
            </a:schemeClr>
          </a:solid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a:latin typeface="Times New Roman"/>
                <a:cs typeface="Times New Roman"/>
              </a:rPr>
              <a:t>GEN-AI (25EECC308)</a:t>
            </a:r>
          </a:p>
        </p:txBody>
      </p:sp>
      <p:graphicFrame>
        <p:nvGraphicFramePr>
          <p:cNvPr id="2" name="Table 1">
            <a:extLst>
              <a:ext uri="{FF2B5EF4-FFF2-40B4-BE49-F238E27FC236}">
                <a16:creationId xmlns:a16="http://schemas.microsoft.com/office/drawing/2014/main" id="{4B2531B0-4108-0ED4-9950-66996FD3983A}"/>
              </a:ext>
            </a:extLst>
          </p:cNvPr>
          <p:cNvGraphicFramePr>
            <a:graphicFrameLocks noGrp="1"/>
          </p:cNvGraphicFramePr>
          <p:nvPr>
            <p:extLst>
              <p:ext uri="{D42A27DB-BD31-4B8C-83A1-F6EECF244321}">
                <p14:modId xmlns:p14="http://schemas.microsoft.com/office/powerpoint/2010/main" val="2119655677"/>
              </p:ext>
            </p:extLst>
          </p:nvPr>
        </p:nvGraphicFramePr>
        <p:xfrm>
          <a:off x="224117" y="1503129"/>
          <a:ext cx="11573436" cy="4498543"/>
        </p:xfrm>
        <a:graphic>
          <a:graphicData uri="http://schemas.openxmlformats.org/drawingml/2006/table">
            <a:tbl>
              <a:tblPr firstRow="1" bandRow="1">
                <a:tableStyleId>{5C22544A-7EE6-4342-B048-85BDC9FD1C3A}</a:tableStyleId>
              </a:tblPr>
              <a:tblGrid>
                <a:gridCol w="2262887">
                  <a:extLst>
                    <a:ext uri="{9D8B030D-6E8A-4147-A177-3AD203B41FA5}">
                      <a16:colId xmlns:a16="http://schemas.microsoft.com/office/drawing/2014/main" val="3620595555"/>
                    </a:ext>
                  </a:extLst>
                </a:gridCol>
                <a:gridCol w="3979715">
                  <a:extLst>
                    <a:ext uri="{9D8B030D-6E8A-4147-A177-3AD203B41FA5}">
                      <a16:colId xmlns:a16="http://schemas.microsoft.com/office/drawing/2014/main" val="2492365039"/>
                    </a:ext>
                  </a:extLst>
                </a:gridCol>
                <a:gridCol w="2502240">
                  <a:extLst>
                    <a:ext uri="{9D8B030D-6E8A-4147-A177-3AD203B41FA5}">
                      <a16:colId xmlns:a16="http://schemas.microsoft.com/office/drawing/2014/main" val="1475525127"/>
                    </a:ext>
                  </a:extLst>
                </a:gridCol>
                <a:gridCol w="2828594">
                  <a:extLst>
                    <a:ext uri="{9D8B030D-6E8A-4147-A177-3AD203B41FA5}">
                      <a16:colId xmlns:a16="http://schemas.microsoft.com/office/drawing/2014/main" val="755714069"/>
                    </a:ext>
                  </a:extLst>
                </a:gridCol>
              </a:tblGrid>
              <a:tr h="387210">
                <a:tc>
                  <a:txBody>
                    <a:bodyPr/>
                    <a:lstStyle/>
                    <a:p>
                      <a:r>
                        <a:rPr lang="en-US">
                          <a:latin typeface="Times New Roman" panose="02020603050405020304" pitchFamily="18" charset="0"/>
                          <a:cs typeface="Times New Roman" panose="02020603050405020304" pitchFamily="18" charset="0"/>
                        </a:rPr>
                        <a:t>DATA</a:t>
                      </a:r>
                      <a:endParaRPr lang="en-IN">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MODEL</a:t>
                      </a:r>
                      <a:endParaRPr lang="en-IN">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RESULTS</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2065880"/>
                  </a:ext>
                </a:extLst>
              </a:tr>
              <a:tr h="4111333">
                <a:tc>
                  <a:txBody>
                    <a:bodyPr/>
                    <a:lstStyle/>
                    <a:p>
                      <a:pPr marL="285750" lvl="0" indent="-285750" algn="l">
                        <a:lnSpc>
                          <a:spcPct val="100000"/>
                        </a:lnSpc>
                        <a:spcBef>
                          <a:spcPts val="0"/>
                        </a:spcBef>
                        <a:spcAft>
                          <a:spcPts val="0"/>
                        </a:spcAft>
                        <a:buFont typeface="Arial"/>
                        <a:buChar char="•"/>
                      </a:pPr>
                      <a:r>
                        <a:rPr lang="en-US" sz="1800" b="0" i="0" u="none" strike="noStrike" noProof="0" err="1">
                          <a:solidFill>
                            <a:srgbClr val="000000"/>
                          </a:solidFill>
                          <a:latin typeface="Times New Roman" panose="02020603050405020304" pitchFamily="18" charset="0"/>
                          <a:cs typeface="Times New Roman" panose="02020603050405020304" pitchFamily="18" charset="0"/>
                        </a:rPr>
                        <a:t>CelebA</a:t>
                      </a:r>
                      <a:r>
                        <a:rPr lang="en-US" sz="1800" b="0" i="0" u="none" strike="noStrike" noProof="0">
                          <a:solidFill>
                            <a:srgbClr val="000000"/>
                          </a:solidFill>
                          <a:latin typeface="Times New Roman" panose="02020603050405020304" pitchFamily="18" charset="0"/>
                          <a:cs typeface="Times New Roman" panose="02020603050405020304" pitchFamily="18" charset="0"/>
                        </a:rPr>
                        <a:t>-HQ (High-quality face dataset)</a:t>
                      </a:r>
                    </a:p>
                    <a:p>
                      <a:pPr marL="285750" lvl="0" indent="-285750" algn="l">
                        <a:lnSpc>
                          <a:spcPct val="100000"/>
                        </a:lnSpc>
                        <a:spcBef>
                          <a:spcPts val="0"/>
                        </a:spcBef>
                        <a:spcAft>
                          <a:spcPts val="0"/>
                        </a:spcAft>
                        <a:buFont typeface="Arial"/>
                        <a:buChar char="•"/>
                      </a:pPr>
                      <a:endParaRPr lang="en-US" sz="1800" b="0" i="0" u="none" strike="noStrike" noProof="0">
                        <a:solidFill>
                          <a:srgbClr val="000000"/>
                        </a:solidFill>
                        <a:latin typeface="Times New Roman" panose="02020603050405020304" pitchFamily="18" charset="0"/>
                        <a:cs typeface="Times New Roman" panose="02020603050405020304" pitchFamily="18" charset="0"/>
                      </a:endParaRPr>
                    </a:p>
                    <a:p>
                      <a:pPr marL="285750" lvl="0" indent="-285750" algn="l">
                        <a:lnSpc>
                          <a:spcPct val="100000"/>
                        </a:lnSpc>
                        <a:spcBef>
                          <a:spcPts val="0"/>
                        </a:spcBef>
                        <a:spcAft>
                          <a:spcPts val="0"/>
                        </a:spcAft>
                        <a:buFont typeface="Arial"/>
                        <a:buChar char="•"/>
                      </a:pPr>
                      <a:r>
                        <a:rPr lang="en-US" sz="1800" b="0" i="0" u="none" strike="noStrike" noProof="0">
                          <a:solidFill>
                            <a:srgbClr val="000000"/>
                          </a:solidFill>
                          <a:latin typeface="Times New Roman" panose="02020603050405020304" pitchFamily="18" charset="0"/>
                          <a:cs typeface="Times New Roman" panose="02020603050405020304" pitchFamily="18" charset="0"/>
                        </a:rPr>
                        <a:t>Image size: 256 × 256</a:t>
                      </a:r>
                    </a:p>
                    <a:p>
                      <a:pPr marL="285750" lvl="0" indent="-285750" algn="l">
                        <a:lnSpc>
                          <a:spcPct val="100000"/>
                        </a:lnSpc>
                        <a:spcBef>
                          <a:spcPts val="0"/>
                        </a:spcBef>
                        <a:spcAft>
                          <a:spcPts val="0"/>
                        </a:spcAft>
                        <a:buFont typeface="Arial"/>
                        <a:buChar char="•"/>
                      </a:pPr>
                      <a:endParaRPr lang="en-US" sz="1800" b="0" i="0" u="none" strike="noStrike" noProof="0">
                        <a:solidFill>
                          <a:srgbClr val="000000"/>
                        </a:solidFill>
                        <a:latin typeface="Times New Roman" panose="02020603050405020304" pitchFamily="18" charset="0"/>
                        <a:cs typeface="Times New Roman" panose="02020603050405020304" pitchFamily="18" charset="0"/>
                      </a:endParaRPr>
                    </a:p>
                    <a:p>
                      <a:pPr marL="285750" lvl="0" indent="-285750" algn="l">
                        <a:lnSpc>
                          <a:spcPct val="100000"/>
                        </a:lnSpc>
                        <a:spcBef>
                          <a:spcPts val="0"/>
                        </a:spcBef>
                        <a:spcAft>
                          <a:spcPts val="0"/>
                        </a:spcAft>
                        <a:buFont typeface="Arial"/>
                        <a:buChar char="•"/>
                      </a:pPr>
                      <a:r>
                        <a:rPr lang="en-US" sz="1800" b="0" i="0" u="none" strike="noStrike" noProof="0">
                          <a:solidFill>
                            <a:srgbClr val="000000"/>
                          </a:solidFill>
                          <a:latin typeface="Times New Roman" panose="02020603050405020304" pitchFamily="18" charset="0"/>
                          <a:cs typeface="Times New Roman" panose="02020603050405020304" pitchFamily="18" charset="0"/>
                        </a:rPr>
                        <a:t>Training set: 24,102 images</a:t>
                      </a:r>
                    </a:p>
                    <a:p>
                      <a:pPr marL="285750" lvl="0" indent="-285750" algn="l">
                        <a:lnSpc>
                          <a:spcPct val="100000"/>
                        </a:lnSpc>
                        <a:spcBef>
                          <a:spcPts val="0"/>
                        </a:spcBef>
                        <a:spcAft>
                          <a:spcPts val="0"/>
                        </a:spcAft>
                        <a:buFont typeface="Arial"/>
                        <a:buChar char="•"/>
                      </a:pPr>
                      <a:endParaRPr lang="en-US" sz="1800" b="0" i="0" u="none" strike="noStrike" noProof="0">
                        <a:solidFill>
                          <a:srgbClr val="000000"/>
                        </a:solidFill>
                        <a:latin typeface="Times New Roman" panose="02020603050405020304" pitchFamily="18" charset="0"/>
                        <a:cs typeface="Times New Roman" panose="02020603050405020304" pitchFamily="18" charset="0"/>
                      </a:endParaRPr>
                    </a:p>
                    <a:p>
                      <a:pPr marL="285750" lvl="0" indent="-285750">
                        <a:buFont typeface="Arial"/>
                        <a:buChar char="•"/>
                      </a:pPr>
                      <a:r>
                        <a:rPr lang="en-US" sz="1800" b="0" i="0" u="none" strike="noStrike" noProof="0">
                          <a:solidFill>
                            <a:srgbClr val="000000"/>
                          </a:solidFill>
                          <a:latin typeface="Times New Roman" panose="02020603050405020304" pitchFamily="18" charset="0"/>
                          <a:cs typeface="Times New Roman" panose="02020603050405020304" pitchFamily="18" charset="0"/>
                        </a:rPr>
                        <a:t>Test set: 2,942 images</a:t>
                      </a:r>
                    </a:p>
                    <a:p>
                      <a:pPr marL="285750" lvl="0" indent="-285750" algn="l">
                        <a:lnSpc>
                          <a:spcPct val="100000"/>
                        </a:lnSpc>
                        <a:spcBef>
                          <a:spcPts val="0"/>
                        </a:spcBef>
                        <a:spcAft>
                          <a:spcPts val="0"/>
                        </a:spcAft>
                        <a:buFont typeface="Arial"/>
                        <a:buChar char="•"/>
                      </a:pPr>
                      <a:endParaRPr lang="en-US" sz="1800" b="0" i="0" u="none" strike="noStrike" noProof="0">
                        <a:latin typeface="Times New Roman" panose="02020603050405020304" pitchFamily="18" charset="0"/>
                        <a:cs typeface="Times New Roman" panose="02020603050405020304" pitchFamily="18" charset="0"/>
                      </a:endParaRPr>
                    </a:p>
                  </a:txBody>
                  <a:tcPr/>
                </a:tc>
                <a:tc>
                  <a:txBody>
                    <a:bodyPr/>
                    <a:lstStyle/>
                    <a:p>
                      <a:pPr marL="285750" lvl="0" indent="-285750" algn="just">
                        <a:lnSpc>
                          <a:spcPct val="100000"/>
                        </a:lnSpc>
                        <a:spcBef>
                          <a:spcPts val="0"/>
                        </a:spcBef>
                        <a:spcAft>
                          <a:spcPts val="0"/>
                        </a:spcAft>
                        <a:buFont typeface="Arial"/>
                        <a:buChar char="•"/>
                      </a:pPr>
                      <a:r>
                        <a:rPr lang="en-IN" sz="1800" b="0" i="0" u="none" strike="noStrike" noProof="0">
                          <a:latin typeface="Times New Roman" panose="02020603050405020304" pitchFamily="18" charset="0"/>
                          <a:cs typeface="Times New Roman" panose="02020603050405020304" pitchFamily="18" charset="0"/>
                        </a:rPr>
                        <a:t>Generator: Autoencoder (256×256 face + mask input)</a:t>
                      </a:r>
                      <a:endParaRPr lang="en-IN" sz="1800">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panose="05000000000000000000" pitchFamily="2" charset="2"/>
                        <a:buChar char="•"/>
                      </a:pPr>
                      <a:endParaRPr lang="en-IN">
                        <a:latin typeface="Times New Roman" panose="02020603050405020304" pitchFamily="18" charset="0"/>
                        <a:cs typeface="Times New Roman" panose="02020603050405020304" pitchFamily="18" charset="0"/>
                      </a:endParaRPr>
                    </a:p>
                    <a:p>
                      <a:pPr marL="285750" lvl="0" indent="-285750" algn="just">
                        <a:lnSpc>
                          <a:spcPct val="100000"/>
                        </a:lnSpc>
                        <a:spcBef>
                          <a:spcPts val="0"/>
                        </a:spcBef>
                        <a:spcAft>
                          <a:spcPts val="0"/>
                        </a:spcAft>
                        <a:buFont typeface="Arial"/>
                        <a:buChar char="•"/>
                      </a:pPr>
                      <a:r>
                        <a:rPr lang="en-IN" sz="1800" b="0" i="0" u="none" strike="noStrike" noProof="0">
                          <a:latin typeface="Times New Roman" panose="02020603050405020304" pitchFamily="18" charset="0"/>
                          <a:cs typeface="Times New Roman" panose="02020603050405020304" pitchFamily="18" charset="0"/>
                        </a:rPr>
                        <a:t>Discriminator: Evaluates full image realism (WGAN-GP)</a:t>
                      </a:r>
                      <a:endParaRPr lang="en-IN">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panose="05000000000000000000" pitchFamily="2" charset="2"/>
                        <a:buChar char="•"/>
                      </a:pPr>
                      <a:endParaRPr lang="en-IN">
                        <a:latin typeface="Times New Roman" panose="02020603050405020304" pitchFamily="18" charset="0"/>
                        <a:cs typeface="Times New Roman" panose="02020603050405020304" pitchFamily="18" charset="0"/>
                      </a:endParaRPr>
                    </a:p>
                    <a:p>
                      <a:pPr marL="285750" lvl="0" indent="-285750" algn="just">
                        <a:buFont typeface="Arial"/>
                        <a:buChar char="•"/>
                      </a:pPr>
                      <a:r>
                        <a:rPr lang="en-IN" sz="1800" b="0" i="0" u="none" strike="noStrike" noProof="0">
                          <a:latin typeface="Times New Roman" panose="02020603050405020304" pitchFamily="18" charset="0"/>
                          <a:cs typeface="Times New Roman" panose="02020603050405020304" pitchFamily="18" charset="0"/>
                        </a:rPr>
                        <a:t>Matcher: Critiques masked region consistency.</a:t>
                      </a:r>
                      <a:endParaRPr lang="en-IN">
                        <a:latin typeface="Times New Roman" panose="02020603050405020304" pitchFamily="18" charset="0"/>
                        <a:cs typeface="Times New Roman" panose="02020603050405020304" pitchFamily="18" charset="0"/>
                      </a:endParaRPr>
                    </a:p>
                  </a:txBody>
                  <a:tcPr/>
                </a:tc>
                <a:tc>
                  <a:txBody>
                    <a:bodyPr/>
                    <a:lstStyle/>
                    <a:p>
                      <a:pPr marL="285750" lvl="0" indent="-285750" algn="l">
                        <a:lnSpc>
                          <a:spcPct val="100000"/>
                        </a:lnSpc>
                        <a:spcBef>
                          <a:spcPts val="0"/>
                        </a:spcBef>
                        <a:spcAft>
                          <a:spcPts val="0"/>
                        </a:spcAft>
                        <a:buFont typeface="Arial"/>
                        <a:buChar char="•"/>
                      </a:pPr>
                      <a:r>
                        <a:rPr lang="en-US" b="0" i="0" u="none" strike="noStrike" noProof="0">
                          <a:latin typeface="Times New Roman" panose="02020603050405020304" pitchFamily="18" charset="0"/>
                          <a:cs typeface="Times New Roman" panose="02020603050405020304" pitchFamily="18" charset="0"/>
                        </a:rPr>
                        <a:t>EG-GAN (Evolutionary Generator GAN)</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endParaRPr lang="en-US">
                        <a:latin typeface="Times New Roman" panose="02020603050405020304" pitchFamily="18" charset="0"/>
                        <a:cs typeface="Times New Roman" panose="02020603050405020304" pitchFamily="18" charset="0"/>
                      </a:endParaRPr>
                    </a:p>
                    <a:p>
                      <a:pPr marL="285750" lvl="0" indent="-285750" algn="l">
                        <a:lnSpc>
                          <a:spcPct val="100000"/>
                        </a:lnSpc>
                        <a:spcBef>
                          <a:spcPts val="0"/>
                        </a:spcBef>
                        <a:spcAft>
                          <a:spcPts val="0"/>
                        </a:spcAft>
                        <a:buFont typeface="Arial"/>
                        <a:buChar char="•"/>
                      </a:pPr>
                      <a:r>
                        <a:rPr lang="en-US" b="0" i="0" u="none" strike="noStrike" noProof="0">
                          <a:latin typeface="Times New Roman" panose="02020603050405020304" pitchFamily="18" charset="0"/>
                          <a:cs typeface="Times New Roman" panose="02020603050405020304" pitchFamily="18" charset="0"/>
                        </a:rPr>
                        <a:t>Designed specifically for face image inpainting</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endParaRPr lang="en-US">
                        <a:latin typeface="Times New Roman" panose="02020603050405020304" pitchFamily="18" charset="0"/>
                        <a:cs typeface="Times New Roman" panose="02020603050405020304" pitchFamily="18" charset="0"/>
                      </a:endParaRPr>
                    </a:p>
                    <a:p>
                      <a:pPr marL="285750" lvl="0" indent="-285750">
                        <a:buFont typeface="Arial"/>
                        <a:buChar char="•"/>
                      </a:pPr>
                      <a:r>
                        <a:rPr lang="en-US" b="0" i="0" u="none" strike="noStrike" noProof="0">
                          <a:latin typeface="Times New Roman" panose="02020603050405020304" pitchFamily="18" charset="0"/>
                          <a:cs typeface="Times New Roman" panose="02020603050405020304" pitchFamily="18" charset="0"/>
                        </a:rPr>
                        <a:t>Inspired by neuro-evolution and traditional GAN structure</a:t>
                      </a:r>
                      <a:endParaRPr lang="en-US">
                        <a:latin typeface="Times New Roman" panose="02020603050405020304" pitchFamily="18" charset="0"/>
                        <a:cs typeface="Times New Roman" panose="02020603050405020304" pitchFamily="18" charset="0"/>
                      </a:endParaRPr>
                    </a:p>
                  </a:txBody>
                  <a:tcPr/>
                </a:tc>
                <a:tc>
                  <a:txBody>
                    <a:bodyPr/>
                    <a:lstStyle/>
                    <a:p>
                      <a:pPr marL="285750" lvl="0" indent="-285750" algn="l">
                        <a:lnSpc>
                          <a:spcPct val="100000"/>
                        </a:lnSpc>
                        <a:spcBef>
                          <a:spcPts val="0"/>
                        </a:spcBef>
                        <a:spcAft>
                          <a:spcPts val="0"/>
                        </a:spcAft>
                        <a:buFont typeface="Arial"/>
                        <a:buChar char="•"/>
                      </a:pPr>
                      <a:r>
                        <a:rPr lang="en-US" b="0" i="0" u="none" strike="noStrike" noProof="0">
                          <a:latin typeface="Times New Roman" panose="02020603050405020304" pitchFamily="18" charset="0"/>
                          <a:cs typeface="Times New Roman" panose="02020603050405020304" pitchFamily="18" charset="0"/>
                        </a:rPr>
                        <a:t>PSNR (Peak Signal-to-Noise Ratio): Higher values indicate better pixel-level reconstruction accuracy.</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endParaRPr lang="en-US">
                        <a:latin typeface="Times New Roman" panose="02020603050405020304" pitchFamily="18" charset="0"/>
                        <a:cs typeface="Times New Roman" panose="02020603050405020304" pitchFamily="18" charset="0"/>
                      </a:endParaRPr>
                    </a:p>
                    <a:p>
                      <a:pPr marL="285750" lvl="0" indent="-285750">
                        <a:buFont typeface="Arial"/>
                        <a:buChar char="•"/>
                      </a:pPr>
                      <a:r>
                        <a:rPr lang="en-US" b="0" i="0" u="none" strike="noStrike" noProof="0">
                          <a:latin typeface="Times New Roman" panose="02020603050405020304" pitchFamily="18" charset="0"/>
                          <a:cs typeface="Times New Roman" panose="02020603050405020304" pitchFamily="18" charset="0"/>
                        </a:rPr>
                        <a:t>SSIM (Structural Similarity Index): Higher values reflect better perceptual and structural similarity to the original image.</a:t>
                      </a:r>
                      <a:endParaRPr lang="en-US">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53444152"/>
                  </a:ext>
                </a:extLst>
              </a:tr>
            </a:tbl>
          </a:graphicData>
        </a:graphic>
      </p:graphicFrame>
      <p:sp>
        <p:nvSpPr>
          <p:cNvPr id="7" name="Title 1">
            <a:extLst>
              <a:ext uri="{FF2B5EF4-FFF2-40B4-BE49-F238E27FC236}">
                <a16:creationId xmlns:a16="http://schemas.microsoft.com/office/drawing/2014/main" id="{6245C0DE-00AA-D1ED-9ECD-24884EE81317}"/>
              </a:ext>
            </a:extLst>
          </p:cNvPr>
          <p:cNvSpPr>
            <a:spLocks noGrp="1"/>
          </p:cNvSpPr>
          <p:nvPr/>
        </p:nvSpPr>
        <p:spPr>
          <a:xfrm>
            <a:off x="51829" y="338554"/>
            <a:ext cx="11492751" cy="5793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a:latin typeface="Times New Roman" panose="02020603050405020304" pitchFamily="18" charset="0"/>
                <a:cs typeface="Times New Roman" panose="02020603050405020304" pitchFamily="18" charset="0"/>
              </a:rPr>
              <a:t>LITERATURE SURVEY :</a:t>
            </a:r>
          </a:p>
        </p:txBody>
      </p:sp>
      <p:sp>
        <p:nvSpPr>
          <p:cNvPr id="8" name="TextBox 7">
            <a:extLst>
              <a:ext uri="{FF2B5EF4-FFF2-40B4-BE49-F238E27FC236}">
                <a16:creationId xmlns:a16="http://schemas.microsoft.com/office/drawing/2014/main" id="{92373D6F-E37C-961C-7382-58B9E46EC1A1}"/>
              </a:ext>
            </a:extLst>
          </p:cNvPr>
          <p:cNvSpPr txBox="1"/>
          <p:nvPr/>
        </p:nvSpPr>
        <p:spPr>
          <a:xfrm>
            <a:off x="0" y="925680"/>
            <a:ext cx="11487150" cy="400110"/>
          </a:xfrm>
          <a:prstGeom prst="rect">
            <a:avLst/>
          </a:prstGeom>
          <a:noFill/>
        </p:spPr>
        <p:txBody>
          <a:bodyPr wrap="square" lIns="91440" tIns="45720" rIns="91440" bIns="45720" rtlCol="0" anchor="t">
            <a:spAutoFit/>
          </a:bodyPr>
          <a:lstStyle/>
          <a:p>
            <a:pPr algn="just"/>
            <a:r>
              <a:rPr lang="en-US" sz="2000" b="1">
                <a:latin typeface="Times New Roman" panose="02020603050405020304" pitchFamily="18" charset="0"/>
                <a:cs typeface="Times New Roman" panose="02020603050405020304" pitchFamily="18" charset="0"/>
              </a:rPr>
              <a:t> 1.</a:t>
            </a:r>
            <a:r>
              <a:rPr lang="en-IN" sz="2000" b="1">
                <a:latin typeface="Times New Roman" panose="02020603050405020304" pitchFamily="18" charset="0"/>
                <a:ea typeface="Calibri"/>
                <a:cs typeface="Times New Roman" panose="02020603050405020304" pitchFamily="18" charset="0"/>
              </a:rPr>
              <a:t>Face Image Inpainting with Evolutionary Generators.</a:t>
            </a:r>
            <a:endParaRPr lang="en-US" sz="2000" b="1">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1220851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EEEBE-194A-ADEA-D4D7-055C559BD7F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48800D1-C1DA-9ACA-2025-0BB66D7C3489}"/>
              </a:ext>
            </a:extLst>
          </p:cNvPr>
          <p:cNvSpPr>
            <a:spLocks noGrp="1"/>
          </p:cNvSpPr>
          <p:nvPr>
            <p:ph type="dt" sz="half" idx="10"/>
          </p:nvPr>
        </p:nvSpPr>
        <p:spPr/>
        <p:txBody>
          <a:bodyPr/>
          <a:lstStyle/>
          <a:p>
            <a:fld id="{445ED85E-A9E3-445C-9F4C-8CD6FE4B0FE4}" type="datetime1">
              <a:rPr lang="en-US" smtClean="0"/>
              <a:t>6/3/2026</a:t>
            </a:fld>
            <a:endParaRPr lang="en-US"/>
          </a:p>
        </p:txBody>
      </p:sp>
      <p:sp>
        <p:nvSpPr>
          <p:cNvPr id="5" name="Footer Placeholder 4">
            <a:extLst>
              <a:ext uri="{FF2B5EF4-FFF2-40B4-BE49-F238E27FC236}">
                <a16:creationId xmlns:a16="http://schemas.microsoft.com/office/drawing/2014/main" id="{48468D1A-F065-97D4-98A3-2268CCAFC56A}"/>
              </a:ext>
            </a:extLst>
          </p:cNvPr>
          <p:cNvSpPr>
            <a:spLocks noGrp="1"/>
          </p:cNvSpPr>
          <p:nvPr>
            <p:ph type="ftr" sz="quarter" idx="11"/>
          </p:nvPr>
        </p:nvSpPr>
        <p:spPr/>
        <p:txBody>
          <a:bodyPr/>
          <a:lstStyle/>
          <a:p>
            <a:r>
              <a:rPr lang="en-US"/>
              <a:t>DEPARTMENT OF ECE</a:t>
            </a:r>
          </a:p>
        </p:txBody>
      </p:sp>
      <p:sp>
        <p:nvSpPr>
          <p:cNvPr id="6" name="Slide Number Placeholder 5">
            <a:extLst>
              <a:ext uri="{FF2B5EF4-FFF2-40B4-BE49-F238E27FC236}">
                <a16:creationId xmlns:a16="http://schemas.microsoft.com/office/drawing/2014/main" id="{B3298970-F6AE-2FDE-93B7-E51C28BF0C2F}"/>
              </a:ext>
            </a:extLst>
          </p:cNvPr>
          <p:cNvSpPr>
            <a:spLocks noGrp="1"/>
          </p:cNvSpPr>
          <p:nvPr>
            <p:ph type="sldNum" sz="quarter" idx="12"/>
          </p:nvPr>
        </p:nvSpPr>
        <p:spPr/>
        <p:txBody>
          <a:bodyPr/>
          <a:lstStyle/>
          <a:p>
            <a:fld id="{330EA680-D336-4FF7-8B7A-9848BB0A1C32}" type="slidenum">
              <a:rPr lang="en-US" smtClean="0"/>
              <a:t>4</a:t>
            </a:fld>
            <a:endParaRPr lang="en-US"/>
          </a:p>
        </p:txBody>
      </p:sp>
      <p:pic>
        <p:nvPicPr>
          <p:cNvPr id="1026" name="Picture 2" descr="KLE Technological University in Hubballi">
            <a:extLst>
              <a:ext uri="{FF2B5EF4-FFF2-40B4-BE49-F238E27FC236}">
                <a16:creationId xmlns:a16="http://schemas.microsoft.com/office/drawing/2014/main" id="{6D848F70-6606-FD63-8869-474FF8174A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537" y="0"/>
            <a:ext cx="2787463" cy="5020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00418DB-3C64-BFB2-F52D-7BF0E8C369F9}"/>
              </a:ext>
            </a:extLst>
          </p:cNvPr>
          <p:cNvSpPr txBox="1"/>
          <p:nvPr/>
        </p:nvSpPr>
        <p:spPr>
          <a:xfrm>
            <a:off x="0" y="0"/>
            <a:ext cx="2191871" cy="338554"/>
          </a:xfrm>
          <a:prstGeom prst="rect">
            <a:avLst/>
          </a:prstGeom>
          <a:solidFill>
            <a:schemeClr val="tx2">
              <a:lumMod val="20000"/>
              <a:lumOff val="80000"/>
            </a:schemeClr>
          </a:solid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a:latin typeface="Times New Roman"/>
                <a:cs typeface="Times New Roman"/>
              </a:rPr>
              <a:t>GEN-AI (25EECC308)</a:t>
            </a:r>
          </a:p>
        </p:txBody>
      </p:sp>
      <p:sp>
        <p:nvSpPr>
          <p:cNvPr id="2" name="TextBox 1">
            <a:extLst>
              <a:ext uri="{FF2B5EF4-FFF2-40B4-BE49-F238E27FC236}">
                <a16:creationId xmlns:a16="http://schemas.microsoft.com/office/drawing/2014/main" id="{6F4895D6-7047-3C61-FEA2-4EEFEEB70966}"/>
              </a:ext>
            </a:extLst>
          </p:cNvPr>
          <p:cNvSpPr txBox="1"/>
          <p:nvPr/>
        </p:nvSpPr>
        <p:spPr>
          <a:xfrm>
            <a:off x="0" y="502024"/>
            <a:ext cx="11487150" cy="400110"/>
          </a:xfrm>
          <a:prstGeom prst="rect">
            <a:avLst/>
          </a:prstGeom>
          <a:noFill/>
        </p:spPr>
        <p:txBody>
          <a:bodyPr wrap="square" lIns="91440" tIns="45720" rIns="91440" bIns="45720" rtlCol="0" anchor="t">
            <a:spAutoFit/>
          </a:bodyPr>
          <a:lstStyle/>
          <a:p>
            <a:pPr algn="just"/>
            <a:r>
              <a:rPr lang="en-US" sz="2000" b="1">
                <a:latin typeface="Times New Roman" panose="02020603050405020304" pitchFamily="18" charset="0"/>
                <a:cs typeface="Times New Roman" panose="02020603050405020304" pitchFamily="18" charset="0"/>
              </a:rPr>
              <a:t>2. </a:t>
            </a:r>
            <a:r>
              <a:rPr lang="en-US" sz="2000" b="1">
                <a:latin typeface="Times New Roman" panose="02020603050405020304" pitchFamily="18" charset="0"/>
                <a:ea typeface="Calibri"/>
                <a:cs typeface="Times New Roman" panose="02020603050405020304" pitchFamily="18" charset="0"/>
              </a:rPr>
              <a:t>Object Removal and Inpainting from Image using combined GAN’s.</a:t>
            </a:r>
          </a:p>
        </p:txBody>
      </p:sp>
      <p:graphicFrame>
        <p:nvGraphicFramePr>
          <p:cNvPr id="7" name="Table 6">
            <a:extLst>
              <a:ext uri="{FF2B5EF4-FFF2-40B4-BE49-F238E27FC236}">
                <a16:creationId xmlns:a16="http://schemas.microsoft.com/office/drawing/2014/main" id="{0E32A98F-B38A-D5B4-F372-59EFE463A9F5}"/>
              </a:ext>
            </a:extLst>
          </p:cNvPr>
          <p:cNvGraphicFramePr>
            <a:graphicFrameLocks noGrp="1"/>
          </p:cNvGraphicFramePr>
          <p:nvPr>
            <p:extLst>
              <p:ext uri="{D42A27DB-BD31-4B8C-83A1-F6EECF244321}">
                <p14:modId xmlns:p14="http://schemas.microsoft.com/office/powerpoint/2010/main" val="2342652784"/>
              </p:ext>
            </p:extLst>
          </p:nvPr>
        </p:nvGraphicFramePr>
        <p:xfrm>
          <a:off x="316749" y="1004048"/>
          <a:ext cx="11684007" cy="5669280"/>
        </p:xfrm>
        <a:graphic>
          <a:graphicData uri="http://schemas.openxmlformats.org/drawingml/2006/table">
            <a:tbl>
              <a:tblPr firstRow="1" bandRow="1">
                <a:tableStyleId>{5C22544A-7EE6-4342-B048-85BDC9FD1C3A}</a:tableStyleId>
              </a:tblPr>
              <a:tblGrid>
                <a:gridCol w="1649937">
                  <a:extLst>
                    <a:ext uri="{9D8B030D-6E8A-4147-A177-3AD203B41FA5}">
                      <a16:colId xmlns:a16="http://schemas.microsoft.com/office/drawing/2014/main" val="3620595555"/>
                    </a:ext>
                  </a:extLst>
                </a:gridCol>
                <a:gridCol w="3568751">
                  <a:extLst>
                    <a:ext uri="{9D8B030D-6E8A-4147-A177-3AD203B41FA5}">
                      <a16:colId xmlns:a16="http://schemas.microsoft.com/office/drawing/2014/main" val="2492365039"/>
                    </a:ext>
                  </a:extLst>
                </a:gridCol>
                <a:gridCol w="3104325">
                  <a:extLst>
                    <a:ext uri="{9D8B030D-6E8A-4147-A177-3AD203B41FA5}">
                      <a16:colId xmlns:a16="http://schemas.microsoft.com/office/drawing/2014/main" val="1475525127"/>
                    </a:ext>
                  </a:extLst>
                </a:gridCol>
                <a:gridCol w="3360994">
                  <a:extLst>
                    <a:ext uri="{9D8B030D-6E8A-4147-A177-3AD203B41FA5}">
                      <a16:colId xmlns:a16="http://schemas.microsoft.com/office/drawing/2014/main" val="755714069"/>
                    </a:ext>
                  </a:extLst>
                </a:gridCol>
              </a:tblGrid>
              <a:tr h="342179">
                <a:tc>
                  <a:txBody>
                    <a:bodyPr/>
                    <a:lstStyle/>
                    <a:p>
                      <a:r>
                        <a:rPr lang="en-US">
                          <a:latin typeface="Times New Roman" panose="02020603050405020304" pitchFamily="18" charset="0"/>
                          <a:cs typeface="Times New Roman" panose="02020603050405020304" pitchFamily="18" charset="0"/>
                        </a:rPr>
                        <a:t>DATA</a:t>
                      </a:r>
                      <a:endParaRPr lang="en-IN">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METHODOLOGY</a:t>
                      </a:r>
                      <a:endParaRPr lang="en-IN">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MODEL</a:t>
                      </a:r>
                      <a:endParaRPr lang="en-IN">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RESULTS</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2065880"/>
                  </a:ext>
                </a:extLst>
              </a:tr>
              <a:tr h="4961602">
                <a:tc>
                  <a:txBody>
                    <a:bodyPr/>
                    <a:lstStyle/>
                    <a:p>
                      <a:pPr marL="0" lvl="0" indent="0" algn="l">
                        <a:lnSpc>
                          <a:spcPct val="100000"/>
                        </a:lnSpc>
                        <a:spcBef>
                          <a:spcPts val="0"/>
                        </a:spcBef>
                        <a:spcAft>
                          <a:spcPts val="0"/>
                        </a:spcAft>
                        <a:buFont typeface="Arial" panose="05000000000000000000" pitchFamily="2" charset="2"/>
                        <a:buChar char="•"/>
                      </a:pPr>
                      <a:r>
                        <a:rPr lang="en-US" sz="1800" b="0" i="0" u="none" strike="noStrike" noProof="0" err="1">
                          <a:latin typeface="Times New Roman" panose="02020603050405020304" pitchFamily="18" charset="0"/>
                          <a:cs typeface="Times New Roman" panose="02020603050405020304" pitchFamily="18" charset="0"/>
                        </a:rPr>
                        <a:t>CityScapes</a:t>
                      </a:r>
                      <a:r>
                        <a:rPr lang="en-US" sz="1800" b="0" i="0" u="none" strike="noStrike" noProof="0">
                          <a:latin typeface="Times New Roman" panose="02020603050405020304" pitchFamily="18" charset="0"/>
                          <a:cs typeface="Times New Roman" panose="02020603050405020304" pitchFamily="18" charset="0"/>
                        </a:rPr>
                        <a:t> Dataset:</a:t>
                      </a:r>
                      <a:endParaRPr lang="en-US" sz="1800">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r>
                        <a:rPr lang="en-US" sz="1800" b="0" i="0" u="none" strike="noStrike" noProof="0">
                          <a:latin typeface="Times New Roman" panose="02020603050405020304" pitchFamily="18" charset="0"/>
                          <a:cs typeface="Times New Roman" panose="02020603050405020304" pitchFamily="18" charset="0"/>
                        </a:rPr>
                        <a:t>Focused on urban street scenes.</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r>
                        <a:rPr lang="en-US" sz="1800" b="0" i="0" u="none" strike="noStrike" noProof="0">
                          <a:latin typeface="Times New Roman" panose="02020603050405020304" pitchFamily="18" charset="0"/>
                          <a:cs typeface="Times New Roman" panose="02020603050405020304" pitchFamily="18" charset="0"/>
                        </a:rPr>
                        <a:t>Contains 5,000 fine-annotated images.</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r>
                        <a:rPr lang="en-US" sz="1800" b="0" i="0" u="none" strike="noStrike" noProof="0">
                          <a:latin typeface="Times New Roman" panose="02020603050405020304" pitchFamily="18" charset="0"/>
                          <a:cs typeface="Times New Roman" panose="02020603050405020304" pitchFamily="18" charset="0"/>
                        </a:rPr>
                        <a:t>Used 2,975 images for training and 500 for testing.</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None/>
                      </a:pPr>
                      <a:endParaRPr lang="en-US" sz="1800" b="0" i="0" u="none" strike="noStrike" noProof="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
                      </a:pPr>
                      <a:endParaRPr lang="en-US" sz="1800">
                        <a:latin typeface="Times New Roman" panose="02020603050405020304" pitchFamily="18" charset="0"/>
                        <a:cs typeface="Times New Roman" panose="02020603050405020304" pitchFamily="18" charset="0"/>
                      </a:endParaRPr>
                    </a:p>
                    <a:p>
                      <a:endParaRPr lang="en-IN" sz="1600">
                        <a:latin typeface="Times New Roman" panose="02020603050405020304" pitchFamily="18" charset="0"/>
                        <a:cs typeface="Times New Roman" panose="02020603050405020304" pitchFamily="18" charset="0"/>
                      </a:endParaRPr>
                    </a:p>
                  </a:txBody>
                  <a:tcPr/>
                </a:tc>
                <a:tc>
                  <a:txBody>
                    <a:bodyPr/>
                    <a:lstStyle/>
                    <a:p>
                      <a:pPr marL="0" lvl="0" indent="0" algn="just">
                        <a:lnSpc>
                          <a:spcPct val="100000"/>
                        </a:lnSpc>
                        <a:spcBef>
                          <a:spcPts val="0"/>
                        </a:spcBef>
                        <a:spcAft>
                          <a:spcPts val="0"/>
                        </a:spcAft>
                        <a:buFont typeface="Arial" panose="05000000000000000000" pitchFamily="2" charset="2"/>
                        <a:buChar char="•"/>
                      </a:pPr>
                      <a:r>
                        <a:rPr lang="en-IN" sz="1800" b="0" i="0" u="none" strike="noStrike" noProof="0">
                          <a:latin typeface="Times New Roman" panose="02020603050405020304" pitchFamily="18" charset="0"/>
                          <a:cs typeface="Times New Roman" panose="02020603050405020304" pitchFamily="18" charset="0"/>
                        </a:rPr>
                        <a:t>Training Strategy: Alternating updates</a:t>
                      </a:r>
                      <a:endParaRPr lang="en-IN" sz="1800">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panose="05000000000000000000" pitchFamily="2" charset="2"/>
                        <a:buChar char="•"/>
                      </a:pPr>
                      <a:r>
                        <a:rPr lang="en-IN" sz="1800" b="0" i="0" u="none" strike="noStrike" noProof="0">
                          <a:latin typeface="Times New Roman" panose="02020603050405020304" pitchFamily="18" charset="0"/>
                          <a:cs typeface="Times New Roman" panose="02020603050405020304" pitchFamily="18" charset="0"/>
                        </a:rPr>
                        <a:t>Discriminator: Updated Nd times</a:t>
                      </a:r>
                      <a:endParaRPr lang="en-IN">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panose="05000000000000000000" pitchFamily="2" charset="2"/>
                        <a:buChar char="•"/>
                      </a:pPr>
                      <a:r>
                        <a:rPr lang="en-IN" sz="1800" b="0" i="0" u="none" strike="noStrike" noProof="0">
                          <a:latin typeface="Times New Roman" panose="02020603050405020304" pitchFamily="18" charset="0"/>
                          <a:cs typeface="Times New Roman" panose="02020603050405020304" pitchFamily="18" charset="0"/>
                        </a:rPr>
                        <a:t>Generator: Updated Ng times</a:t>
                      </a:r>
                      <a:endParaRPr lang="en-IN">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panose="05000000000000000000" pitchFamily="2" charset="2"/>
                        <a:buChar char="•"/>
                      </a:pPr>
                      <a:endParaRPr lang="en-IN" sz="1800" b="0" i="0" u="none" strike="noStrike" noProof="0">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None/>
                      </a:pPr>
                      <a:r>
                        <a:rPr lang="en-IN" sz="1800" b="0" i="0" u="none" strike="noStrike" noProof="0">
                          <a:latin typeface="Times New Roman" panose="02020603050405020304" pitchFamily="18" charset="0"/>
                          <a:cs typeface="Times New Roman" panose="02020603050405020304" pitchFamily="18" charset="0"/>
                        </a:rPr>
                        <a:t>Loss Functions:</a:t>
                      </a:r>
                      <a:endParaRPr lang="en-IN">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panose="05000000000000000000" pitchFamily="2" charset="2"/>
                        <a:buChar char="•"/>
                      </a:pPr>
                      <a:r>
                        <a:rPr lang="en-IN" sz="1800" b="0" i="0" u="none" strike="noStrike" noProof="0">
                          <a:latin typeface="Times New Roman" panose="02020603050405020304" pitchFamily="18" charset="0"/>
                          <a:cs typeface="Times New Roman" panose="02020603050405020304" pitchFamily="18" charset="0"/>
                        </a:rPr>
                        <a:t>Discriminator: Binary cross-entropy</a:t>
                      </a:r>
                      <a:endParaRPr lang="en-IN">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panose="05000000000000000000" pitchFamily="2" charset="2"/>
                        <a:buChar char="•"/>
                      </a:pPr>
                      <a:r>
                        <a:rPr lang="en-IN" sz="1800" b="0" i="0" u="none" strike="noStrike" noProof="0">
                          <a:latin typeface="Times New Roman" panose="02020603050405020304" pitchFamily="18" charset="0"/>
                          <a:cs typeface="Times New Roman" panose="02020603050405020304" pitchFamily="18" charset="0"/>
                        </a:rPr>
                        <a:t>Generator: Cross-entropy + L1 loss</a:t>
                      </a:r>
                      <a:endParaRPr lang="en-IN">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panose="05000000000000000000" pitchFamily="2" charset="2"/>
                        <a:buChar char="•"/>
                      </a:pPr>
                      <a:endParaRPr lang="en-IN">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None/>
                      </a:pPr>
                      <a:r>
                        <a:rPr lang="en-IN" sz="1800" b="0" i="0" u="none" strike="noStrike" noProof="0">
                          <a:latin typeface="Times New Roman" panose="02020603050405020304" pitchFamily="18" charset="0"/>
                          <a:cs typeface="Times New Roman" panose="02020603050405020304" pitchFamily="18" charset="0"/>
                        </a:rPr>
                        <a:t>Input Prep:</a:t>
                      </a:r>
                      <a:endParaRPr lang="en-IN">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panose="05000000000000000000" pitchFamily="2" charset="2"/>
                        <a:buChar char="•"/>
                      </a:pPr>
                      <a:r>
                        <a:rPr lang="en-IN" sz="1800" b="0" i="0" u="none" strike="noStrike" noProof="0">
                          <a:latin typeface="Times New Roman" panose="02020603050405020304" pitchFamily="18" charset="0"/>
                          <a:cs typeface="Times New Roman" panose="02020603050405020304" pitchFamily="18" charset="0"/>
                        </a:rPr>
                        <a:t>Segmentation masks remove objects</a:t>
                      </a:r>
                      <a:endParaRPr lang="en-IN">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panose="05000000000000000000" pitchFamily="2" charset="2"/>
                        <a:buChar char="•"/>
                      </a:pPr>
                      <a:r>
                        <a:rPr lang="en-IN" sz="1800" b="0" i="0" u="none" strike="noStrike" noProof="0">
                          <a:latin typeface="Times New Roman" panose="02020603050405020304" pitchFamily="18" charset="0"/>
                          <a:cs typeface="Times New Roman" panose="02020603050405020304" pitchFamily="18" charset="0"/>
                        </a:rPr>
                        <a:t>Empty regions filled using Fast Marching Method (FMM)</a:t>
                      </a:r>
                      <a:endParaRPr lang="en-IN">
                        <a:latin typeface="Times New Roman" panose="02020603050405020304" pitchFamily="18" charset="0"/>
                        <a:cs typeface="Times New Roman" panose="02020603050405020304" pitchFamily="18" charset="0"/>
                      </a:endParaRPr>
                    </a:p>
                  </a:txBody>
                  <a:tcPr/>
                </a:tc>
                <a:tc>
                  <a:txBody>
                    <a:bodyPr/>
                    <a:lstStyle/>
                    <a:p>
                      <a:pPr marL="0" lvl="0" indent="0" algn="l">
                        <a:lnSpc>
                          <a:spcPct val="100000"/>
                        </a:lnSpc>
                        <a:spcBef>
                          <a:spcPts val="0"/>
                        </a:spcBef>
                        <a:spcAft>
                          <a:spcPts val="0"/>
                        </a:spcAft>
                        <a:buNone/>
                      </a:pPr>
                      <a:r>
                        <a:rPr lang="en-US" b="0" i="0" u="none" strike="noStrike" noProof="0">
                          <a:latin typeface="Times New Roman" panose="02020603050405020304" pitchFamily="18" charset="0"/>
                          <a:cs typeface="Times New Roman" panose="02020603050405020304" pitchFamily="18" charset="0"/>
                        </a:rPr>
                        <a:t>Combined GANs approach:</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r>
                        <a:rPr lang="en-US" b="0" i="0" u="none" strike="noStrike" noProof="0">
                          <a:latin typeface="Times New Roman" panose="02020603050405020304" pitchFamily="18" charset="0"/>
                          <a:cs typeface="Times New Roman" panose="02020603050405020304" pitchFamily="18" charset="0"/>
                        </a:rPr>
                        <a:t>Two sequential GANs with separate networks:</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None/>
                      </a:pPr>
                      <a:endParaRPr lang="en-US" b="0" i="0" u="none" strike="noStrike" noProof="0">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None/>
                      </a:pPr>
                      <a:r>
                        <a:rPr lang="en-US" b="0" i="0" u="none" strike="noStrike" noProof="0">
                          <a:latin typeface="Times New Roman" panose="02020603050405020304" pitchFamily="18" charset="0"/>
                          <a:cs typeface="Times New Roman" panose="02020603050405020304" pitchFamily="18" charset="0"/>
                        </a:rPr>
                        <a:t>1. Object Removal GAN:</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r>
                        <a:rPr lang="en-US" b="0" i="0" u="none" strike="noStrike" noProof="0">
                          <a:latin typeface="Times New Roman" panose="02020603050405020304" pitchFamily="18" charset="0"/>
                          <a:cs typeface="Times New Roman" panose="02020603050405020304" pitchFamily="18" charset="0"/>
                        </a:rPr>
                        <a:t>Generator removes the target object from the image.</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r>
                        <a:rPr lang="en-US" b="0" i="0" u="none" strike="noStrike" noProof="0">
                          <a:latin typeface="Times New Roman" panose="02020603050405020304" pitchFamily="18" charset="0"/>
                          <a:cs typeface="Times New Roman" panose="02020603050405020304" pitchFamily="18" charset="0"/>
                        </a:rPr>
                        <a:t>Discriminator checks if object-removed image is real or fake.</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None/>
                      </a:pPr>
                      <a:r>
                        <a:rPr lang="en-US" b="0" i="0" u="none" strike="noStrike" noProof="0">
                          <a:latin typeface="Times New Roman" panose="02020603050405020304" pitchFamily="18" charset="0"/>
                          <a:cs typeface="Times New Roman" panose="02020603050405020304" pitchFamily="18" charset="0"/>
                        </a:rPr>
                        <a:t>2. Inpainting GAN:</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r>
                        <a:rPr lang="en-US" b="0" i="0" u="none" strike="noStrike" noProof="0">
                          <a:latin typeface="Times New Roman" panose="02020603050405020304" pitchFamily="18" charset="0"/>
                          <a:cs typeface="Times New Roman" panose="02020603050405020304" pitchFamily="18" charset="0"/>
                        </a:rPr>
                        <a:t>Generator fills the resulting empty space with background.</a:t>
                      </a:r>
                      <a:endParaRPr lang="en-US">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r>
                        <a:rPr lang="en-US" b="0" i="0" u="none" strike="noStrike" noProof="0">
                          <a:latin typeface="Times New Roman" panose="02020603050405020304" pitchFamily="18" charset="0"/>
                          <a:cs typeface="Times New Roman" panose="02020603050405020304" pitchFamily="18" charset="0"/>
                        </a:rPr>
                        <a:t>Discriminator verifies </a:t>
                      </a:r>
                      <a:r>
                        <a:rPr lang="en-US" b="0" i="0" u="none" strike="noStrike" noProof="0" err="1">
                          <a:latin typeface="Times New Roman" panose="02020603050405020304" pitchFamily="18" charset="0"/>
                          <a:cs typeface="Times New Roman" panose="02020603050405020304" pitchFamily="18" charset="0"/>
                        </a:rPr>
                        <a:t>inpainted</a:t>
                      </a:r>
                      <a:r>
                        <a:rPr lang="en-US" b="0" i="0" u="none" strike="noStrike" noProof="0">
                          <a:latin typeface="Times New Roman" panose="02020603050405020304" pitchFamily="18" charset="0"/>
                          <a:cs typeface="Times New Roman" panose="02020603050405020304" pitchFamily="18" charset="0"/>
                        </a:rPr>
                        <a:t> image authenticity.</a:t>
                      </a:r>
                      <a:endParaRPr lang="en-US">
                        <a:latin typeface="Times New Roman" panose="02020603050405020304" pitchFamily="18" charset="0"/>
                        <a:cs typeface="Times New Roman" panose="02020603050405020304" pitchFamily="18" charset="0"/>
                      </a:endParaRPr>
                    </a:p>
                    <a:p>
                      <a:pPr marL="0" lvl="0" indent="0">
                        <a:buFont typeface="Wingdings" panose="05000000000000000000" pitchFamily="2" charset="2"/>
                        <a:buNone/>
                      </a:pPr>
                      <a:endParaRPr lang="en-US">
                        <a:latin typeface="Times New Roman" panose="02020603050405020304" pitchFamily="18" charset="0"/>
                        <a:cs typeface="Times New Roman" panose="02020603050405020304" pitchFamily="18" charset="0"/>
                      </a:endParaRPr>
                    </a:p>
                  </a:txBody>
                  <a:tcPr/>
                </a:tc>
                <a:tc>
                  <a:txBody>
                    <a:bodyPr/>
                    <a:lstStyle/>
                    <a:p>
                      <a:pPr marL="0" indent="0">
                        <a:buNone/>
                      </a:pPr>
                      <a:r>
                        <a:rPr lang="en-IN" b="0" i="0" u="none" strike="noStrike" noProof="0">
                          <a:latin typeface="Times New Roman" panose="02020603050405020304" pitchFamily="18" charset="0"/>
                          <a:cs typeface="Times New Roman" panose="02020603050405020304" pitchFamily="18" charset="0"/>
                        </a:rPr>
                        <a:t>Discriminator Accuracy:</a:t>
                      </a: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r>
                        <a:rPr lang="en-IN" b="0" i="0" u="none" strike="noStrike" noProof="0">
                          <a:latin typeface="Times New Roman" panose="02020603050405020304" pitchFamily="18" charset="0"/>
                          <a:cs typeface="Times New Roman" panose="02020603050405020304" pitchFamily="18" charset="0"/>
                        </a:rPr>
                        <a:t>Object removal (real): 66.39%</a:t>
                      </a: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r>
                        <a:rPr lang="en-IN" b="0" i="0" u="none" strike="noStrike" noProof="0">
                          <a:latin typeface="Times New Roman" panose="02020603050405020304" pitchFamily="18" charset="0"/>
                          <a:cs typeface="Times New Roman" panose="02020603050405020304" pitchFamily="18" charset="0"/>
                        </a:rPr>
                        <a:t>Object removal (fake): 72.28%</a:t>
                      </a: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r>
                        <a:rPr lang="en-IN" b="0" i="0" u="none" strike="noStrike" noProof="0">
                          <a:latin typeface="Times New Roman" panose="02020603050405020304" pitchFamily="18" charset="0"/>
                          <a:cs typeface="Times New Roman" panose="02020603050405020304" pitchFamily="18" charset="0"/>
                        </a:rPr>
                        <a:t>Inpainting (real): 66.41%</a:t>
                      </a: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r>
                        <a:rPr lang="en-IN" b="0" i="0" u="none" strike="noStrike" noProof="0">
                          <a:latin typeface="Times New Roman" panose="02020603050405020304" pitchFamily="18" charset="0"/>
                          <a:cs typeface="Times New Roman" panose="02020603050405020304" pitchFamily="18" charset="0"/>
                        </a:rPr>
                        <a:t>Inpainting (fake): 72.63%</a:t>
                      </a: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r>
                        <a:rPr lang="en-IN" b="0" i="0" u="none" strike="noStrike" noProof="0">
                          <a:latin typeface="Times New Roman" panose="02020603050405020304" pitchFamily="18" charset="0"/>
                          <a:cs typeface="Times New Roman" panose="02020603050405020304" pitchFamily="18" charset="0"/>
                        </a:rPr>
                        <a:t>L1 Loss:</a:t>
                      </a: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r>
                        <a:rPr lang="en-IN" b="0" i="0" u="none" strike="noStrike" noProof="0">
                          <a:latin typeface="Times New Roman" panose="02020603050405020304" pitchFamily="18" charset="0"/>
                          <a:cs typeface="Times New Roman" panose="02020603050405020304" pitchFamily="18" charset="0"/>
                        </a:rPr>
                        <a:t>Object removal image: 0.7005</a:t>
                      </a: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r>
                        <a:rPr lang="en-IN" b="0" i="0" u="none" strike="noStrike" noProof="0" err="1">
                          <a:latin typeface="Times New Roman" panose="02020603050405020304" pitchFamily="18" charset="0"/>
                          <a:cs typeface="Times New Roman" panose="02020603050405020304" pitchFamily="18" charset="0"/>
                        </a:rPr>
                        <a:t>Inpainted</a:t>
                      </a:r>
                      <a:r>
                        <a:rPr lang="en-IN" b="0" i="0" u="none" strike="noStrike" noProof="0">
                          <a:latin typeface="Times New Roman" panose="02020603050405020304" pitchFamily="18" charset="0"/>
                          <a:cs typeface="Times New Roman" panose="02020603050405020304" pitchFamily="18" charset="0"/>
                        </a:rPr>
                        <a:t> image: 0.7032</a:t>
                      </a: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endParaRPr lang="en-IN">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endParaRPr lang="en-IN">
                        <a:latin typeface="Times New Roman" panose="02020603050405020304" pitchFamily="18" charset="0"/>
                        <a:cs typeface="Times New Roman" panose="02020603050405020304" pitchFamily="18" charset="0"/>
                      </a:endParaRPr>
                    </a:p>
                    <a:p>
                      <a:pPr lvl="0">
                        <a:buNone/>
                      </a:pPr>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53444152"/>
                  </a:ext>
                </a:extLst>
              </a:tr>
            </a:tbl>
          </a:graphicData>
        </a:graphic>
      </p:graphicFrame>
    </p:spTree>
    <p:extLst>
      <p:ext uri="{BB962C8B-B14F-4D97-AF65-F5344CB8AC3E}">
        <p14:creationId xmlns:p14="http://schemas.microsoft.com/office/powerpoint/2010/main" val="343826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2441B-D837-30E1-E938-A35BB0286AF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9D5F5C7-61B7-C9EE-D16C-983DDEEACD43}"/>
              </a:ext>
            </a:extLst>
          </p:cNvPr>
          <p:cNvSpPr>
            <a:spLocks noGrp="1"/>
          </p:cNvSpPr>
          <p:nvPr>
            <p:ph type="dt" sz="half" idx="10"/>
          </p:nvPr>
        </p:nvSpPr>
        <p:spPr/>
        <p:txBody>
          <a:bodyPr/>
          <a:lstStyle/>
          <a:p>
            <a:fld id="{445ED85E-A9E3-445C-9F4C-8CD6FE4B0FE4}" type="datetime1">
              <a:rPr lang="en-US" smtClean="0"/>
              <a:t>6/3/2026</a:t>
            </a:fld>
            <a:endParaRPr lang="en-US"/>
          </a:p>
        </p:txBody>
      </p:sp>
      <p:sp>
        <p:nvSpPr>
          <p:cNvPr id="5" name="Footer Placeholder 4">
            <a:extLst>
              <a:ext uri="{FF2B5EF4-FFF2-40B4-BE49-F238E27FC236}">
                <a16:creationId xmlns:a16="http://schemas.microsoft.com/office/drawing/2014/main" id="{48E29B7B-EEDD-D099-8DEE-1606C91BE2E6}"/>
              </a:ext>
            </a:extLst>
          </p:cNvPr>
          <p:cNvSpPr>
            <a:spLocks noGrp="1"/>
          </p:cNvSpPr>
          <p:nvPr>
            <p:ph type="ftr" sz="quarter" idx="11"/>
          </p:nvPr>
        </p:nvSpPr>
        <p:spPr/>
        <p:txBody>
          <a:bodyPr/>
          <a:lstStyle/>
          <a:p>
            <a:r>
              <a:rPr lang="en-US"/>
              <a:t>DEPARTMENT OF ECE</a:t>
            </a:r>
          </a:p>
        </p:txBody>
      </p:sp>
      <p:sp>
        <p:nvSpPr>
          <p:cNvPr id="6" name="Slide Number Placeholder 5">
            <a:extLst>
              <a:ext uri="{FF2B5EF4-FFF2-40B4-BE49-F238E27FC236}">
                <a16:creationId xmlns:a16="http://schemas.microsoft.com/office/drawing/2014/main" id="{EF2B7A98-AE2F-E7A1-0E97-2A202F03875E}"/>
              </a:ext>
            </a:extLst>
          </p:cNvPr>
          <p:cNvSpPr>
            <a:spLocks noGrp="1"/>
          </p:cNvSpPr>
          <p:nvPr>
            <p:ph type="sldNum" sz="quarter" idx="12"/>
          </p:nvPr>
        </p:nvSpPr>
        <p:spPr/>
        <p:txBody>
          <a:bodyPr/>
          <a:lstStyle/>
          <a:p>
            <a:fld id="{330EA680-D336-4FF7-8B7A-9848BB0A1C32}" type="slidenum">
              <a:rPr lang="en-US" smtClean="0"/>
              <a:t>5</a:t>
            </a:fld>
            <a:endParaRPr lang="en-US"/>
          </a:p>
        </p:txBody>
      </p:sp>
      <p:pic>
        <p:nvPicPr>
          <p:cNvPr id="1026" name="Picture 2" descr="KLE Technological University in Hubballi">
            <a:extLst>
              <a:ext uri="{FF2B5EF4-FFF2-40B4-BE49-F238E27FC236}">
                <a16:creationId xmlns:a16="http://schemas.microsoft.com/office/drawing/2014/main" id="{F6209513-070C-B99A-CC3F-7C25D71CA9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537" y="0"/>
            <a:ext cx="2787463" cy="5020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D6FD806-37AA-86E2-2B03-1771659DD086}"/>
              </a:ext>
            </a:extLst>
          </p:cNvPr>
          <p:cNvSpPr txBox="1"/>
          <p:nvPr/>
        </p:nvSpPr>
        <p:spPr>
          <a:xfrm>
            <a:off x="0" y="0"/>
            <a:ext cx="2191871" cy="338554"/>
          </a:xfrm>
          <a:prstGeom prst="rect">
            <a:avLst/>
          </a:prstGeom>
          <a:solidFill>
            <a:schemeClr val="tx2">
              <a:lumMod val="20000"/>
              <a:lumOff val="80000"/>
            </a:schemeClr>
          </a:solid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a:latin typeface="Times New Roman"/>
                <a:cs typeface="Times New Roman"/>
              </a:rPr>
              <a:t>GEN-AI (25EECC308)</a:t>
            </a:r>
          </a:p>
        </p:txBody>
      </p:sp>
      <p:sp>
        <p:nvSpPr>
          <p:cNvPr id="2" name="TextBox 1">
            <a:extLst>
              <a:ext uri="{FF2B5EF4-FFF2-40B4-BE49-F238E27FC236}">
                <a16:creationId xmlns:a16="http://schemas.microsoft.com/office/drawing/2014/main" id="{0376D81E-FCA2-47D0-D8FD-715CEC9EA5BE}"/>
              </a:ext>
            </a:extLst>
          </p:cNvPr>
          <p:cNvSpPr txBox="1"/>
          <p:nvPr/>
        </p:nvSpPr>
        <p:spPr>
          <a:xfrm>
            <a:off x="54629" y="502024"/>
            <a:ext cx="11487150" cy="400110"/>
          </a:xfrm>
          <a:prstGeom prst="rect">
            <a:avLst/>
          </a:prstGeom>
          <a:noFill/>
        </p:spPr>
        <p:txBody>
          <a:bodyPr wrap="square" lIns="91440" tIns="45720" rIns="91440" bIns="45720" rtlCol="0" anchor="t">
            <a:spAutoFit/>
          </a:bodyPr>
          <a:lstStyle/>
          <a:p>
            <a:pPr algn="just"/>
            <a:r>
              <a:rPr lang="en-US" sz="2000" b="1">
                <a:latin typeface="Times New Roman" panose="02020603050405020304" pitchFamily="18" charset="0"/>
                <a:cs typeface="Times New Roman" panose="02020603050405020304" pitchFamily="18" charset="0"/>
              </a:rPr>
              <a:t>3.  Image Inpainting Using Deep Learning Architectures: </a:t>
            </a:r>
            <a:r>
              <a:rPr lang="en-US" sz="2000" b="1" err="1">
                <a:latin typeface="Times New Roman" panose="02020603050405020304" pitchFamily="18" charset="0"/>
                <a:cs typeface="Times New Roman" panose="02020603050405020304" pitchFamily="18" charset="0"/>
              </a:rPr>
              <a:t>PConv</a:t>
            </a:r>
            <a:r>
              <a:rPr lang="en-US" sz="2000" b="1">
                <a:latin typeface="Times New Roman" panose="02020603050405020304" pitchFamily="18" charset="0"/>
                <a:cs typeface="Times New Roman" panose="02020603050405020304" pitchFamily="18" charset="0"/>
              </a:rPr>
              <a:t> and GAN</a:t>
            </a:r>
            <a:endParaRPr lang="en-US" sz="2000" b="1">
              <a:solidFill>
                <a:srgbClr val="000000"/>
              </a:solidFill>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B0E262AD-F76D-BCEC-02C4-CEE28D5C6FCB}"/>
              </a:ext>
            </a:extLst>
          </p:cNvPr>
          <p:cNvGraphicFramePr>
            <a:graphicFrameLocks noGrp="1"/>
          </p:cNvGraphicFramePr>
          <p:nvPr>
            <p:extLst>
              <p:ext uri="{D42A27DB-BD31-4B8C-83A1-F6EECF244321}">
                <p14:modId xmlns:p14="http://schemas.microsoft.com/office/powerpoint/2010/main" val="3696541643"/>
              </p:ext>
            </p:extLst>
          </p:nvPr>
        </p:nvGraphicFramePr>
        <p:xfrm>
          <a:off x="188260" y="1065604"/>
          <a:ext cx="11752729" cy="5223790"/>
        </p:xfrm>
        <a:graphic>
          <a:graphicData uri="http://schemas.openxmlformats.org/drawingml/2006/table">
            <a:tbl>
              <a:tblPr firstRow="1" bandRow="1">
                <a:tableStyleId>{5C22544A-7EE6-4342-B048-85BDC9FD1C3A}</a:tableStyleId>
              </a:tblPr>
              <a:tblGrid>
                <a:gridCol w="2297546">
                  <a:extLst>
                    <a:ext uri="{9D8B030D-6E8A-4147-A177-3AD203B41FA5}">
                      <a16:colId xmlns:a16="http://schemas.microsoft.com/office/drawing/2014/main" val="3620595555"/>
                    </a:ext>
                  </a:extLst>
                </a:gridCol>
                <a:gridCol w="3931420">
                  <a:extLst>
                    <a:ext uri="{9D8B030D-6E8A-4147-A177-3AD203B41FA5}">
                      <a16:colId xmlns:a16="http://schemas.microsoft.com/office/drawing/2014/main" val="2492365039"/>
                    </a:ext>
                  </a:extLst>
                </a:gridCol>
                <a:gridCol w="2651350">
                  <a:extLst>
                    <a:ext uri="{9D8B030D-6E8A-4147-A177-3AD203B41FA5}">
                      <a16:colId xmlns:a16="http://schemas.microsoft.com/office/drawing/2014/main" val="1475525127"/>
                    </a:ext>
                  </a:extLst>
                </a:gridCol>
                <a:gridCol w="2872413">
                  <a:extLst>
                    <a:ext uri="{9D8B030D-6E8A-4147-A177-3AD203B41FA5}">
                      <a16:colId xmlns:a16="http://schemas.microsoft.com/office/drawing/2014/main" val="755714069"/>
                    </a:ext>
                  </a:extLst>
                </a:gridCol>
              </a:tblGrid>
              <a:tr h="417903">
                <a:tc>
                  <a:txBody>
                    <a:bodyPr/>
                    <a:lstStyle/>
                    <a:p>
                      <a:r>
                        <a:rPr lang="en-US" b="0">
                          <a:latin typeface="Times New Roman" panose="02020603050405020304" pitchFamily="18" charset="0"/>
                          <a:cs typeface="Times New Roman" panose="02020603050405020304" pitchFamily="18" charset="0"/>
                        </a:rPr>
                        <a:t>DATA</a:t>
                      </a:r>
                      <a:endParaRPr lang="en-IN" b="0">
                        <a:latin typeface="Times New Roman" panose="02020603050405020304" pitchFamily="18" charset="0"/>
                        <a:cs typeface="Times New Roman" panose="02020603050405020304" pitchFamily="18" charset="0"/>
                      </a:endParaRPr>
                    </a:p>
                  </a:txBody>
                  <a:tcPr/>
                </a:tc>
                <a:tc>
                  <a:txBody>
                    <a:bodyPr/>
                    <a:lstStyle/>
                    <a:p>
                      <a:r>
                        <a:rPr lang="en-US" b="0">
                          <a:latin typeface="Times New Roman" panose="02020603050405020304" pitchFamily="18" charset="0"/>
                          <a:cs typeface="Times New Roman" panose="02020603050405020304" pitchFamily="18" charset="0"/>
                        </a:rPr>
                        <a:t>METHODOLOGY</a:t>
                      </a:r>
                      <a:endParaRPr lang="en-IN" b="0">
                        <a:latin typeface="Times New Roman" panose="02020603050405020304" pitchFamily="18" charset="0"/>
                        <a:cs typeface="Times New Roman" panose="02020603050405020304" pitchFamily="18" charset="0"/>
                      </a:endParaRPr>
                    </a:p>
                  </a:txBody>
                  <a:tcPr/>
                </a:tc>
                <a:tc>
                  <a:txBody>
                    <a:bodyPr/>
                    <a:lstStyle/>
                    <a:p>
                      <a:r>
                        <a:rPr lang="en-US" b="0">
                          <a:latin typeface="Times New Roman" panose="02020603050405020304" pitchFamily="18" charset="0"/>
                          <a:cs typeface="Times New Roman" panose="02020603050405020304" pitchFamily="18" charset="0"/>
                        </a:rPr>
                        <a:t>MODEL</a:t>
                      </a:r>
                      <a:endParaRPr lang="en-IN" b="0">
                        <a:latin typeface="Times New Roman" panose="02020603050405020304" pitchFamily="18" charset="0"/>
                        <a:cs typeface="Times New Roman" panose="02020603050405020304" pitchFamily="18" charset="0"/>
                      </a:endParaRPr>
                    </a:p>
                  </a:txBody>
                  <a:tcPr/>
                </a:tc>
                <a:tc>
                  <a:txBody>
                    <a:bodyPr/>
                    <a:lstStyle/>
                    <a:p>
                      <a:r>
                        <a:rPr lang="en-US" b="0">
                          <a:latin typeface="Times New Roman" panose="02020603050405020304" pitchFamily="18" charset="0"/>
                          <a:cs typeface="Times New Roman" panose="02020603050405020304" pitchFamily="18" charset="0"/>
                        </a:rPr>
                        <a:t>RESULTS</a:t>
                      </a: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2065880"/>
                  </a:ext>
                </a:extLst>
              </a:tr>
              <a:tr h="4805887">
                <a:tc>
                  <a:txBody>
                    <a:bodyPr/>
                    <a:lstStyle/>
                    <a:p>
                      <a:pPr marL="285750" indent="-285750" algn="l">
                        <a:lnSpc>
                          <a:spcPct val="100000"/>
                        </a:lnSpc>
                        <a:spcBef>
                          <a:spcPts val="0"/>
                        </a:spcBef>
                        <a:spcAft>
                          <a:spcPts val="0"/>
                        </a:spcAft>
                        <a:buFont typeface="Arial"/>
                        <a:buChar char="•"/>
                      </a:pPr>
                      <a:r>
                        <a:rPr lang="en-IN" sz="1600" b="0" i="0" u="none" strike="noStrike" noProof="0" err="1">
                          <a:solidFill>
                            <a:srgbClr val="000000"/>
                          </a:solidFill>
                          <a:latin typeface="Times New Roman" panose="02020603050405020304" pitchFamily="18" charset="0"/>
                          <a:cs typeface="Times New Roman" panose="02020603050405020304" pitchFamily="18" charset="0"/>
                        </a:rPr>
                        <a:t>CelebA</a:t>
                      </a:r>
                      <a:r>
                        <a:rPr lang="en-IN" sz="1600" b="0" i="0" u="none" strike="noStrike" noProof="0">
                          <a:solidFill>
                            <a:srgbClr val="000000"/>
                          </a:solidFill>
                          <a:latin typeface="Times New Roman" panose="02020603050405020304" pitchFamily="18" charset="0"/>
                          <a:cs typeface="Times New Roman" panose="02020603050405020304" pitchFamily="18" charset="0"/>
                        </a:rPr>
                        <a:t> (</a:t>
                      </a:r>
                      <a:r>
                        <a:rPr lang="en-IN" sz="1600" b="0" i="0" u="none" strike="noStrike" noProof="0" err="1">
                          <a:solidFill>
                            <a:srgbClr val="000000"/>
                          </a:solidFill>
                          <a:latin typeface="Times New Roman" panose="02020603050405020304" pitchFamily="18" charset="0"/>
                          <a:cs typeface="Times New Roman" panose="02020603050405020304" pitchFamily="18" charset="0"/>
                        </a:rPr>
                        <a:t>CelebFaces</a:t>
                      </a:r>
                      <a:r>
                        <a:rPr lang="en-IN" sz="1600" b="0" i="0" u="none" strike="noStrike" noProof="0">
                          <a:solidFill>
                            <a:srgbClr val="000000"/>
                          </a:solidFill>
                          <a:latin typeface="Times New Roman" panose="02020603050405020304" pitchFamily="18" charset="0"/>
                          <a:cs typeface="Times New Roman" panose="02020603050405020304" pitchFamily="18" charset="0"/>
                        </a:rPr>
                        <a:t> Attributes Dataset) from Kaggle.</a:t>
                      </a:r>
                    </a:p>
                    <a:p>
                      <a:pPr marL="285750" lvl="0" indent="-285750" algn="l">
                        <a:lnSpc>
                          <a:spcPct val="100000"/>
                        </a:lnSpc>
                        <a:spcBef>
                          <a:spcPts val="0"/>
                        </a:spcBef>
                        <a:spcAft>
                          <a:spcPts val="0"/>
                        </a:spcAft>
                        <a:buFont typeface="Arial"/>
                        <a:buChar char="•"/>
                      </a:pPr>
                      <a:r>
                        <a:rPr lang="en-IN" sz="1600" b="0" i="0" u="none" strike="noStrike" noProof="0">
                          <a:solidFill>
                            <a:srgbClr val="000000"/>
                          </a:solidFill>
                          <a:latin typeface="Times New Roman" panose="02020603050405020304" pitchFamily="18" charset="0"/>
                          <a:cs typeface="Times New Roman" panose="02020603050405020304" pitchFamily="18" charset="0"/>
                        </a:rPr>
                        <a:t> Image Type: Facial images of celebrities. Size: 202,599 images representing 10,177 individuals.</a:t>
                      </a:r>
                    </a:p>
                    <a:p>
                      <a:pPr marL="285750" lvl="0" indent="-285750" algn="l">
                        <a:lnSpc>
                          <a:spcPct val="100000"/>
                        </a:lnSpc>
                        <a:spcBef>
                          <a:spcPts val="0"/>
                        </a:spcBef>
                        <a:spcAft>
                          <a:spcPts val="0"/>
                        </a:spcAft>
                        <a:buFont typeface="Arial"/>
                        <a:buChar char="•"/>
                      </a:pPr>
                      <a:r>
                        <a:rPr lang="en-IN" sz="1600" b="0" i="0" u="none" strike="noStrike" noProof="0">
                          <a:solidFill>
                            <a:srgbClr val="000000"/>
                          </a:solidFill>
                          <a:latin typeface="Times New Roman" panose="02020603050405020304" pitchFamily="18" charset="0"/>
                          <a:cs typeface="Times New Roman" panose="02020603050405020304" pitchFamily="18" charset="0"/>
                        </a:rPr>
                        <a:t> Annotations: Each image has: 40 binary attribute annotations (like gender, smiling, etc.).</a:t>
                      </a:r>
                      <a:endParaRPr lang="en-US" sz="1600" b="0" i="0" u="none" strike="noStrike" noProof="0">
                        <a:solidFill>
                          <a:srgbClr val="000000"/>
                        </a:solidFill>
                        <a:latin typeface="Times New Roman" panose="02020603050405020304" pitchFamily="18" charset="0"/>
                        <a:cs typeface="Times New Roman" panose="02020603050405020304" pitchFamily="18" charset="0"/>
                      </a:endParaRPr>
                    </a:p>
                    <a:p>
                      <a:pPr marL="285750" lvl="0" indent="-285750">
                        <a:buFont typeface="Arial"/>
                        <a:buChar char="•"/>
                      </a:pPr>
                      <a:endParaRPr lang="en-IN" sz="1600" b="0" i="0" u="none" strike="noStrike" noProof="0">
                        <a:latin typeface="Times New Roman" panose="02020603050405020304" pitchFamily="18" charset="0"/>
                        <a:cs typeface="Times New Roman" panose="02020603050405020304" pitchFamily="18" charset="0"/>
                      </a:endParaRPr>
                    </a:p>
                  </a:txBody>
                  <a:tcPr/>
                </a:tc>
                <a:tc>
                  <a:txBody>
                    <a:bodyPr/>
                    <a:lstStyle/>
                    <a:p>
                      <a:pPr marL="285750" lvl="0" indent="-285750" algn="just">
                        <a:lnSpc>
                          <a:spcPct val="100000"/>
                        </a:lnSpc>
                        <a:spcBef>
                          <a:spcPts val="0"/>
                        </a:spcBef>
                        <a:spcAft>
                          <a:spcPts val="0"/>
                        </a:spcAft>
                        <a:buFont typeface="Arial"/>
                        <a:buChar char="•"/>
                      </a:pPr>
                      <a:r>
                        <a:rPr lang="en-IN" sz="1800" b="0" i="0" u="none" strike="noStrike" noProof="0">
                          <a:solidFill>
                            <a:srgbClr val="000000"/>
                          </a:solidFill>
                          <a:latin typeface="Times New Roman" panose="02020603050405020304" pitchFamily="18" charset="0"/>
                          <a:cs typeface="Times New Roman" panose="02020603050405020304" pitchFamily="18" charset="0"/>
                        </a:rPr>
                        <a:t>Preprocessing:</a:t>
                      </a:r>
                      <a:endParaRPr lang="en-US" sz="1800" b="0" i="0" u="none" strike="noStrike" noProof="0">
                        <a:solidFill>
                          <a:srgbClr val="000000"/>
                        </a:solidFill>
                        <a:latin typeface="Times New Roman" panose="02020603050405020304" pitchFamily="18" charset="0"/>
                        <a:cs typeface="Times New Roman" panose="02020603050405020304" pitchFamily="18" charset="0"/>
                      </a:endParaRPr>
                    </a:p>
                    <a:p>
                      <a:pPr marL="285750" lvl="0" indent="-285750" algn="just">
                        <a:lnSpc>
                          <a:spcPct val="100000"/>
                        </a:lnSpc>
                        <a:spcBef>
                          <a:spcPts val="0"/>
                        </a:spcBef>
                        <a:spcAft>
                          <a:spcPts val="0"/>
                        </a:spcAft>
                        <a:buFont typeface="Arial"/>
                        <a:buChar char="•"/>
                      </a:pPr>
                      <a:r>
                        <a:rPr lang="en-IN" sz="1800" b="0" i="0" u="none" strike="noStrike" noProof="0">
                          <a:solidFill>
                            <a:srgbClr val="000000"/>
                          </a:solidFill>
                          <a:latin typeface="Times New Roman" panose="02020603050405020304" pitchFamily="18" charset="0"/>
                          <a:cs typeface="Times New Roman" panose="02020603050405020304" pitchFamily="18" charset="0"/>
                        </a:rPr>
                        <a:t>Random Masking: Hide some image parts to create blanks.,</a:t>
                      </a:r>
                      <a:endParaRPr lang="en-US" sz="1800" b="0" i="0" u="none" strike="noStrike" noProof="0">
                        <a:solidFill>
                          <a:srgbClr val="000000"/>
                        </a:solidFill>
                        <a:latin typeface="Times New Roman" panose="02020603050405020304" pitchFamily="18" charset="0"/>
                        <a:cs typeface="Times New Roman" panose="02020603050405020304" pitchFamily="18" charset="0"/>
                      </a:endParaRPr>
                    </a:p>
                    <a:p>
                      <a:pPr marL="285750" lvl="0" indent="-285750" algn="just">
                        <a:lnSpc>
                          <a:spcPct val="100000"/>
                        </a:lnSpc>
                        <a:spcBef>
                          <a:spcPts val="0"/>
                        </a:spcBef>
                        <a:spcAft>
                          <a:spcPts val="0"/>
                        </a:spcAft>
                        <a:buFont typeface="Arial"/>
                        <a:buChar char="•"/>
                      </a:pPr>
                      <a:r>
                        <a:rPr lang="en-IN" sz="1800" b="0" i="0" u="none" strike="noStrike" noProof="0">
                          <a:solidFill>
                            <a:srgbClr val="000000"/>
                          </a:solidFill>
                          <a:latin typeface="Times New Roman" panose="02020603050405020304" pitchFamily="18" charset="0"/>
                          <a:cs typeface="Times New Roman" panose="02020603050405020304" pitchFamily="18" charset="0"/>
                        </a:rPr>
                        <a:t>Augmentation: Flip or rotate images to increase variety.</a:t>
                      </a:r>
                      <a:endParaRPr lang="en-US" sz="1800" b="0" i="0" u="none" strike="noStrike" noProof="0">
                        <a:solidFill>
                          <a:srgbClr val="000000"/>
                        </a:solidFill>
                        <a:latin typeface="Times New Roman" panose="02020603050405020304" pitchFamily="18" charset="0"/>
                        <a:cs typeface="Times New Roman" panose="02020603050405020304" pitchFamily="18" charset="0"/>
                      </a:endParaRPr>
                    </a:p>
                    <a:p>
                      <a:pPr marL="285750" lvl="0" indent="-285750" algn="just">
                        <a:lnSpc>
                          <a:spcPct val="100000"/>
                        </a:lnSpc>
                        <a:spcBef>
                          <a:spcPts val="0"/>
                        </a:spcBef>
                        <a:spcAft>
                          <a:spcPts val="0"/>
                        </a:spcAft>
                        <a:buFont typeface="Arial"/>
                        <a:buChar char="•"/>
                      </a:pPr>
                      <a:r>
                        <a:rPr lang="en-US" sz="1800" b="0" i="0" u="none" strike="noStrike" noProof="0" err="1">
                          <a:solidFill>
                            <a:srgbClr val="000000"/>
                          </a:solidFill>
                          <a:latin typeface="Times New Roman" panose="02020603050405020304" pitchFamily="18" charset="0"/>
                          <a:cs typeface="Times New Roman" panose="02020603050405020304" pitchFamily="18" charset="0"/>
                        </a:rPr>
                        <a:t>Models:PConv,GAN</a:t>
                      </a:r>
                      <a:endParaRPr lang="en-IN" sz="1800" b="0" i="0" u="none" strike="noStrike" noProof="0" err="1">
                        <a:solidFill>
                          <a:srgbClr val="000000"/>
                        </a:solidFill>
                        <a:latin typeface="Times New Roman" panose="02020603050405020304" pitchFamily="18" charset="0"/>
                        <a:cs typeface="Times New Roman" panose="02020603050405020304" pitchFamily="18" charset="0"/>
                      </a:endParaRPr>
                    </a:p>
                    <a:p>
                      <a:pPr marL="285750" lvl="0" indent="-285750" algn="just">
                        <a:lnSpc>
                          <a:spcPct val="100000"/>
                        </a:lnSpc>
                        <a:spcBef>
                          <a:spcPts val="0"/>
                        </a:spcBef>
                        <a:spcAft>
                          <a:spcPts val="0"/>
                        </a:spcAft>
                        <a:buFont typeface="Arial"/>
                        <a:buChar char="•"/>
                      </a:pPr>
                      <a:r>
                        <a:rPr lang="en-IN" sz="1800" b="0" i="0" u="none" strike="noStrike" noProof="0">
                          <a:solidFill>
                            <a:srgbClr val="000000"/>
                          </a:solidFill>
                          <a:latin typeface="Times New Roman" panose="02020603050405020304" pitchFamily="18" charset="0"/>
                          <a:cs typeface="Times New Roman" panose="02020603050405020304" pitchFamily="18" charset="0"/>
                        </a:rPr>
                        <a:t>Loss functions used:</a:t>
                      </a:r>
                      <a:endParaRPr lang="en-US" sz="1800" b="0" i="0" u="none" strike="noStrike" noProof="0">
                        <a:solidFill>
                          <a:srgbClr val="000000"/>
                        </a:solidFill>
                        <a:latin typeface="Times New Roman" panose="02020603050405020304" pitchFamily="18" charset="0"/>
                        <a:cs typeface="Times New Roman" panose="02020603050405020304" pitchFamily="18" charset="0"/>
                      </a:endParaRPr>
                    </a:p>
                    <a:p>
                      <a:pPr marL="285750" lvl="0" indent="-285750" algn="just">
                        <a:lnSpc>
                          <a:spcPct val="100000"/>
                        </a:lnSpc>
                        <a:spcBef>
                          <a:spcPts val="0"/>
                        </a:spcBef>
                        <a:spcAft>
                          <a:spcPts val="0"/>
                        </a:spcAft>
                        <a:buFont typeface="Arial"/>
                        <a:buChar char="•"/>
                      </a:pPr>
                      <a:r>
                        <a:rPr lang="en-IN" sz="1800" b="0" i="0" u="none" strike="noStrike" noProof="0">
                          <a:solidFill>
                            <a:srgbClr val="000000"/>
                          </a:solidFill>
                          <a:latin typeface="Times New Roman" panose="02020603050405020304" pitchFamily="18" charset="0"/>
                          <a:cs typeface="Times New Roman" panose="02020603050405020304" pitchFamily="18" charset="0"/>
                        </a:rPr>
                        <a:t>Pixel-wise L1 Loss – Match the </a:t>
                      </a:r>
                      <a:r>
                        <a:rPr lang="en-IN" sz="1800" b="0" i="0" u="none" strike="noStrike" noProof="0" err="1">
                          <a:solidFill>
                            <a:srgbClr val="000000"/>
                          </a:solidFill>
                          <a:latin typeface="Times New Roman" panose="02020603050405020304" pitchFamily="18" charset="0"/>
                          <a:cs typeface="Times New Roman" panose="02020603050405020304" pitchFamily="18" charset="0"/>
                        </a:rPr>
                        <a:t>colors</a:t>
                      </a:r>
                      <a:r>
                        <a:rPr lang="en-IN" sz="1800" b="0" i="0" u="none" strike="noStrike" noProof="0">
                          <a:solidFill>
                            <a:srgbClr val="000000"/>
                          </a:solidFill>
                          <a:latin typeface="Times New Roman" panose="02020603050405020304" pitchFamily="18" charset="0"/>
                          <a:cs typeface="Times New Roman" panose="02020603050405020304" pitchFamily="18" charset="0"/>
                        </a:rPr>
                        <a:t> of each pixel.</a:t>
                      </a:r>
                    </a:p>
                    <a:p>
                      <a:pPr marL="285750" lvl="0" indent="-285750" algn="just">
                        <a:lnSpc>
                          <a:spcPct val="100000"/>
                        </a:lnSpc>
                        <a:spcBef>
                          <a:spcPts val="0"/>
                        </a:spcBef>
                        <a:spcAft>
                          <a:spcPts val="0"/>
                        </a:spcAft>
                        <a:buFont typeface="Arial"/>
                        <a:buChar char="•"/>
                      </a:pPr>
                      <a:r>
                        <a:rPr lang="en-IN" sz="1800" b="0" i="0" u="none" strike="noStrike" noProof="0">
                          <a:solidFill>
                            <a:srgbClr val="000000"/>
                          </a:solidFill>
                          <a:latin typeface="Times New Roman" panose="02020603050405020304" pitchFamily="18" charset="0"/>
                          <a:cs typeface="Times New Roman" panose="02020603050405020304" pitchFamily="18" charset="0"/>
                        </a:rPr>
                        <a:t>Perceptual Loss – Make the image look good overall.</a:t>
                      </a:r>
                    </a:p>
                    <a:p>
                      <a:pPr marL="285750" lvl="0" indent="-285750" algn="just">
                        <a:lnSpc>
                          <a:spcPct val="100000"/>
                        </a:lnSpc>
                        <a:spcBef>
                          <a:spcPts val="0"/>
                        </a:spcBef>
                        <a:spcAft>
                          <a:spcPts val="0"/>
                        </a:spcAft>
                        <a:buFont typeface="Arial"/>
                        <a:buChar char="•"/>
                      </a:pPr>
                      <a:r>
                        <a:rPr lang="en-IN" sz="1800" b="0" i="0" u="none" strike="noStrike" noProof="0">
                          <a:solidFill>
                            <a:srgbClr val="000000"/>
                          </a:solidFill>
                          <a:latin typeface="Times New Roman" panose="02020603050405020304" pitchFamily="18" charset="0"/>
                          <a:cs typeface="Times New Roman" panose="02020603050405020304" pitchFamily="18" charset="0"/>
                        </a:rPr>
                        <a:t>Style Loss – Keep the style and patterns.</a:t>
                      </a:r>
                    </a:p>
                    <a:p>
                      <a:pPr marL="285750" lvl="0" indent="-285750" algn="just">
                        <a:lnSpc>
                          <a:spcPct val="100000"/>
                        </a:lnSpc>
                        <a:spcBef>
                          <a:spcPts val="0"/>
                        </a:spcBef>
                        <a:spcAft>
                          <a:spcPts val="0"/>
                        </a:spcAft>
                        <a:buFont typeface="Arial"/>
                        <a:buChar char="•"/>
                      </a:pPr>
                      <a:endParaRPr lang="en-IN" sz="1800" b="0" i="0" u="none" strike="noStrike" noProof="0">
                        <a:solidFill>
                          <a:srgbClr val="000000"/>
                        </a:solidFill>
                        <a:latin typeface="Times New Roman" panose="02020603050405020304" pitchFamily="18" charset="0"/>
                        <a:cs typeface="Times New Roman" panose="02020603050405020304" pitchFamily="18" charset="0"/>
                      </a:endParaRPr>
                    </a:p>
                    <a:p>
                      <a:pPr marL="285750" lvl="0" indent="-285750" algn="just">
                        <a:lnSpc>
                          <a:spcPct val="100000"/>
                        </a:lnSpc>
                        <a:spcBef>
                          <a:spcPts val="0"/>
                        </a:spcBef>
                        <a:spcAft>
                          <a:spcPts val="0"/>
                        </a:spcAft>
                        <a:buFont typeface="Arial"/>
                        <a:buChar char="•"/>
                      </a:pPr>
                      <a:endParaRPr lang="en-IN" sz="1800" b="0" i="0" u="none" strike="noStrike" noProof="0">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IN" sz="1800" b="0" i="0" u="none" strike="noStrike" noProof="0" err="1">
                          <a:solidFill>
                            <a:srgbClr val="000000"/>
                          </a:solidFill>
                          <a:latin typeface="Times New Roman" panose="02020603050405020304" pitchFamily="18" charset="0"/>
                          <a:cs typeface="Times New Roman" panose="02020603050405020304" pitchFamily="18" charset="0"/>
                        </a:rPr>
                        <a:t>PConv</a:t>
                      </a:r>
                      <a:r>
                        <a:rPr lang="en-IN" sz="1800" b="0" i="0" u="none" strike="noStrike" noProof="0">
                          <a:solidFill>
                            <a:srgbClr val="000000"/>
                          </a:solidFill>
                          <a:latin typeface="Times New Roman" panose="02020603050405020304" pitchFamily="18" charset="0"/>
                          <a:cs typeface="Times New Roman" panose="02020603050405020304" pitchFamily="18" charset="0"/>
                        </a:rPr>
                        <a:t> :They only focus on the visible parts of an image. fill in the gaps more accurately, because it doesn’t get confused by the empty areas.</a:t>
                      </a:r>
                      <a:endParaRPr lang="en-US" sz="1800" b="0" i="0" u="none" strike="noStrike" noProof="0">
                        <a:solidFill>
                          <a:srgbClr val="000000"/>
                        </a:solidFill>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r>
                        <a:rPr lang="en-IN" sz="1800" b="0" i="0" u="none" strike="noStrike" noProof="0">
                          <a:solidFill>
                            <a:srgbClr val="000000"/>
                          </a:solidFill>
                          <a:latin typeface="Times New Roman" panose="02020603050405020304" pitchFamily="18" charset="0"/>
                          <a:cs typeface="Times New Roman" panose="02020603050405020304" pitchFamily="18" charset="0"/>
                        </a:rPr>
                        <a:t>GAN :Fills missing areas by competing with a fake detector</a:t>
                      </a:r>
                      <a:endParaRPr lang="en-US" sz="1800" b="0" i="0" u="none" strike="noStrike" noProof="0">
                        <a:solidFill>
                          <a:srgbClr val="000000"/>
                        </a:solidFill>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None/>
                      </a:pPr>
                      <a:endParaRPr lang="en-US" b="0" i="0" u="none" strike="noStrike" noProof="0">
                        <a:latin typeface="Times New Roman" panose="02020603050405020304" pitchFamily="18" charset="0"/>
                        <a:cs typeface="Times New Roman" panose="02020603050405020304" pitchFamily="18" charset="0"/>
                      </a:endParaRPr>
                    </a:p>
                  </a:txBody>
                  <a:tcPr/>
                </a:tc>
                <a:tc>
                  <a:txBody>
                    <a:bodyPr/>
                    <a:lstStyle/>
                    <a:p>
                      <a:pPr marL="0" lvl="0" indent="0" algn="l">
                        <a:lnSpc>
                          <a:spcPct val="100000"/>
                        </a:lnSpc>
                        <a:spcBef>
                          <a:spcPts val="0"/>
                        </a:spcBef>
                        <a:spcAft>
                          <a:spcPts val="0"/>
                        </a:spcAft>
                        <a:buNone/>
                      </a:pPr>
                      <a:r>
                        <a:rPr lang="en-US" sz="1800" b="0" i="0" u="none" strike="noStrike" noProof="0">
                          <a:solidFill>
                            <a:srgbClr val="000000"/>
                          </a:solidFill>
                          <a:latin typeface="Times New Roman" panose="02020603050405020304" pitchFamily="18" charset="0"/>
                          <a:cs typeface="Times New Roman" panose="02020603050405020304" pitchFamily="18" charset="0"/>
                        </a:rPr>
                        <a:t>The </a:t>
                      </a:r>
                      <a:r>
                        <a:rPr lang="en-US" sz="1800" b="0" i="0" u="none" strike="noStrike" noProof="0" err="1">
                          <a:solidFill>
                            <a:srgbClr val="000000"/>
                          </a:solidFill>
                          <a:latin typeface="Times New Roman" panose="02020603050405020304" pitchFamily="18" charset="0"/>
                          <a:cs typeface="Times New Roman" panose="02020603050405020304" pitchFamily="18" charset="0"/>
                        </a:rPr>
                        <a:t>PConv</a:t>
                      </a:r>
                      <a:r>
                        <a:rPr lang="en-US" sz="1800" b="0" i="0" u="none" strike="noStrike" noProof="0">
                          <a:solidFill>
                            <a:srgbClr val="000000"/>
                          </a:solidFill>
                          <a:latin typeface="Times New Roman" panose="02020603050405020304" pitchFamily="18" charset="0"/>
                          <a:cs typeface="Times New Roman" panose="02020603050405020304" pitchFamily="18" charset="0"/>
                        </a:rPr>
                        <a:t> model achieved an SSIM of 0.82 and a PSNR of 15.75 dB,</a:t>
                      </a:r>
                    </a:p>
                    <a:p>
                      <a:pPr marL="0" lvl="0" indent="0" algn="l">
                        <a:lnSpc>
                          <a:spcPct val="100000"/>
                        </a:lnSpc>
                        <a:spcBef>
                          <a:spcPts val="0"/>
                        </a:spcBef>
                        <a:spcAft>
                          <a:spcPts val="0"/>
                        </a:spcAft>
                        <a:buNone/>
                      </a:pPr>
                      <a:r>
                        <a:rPr lang="en-US" sz="1800" b="0" i="0" u="none" strike="noStrike" noProof="0">
                          <a:solidFill>
                            <a:srgbClr val="000000"/>
                          </a:solidFill>
                          <a:latin typeface="Times New Roman" panose="02020603050405020304" pitchFamily="18" charset="0"/>
                          <a:cs typeface="Times New Roman" panose="02020603050405020304" pitchFamily="18" charset="0"/>
                        </a:rPr>
                        <a:t>The GAN model performed better, with a higher SSIM of 0.84, showing it produced images even more similar to the original.</a:t>
                      </a:r>
                    </a:p>
                    <a:p>
                      <a:pPr marL="0" lvl="0" indent="0" algn="l">
                        <a:lnSpc>
                          <a:spcPct val="100000"/>
                        </a:lnSpc>
                        <a:spcBef>
                          <a:spcPts val="0"/>
                        </a:spcBef>
                        <a:spcAft>
                          <a:spcPts val="0"/>
                        </a:spcAft>
                        <a:buNone/>
                      </a:pPr>
                      <a:endParaRPr lang="en-US" b="0" i="0" u="none" strike="noStrike" noProof="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53444152"/>
                  </a:ext>
                </a:extLst>
              </a:tr>
            </a:tbl>
          </a:graphicData>
        </a:graphic>
      </p:graphicFrame>
    </p:spTree>
    <p:extLst>
      <p:ext uri="{BB962C8B-B14F-4D97-AF65-F5344CB8AC3E}">
        <p14:creationId xmlns:p14="http://schemas.microsoft.com/office/powerpoint/2010/main" val="1038802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389CD-14C7-318D-D8B4-F900826E3AF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5A1B61E-3389-07AD-14F2-29FD91B665D0}"/>
              </a:ext>
            </a:extLst>
          </p:cNvPr>
          <p:cNvSpPr>
            <a:spLocks noGrp="1"/>
          </p:cNvSpPr>
          <p:nvPr>
            <p:ph type="dt" sz="half" idx="10"/>
          </p:nvPr>
        </p:nvSpPr>
        <p:spPr/>
        <p:txBody>
          <a:bodyPr/>
          <a:lstStyle/>
          <a:p>
            <a:fld id="{445ED85E-A9E3-445C-9F4C-8CD6FE4B0FE4}" type="datetime1">
              <a:rPr lang="en-US" smtClean="0"/>
              <a:t>6/3/2026</a:t>
            </a:fld>
            <a:endParaRPr lang="en-US"/>
          </a:p>
        </p:txBody>
      </p:sp>
      <p:sp>
        <p:nvSpPr>
          <p:cNvPr id="5" name="Footer Placeholder 4">
            <a:extLst>
              <a:ext uri="{FF2B5EF4-FFF2-40B4-BE49-F238E27FC236}">
                <a16:creationId xmlns:a16="http://schemas.microsoft.com/office/drawing/2014/main" id="{F1523A5E-72ED-A867-5C47-91DE088A01EF}"/>
              </a:ext>
            </a:extLst>
          </p:cNvPr>
          <p:cNvSpPr>
            <a:spLocks noGrp="1"/>
          </p:cNvSpPr>
          <p:nvPr>
            <p:ph type="ftr" sz="quarter" idx="11"/>
          </p:nvPr>
        </p:nvSpPr>
        <p:spPr/>
        <p:txBody>
          <a:bodyPr/>
          <a:lstStyle/>
          <a:p>
            <a:r>
              <a:rPr lang="en-US"/>
              <a:t>DEPARTMENT OF ECE</a:t>
            </a:r>
          </a:p>
        </p:txBody>
      </p:sp>
      <p:sp>
        <p:nvSpPr>
          <p:cNvPr id="6" name="Slide Number Placeholder 5">
            <a:extLst>
              <a:ext uri="{FF2B5EF4-FFF2-40B4-BE49-F238E27FC236}">
                <a16:creationId xmlns:a16="http://schemas.microsoft.com/office/drawing/2014/main" id="{C0D5D6AB-CB64-79A1-487F-C008822688EF}"/>
              </a:ext>
            </a:extLst>
          </p:cNvPr>
          <p:cNvSpPr>
            <a:spLocks noGrp="1"/>
          </p:cNvSpPr>
          <p:nvPr>
            <p:ph type="sldNum" sz="quarter" idx="12"/>
          </p:nvPr>
        </p:nvSpPr>
        <p:spPr/>
        <p:txBody>
          <a:bodyPr/>
          <a:lstStyle/>
          <a:p>
            <a:fld id="{330EA680-D336-4FF7-8B7A-9848BB0A1C32}" type="slidenum">
              <a:rPr lang="en-US" smtClean="0"/>
              <a:t>6</a:t>
            </a:fld>
            <a:endParaRPr lang="en-US"/>
          </a:p>
        </p:txBody>
      </p:sp>
      <p:pic>
        <p:nvPicPr>
          <p:cNvPr id="1026" name="Picture 2" descr="KLE Technological University in Hubballi">
            <a:extLst>
              <a:ext uri="{FF2B5EF4-FFF2-40B4-BE49-F238E27FC236}">
                <a16:creationId xmlns:a16="http://schemas.microsoft.com/office/drawing/2014/main" id="{E32FFD35-B9F9-F977-CA07-10DD58A716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537" y="0"/>
            <a:ext cx="2787463" cy="5020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D003023-7523-CED3-3DCB-8DDA1B3E7FC6}"/>
              </a:ext>
            </a:extLst>
          </p:cNvPr>
          <p:cNvSpPr txBox="1"/>
          <p:nvPr/>
        </p:nvSpPr>
        <p:spPr>
          <a:xfrm>
            <a:off x="0" y="0"/>
            <a:ext cx="2191871" cy="338554"/>
          </a:xfrm>
          <a:prstGeom prst="rect">
            <a:avLst/>
          </a:prstGeom>
          <a:solidFill>
            <a:schemeClr val="tx2">
              <a:lumMod val="20000"/>
              <a:lumOff val="80000"/>
            </a:schemeClr>
          </a:solid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a:latin typeface="Times New Roman"/>
                <a:cs typeface="Times New Roman"/>
              </a:rPr>
              <a:t>GEN-AI (25EECC308)</a:t>
            </a:r>
          </a:p>
        </p:txBody>
      </p:sp>
      <p:sp>
        <p:nvSpPr>
          <p:cNvPr id="2" name="TextBox 1">
            <a:extLst>
              <a:ext uri="{FF2B5EF4-FFF2-40B4-BE49-F238E27FC236}">
                <a16:creationId xmlns:a16="http://schemas.microsoft.com/office/drawing/2014/main" id="{BFEE34AE-1EE8-1452-0195-95688AA1CC9D}"/>
              </a:ext>
            </a:extLst>
          </p:cNvPr>
          <p:cNvSpPr txBox="1"/>
          <p:nvPr/>
        </p:nvSpPr>
        <p:spPr>
          <a:xfrm>
            <a:off x="0" y="502024"/>
            <a:ext cx="845101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Times New Roman" panose="02020603050405020304" pitchFamily="18" charset="0"/>
                <a:ea typeface="Calibri"/>
                <a:cs typeface="Times New Roman" panose="02020603050405020304" pitchFamily="18" charset="0"/>
              </a:rPr>
              <a:t>4.Image inpainting with structured or checkerboard-like masking</a:t>
            </a:r>
          </a:p>
        </p:txBody>
      </p:sp>
      <p:graphicFrame>
        <p:nvGraphicFramePr>
          <p:cNvPr id="7" name="Table 6">
            <a:extLst>
              <a:ext uri="{FF2B5EF4-FFF2-40B4-BE49-F238E27FC236}">
                <a16:creationId xmlns:a16="http://schemas.microsoft.com/office/drawing/2014/main" id="{96C3B300-E40A-5087-C21D-0FCD1F6C2E63}"/>
              </a:ext>
            </a:extLst>
          </p:cNvPr>
          <p:cNvGraphicFramePr>
            <a:graphicFrameLocks noGrp="1"/>
          </p:cNvGraphicFramePr>
          <p:nvPr>
            <p:extLst>
              <p:ext uri="{D42A27DB-BD31-4B8C-83A1-F6EECF244321}">
                <p14:modId xmlns:p14="http://schemas.microsoft.com/office/powerpoint/2010/main" val="1315601839"/>
              </p:ext>
            </p:extLst>
          </p:nvPr>
        </p:nvGraphicFramePr>
        <p:xfrm>
          <a:off x="242047" y="1065604"/>
          <a:ext cx="11663082" cy="5290372"/>
        </p:xfrm>
        <a:graphic>
          <a:graphicData uri="http://schemas.openxmlformats.org/drawingml/2006/table">
            <a:tbl>
              <a:tblPr firstRow="1" bandRow="1">
                <a:tableStyleId>{5C22544A-7EE6-4342-B048-85BDC9FD1C3A}</a:tableStyleId>
              </a:tblPr>
              <a:tblGrid>
                <a:gridCol w="2694677">
                  <a:extLst>
                    <a:ext uri="{9D8B030D-6E8A-4147-A177-3AD203B41FA5}">
                      <a16:colId xmlns:a16="http://schemas.microsoft.com/office/drawing/2014/main" val="1738808003"/>
                    </a:ext>
                  </a:extLst>
                </a:gridCol>
                <a:gridCol w="2951073">
                  <a:extLst>
                    <a:ext uri="{9D8B030D-6E8A-4147-A177-3AD203B41FA5}">
                      <a16:colId xmlns:a16="http://schemas.microsoft.com/office/drawing/2014/main" val="2492365039"/>
                    </a:ext>
                  </a:extLst>
                </a:gridCol>
                <a:gridCol w="2256801">
                  <a:extLst>
                    <a:ext uri="{9D8B030D-6E8A-4147-A177-3AD203B41FA5}">
                      <a16:colId xmlns:a16="http://schemas.microsoft.com/office/drawing/2014/main" val="1475525127"/>
                    </a:ext>
                  </a:extLst>
                </a:gridCol>
                <a:gridCol w="3760531">
                  <a:extLst>
                    <a:ext uri="{9D8B030D-6E8A-4147-A177-3AD203B41FA5}">
                      <a16:colId xmlns:a16="http://schemas.microsoft.com/office/drawing/2014/main" val="755714069"/>
                    </a:ext>
                  </a:extLst>
                </a:gridCol>
              </a:tblGrid>
              <a:tr h="574638">
                <a:tc>
                  <a:txBody>
                    <a:bodyPr/>
                    <a:lstStyle/>
                    <a:p>
                      <a:pPr lvl="0">
                        <a:buNone/>
                      </a:pPr>
                      <a:r>
                        <a:rPr lang="en-US" b="0">
                          <a:latin typeface="Times New Roman" panose="02020603050405020304" pitchFamily="18" charset="0"/>
                          <a:cs typeface="Times New Roman" panose="02020603050405020304" pitchFamily="18" charset="0"/>
                        </a:rPr>
                        <a:t>DATA</a:t>
                      </a:r>
                    </a:p>
                  </a:txBody>
                  <a:tcPr/>
                </a:tc>
                <a:tc>
                  <a:txBody>
                    <a:bodyPr/>
                    <a:lstStyle/>
                    <a:p>
                      <a:r>
                        <a:rPr lang="en-US" b="0">
                          <a:latin typeface="Times New Roman" panose="02020603050405020304" pitchFamily="18" charset="0"/>
                          <a:cs typeface="Times New Roman" panose="02020603050405020304" pitchFamily="18" charset="0"/>
                        </a:rPr>
                        <a:t>METHODOLOGY</a:t>
                      </a:r>
                      <a:endParaRPr lang="en-IN" b="0">
                        <a:latin typeface="Times New Roman" panose="02020603050405020304" pitchFamily="18" charset="0"/>
                        <a:cs typeface="Times New Roman" panose="02020603050405020304" pitchFamily="18" charset="0"/>
                      </a:endParaRPr>
                    </a:p>
                  </a:txBody>
                  <a:tcPr/>
                </a:tc>
                <a:tc>
                  <a:txBody>
                    <a:bodyPr/>
                    <a:lstStyle/>
                    <a:p>
                      <a:r>
                        <a:rPr lang="en-US" b="0">
                          <a:latin typeface="Times New Roman" panose="02020603050405020304" pitchFamily="18" charset="0"/>
                          <a:cs typeface="Times New Roman" panose="02020603050405020304" pitchFamily="18" charset="0"/>
                        </a:rPr>
                        <a:t>MODEL</a:t>
                      </a:r>
                      <a:endParaRPr lang="en-IN" b="0">
                        <a:latin typeface="Times New Roman" panose="02020603050405020304" pitchFamily="18" charset="0"/>
                        <a:cs typeface="Times New Roman" panose="02020603050405020304" pitchFamily="18" charset="0"/>
                      </a:endParaRPr>
                    </a:p>
                  </a:txBody>
                  <a:tcPr/>
                </a:tc>
                <a:tc>
                  <a:txBody>
                    <a:bodyPr/>
                    <a:lstStyle/>
                    <a:p>
                      <a:r>
                        <a:rPr lang="en-US" b="0">
                          <a:latin typeface="Times New Roman" panose="02020603050405020304" pitchFamily="18" charset="0"/>
                          <a:cs typeface="Times New Roman" panose="02020603050405020304" pitchFamily="18" charset="0"/>
                        </a:rPr>
                        <a:t>RESULTS</a:t>
                      </a: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2065880"/>
                  </a:ext>
                </a:extLst>
              </a:tr>
              <a:tr h="4715734">
                <a:tc>
                  <a:txBody>
                    <a:bodyPr/>
                    <a:lstStyle/>
                    <a:p>
                      <a:pPr marL="0" lvl="0" indent="0" algn="l">
                        <a:lnSpc>
                          <a:spcPct val="100000"/>
                        </a:lnSpc>
                        <a:spcBef>
                          <a:spcPts val="0"/>
                        </a:spcBef>
                        <a:spcAft>
                          <a:spcPts val="0"/>
                        </a:spcAft>
                        <a:buNone/>
                      </a:pPr>
                      <a:endParaRPr lang="en-IN" sz="1600" b="0" i="0" u="none" strike="noStrike" noProof="0">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r>
                        <a:rPr lang="en-IN" sz="1600" b="0" i="0" u="none" strike="noStrike" noProof="0" err="1">
                          <a:latin typeface="Times New Roman" panose="02020603050405020304" pitchFamily="18" charset="0"/>
                          <a:cs typeface="Times New Roman" panose="02020603050405020304" pitchFamily="18" charset="0"/>
                        </a:rPr>
                        <a:t>CelebA</a:t>
                      </a:r>
                      <a:r>
                        <a:rPr lang="en-IN" sz="1600" b="0" i="0" u="none" strike="noStrike" noProof="0">
                          <a:latin typeface="Times New Roman" panose="02020603050405020304" pitchFamily="18" charset="0"/>
                          <a:cs typeface="Times New Roman" panose="02020603050405020304" pitchFamily="18" charset="0"/>
                        </a:rPr>
                        <a:t> (Celeb Faces Attributes Dataset) ,</a:t>
                      </a:r>
                    </a:p>
                    <a:p>
                      <a:pPr marL="0" lvl="0" indent="0" algn="l">
                        <a:lnSpc>
                          <a:spcPct val="100000"/>
                        </a:lnSpc>
                        <a:spcBef>
                          <a:spcPts val="0"/>
                        </a:spcBef>
                        <a:spcAft>
                          <a:spcPts val="0"/>
                        </a:spcAft>
                        <a:buNone/>
                      </a:pPr>
                      <a:r>
                        <a:rPr lang="en-IN" sz="1600" b="0" i="0" u="none" strike="noStrike" noProof="0">
                          <a:latin typeface="Times New Roman" panose="02020603050405020304" pitchFamily="18" charset="0"/>
                          <a:cs typeface="Times New Roman" panose="02020603050405020304" pitchFamily="18" charset="0"/>
                        </a:rPr>
                        <a:t> ImageNet .</a:t>
                      </a:r>
                      <a:endParaRPr lang="en-IN" b="0">
                        <a:latin typeface="Times New Roman" panose="02020603050405020304" pitchFamily="18" charset="0"/>
                        <a:cs typeface="Times New Roman" panose="02020603050405020304" pitchFamily="18" charset="0"/>
                      </a:endParaRPr>
                    </a:p>
                    <a:p>
                      <a:pPr marL="285750" lvl="0" indent="-285750" algn="l">
                        <a:lnSpc>
                          <a:spcPct val="100000"/>
                        </a:lnSpc>
                        <a:spcBef>
                          <a:spcPts val="0"/>
                        </a:spcBef>
                        <a:spcAft>
                          <a:spcPts val="0"/>
                        </a:spcAft>
                        <a:buFont typeface="Arial"/>
                        <a:buChar char="•"/>
                      </a:pPr>
                      <a:endParaRPr lang="en-IN" b="0">
                        <a:latin typeface="Times New Roman" panose="02020603050405020304" pitchFamily="18" charset="0"/>
                        <a:cs typeface="Times New Roman" panose="02020603050405020304" pitchFamily="18" charset="0"/>
                      </a:endParaRPr>
                    </a:p>
                    <a:p>
                      <a:pPr lvl="0" algn="l">
                        <a:lnSpc>
                          <a:spcPct val="100000"/>
                        </a:lnSpc>
                        <a:spcBef>
                          <a:spcPts val="0"/>
                        </a:spcBef>
                        <a:spcAft>
                          <a:spcPts val="0"/>
                        </a:spcAft>
                        <a:buNone/>
                      </a:pPr>
                      <a:endParaRPr lang="en-IN" sz="1600" b="0" i="0" u="none" strike="noStrike" noProof="0">
                        <a:latin typeface="Times New Roman" panose="02020603050405020304" pitchFamily="18" charset="0"/>
                        <a:cs typeface="Times New Roman" panose="02020603050405020304" pitchFamily="18" charset="0"/>
                      </a:endParaRPr>
                    </a:p>
                    <a:p>
                      <a:pPr lvl="0">
                        <a:buNone/>
                      </a:pPr>
                      <a:endParaRPr lang="en-IN" sz="1600" b="0">
                        <a:latin typeface="Times New Roman" panose="02020603050405020304" pitchFamily="18" charset="0"/>
                        <a:cs typeface="Times New Roman" panose="02020603050405020304" pitchFamily="18" charset="0"/>
                      </a:endParaRPr>
                    </a:p>
                    <a:p>
                      <a:pPr lvl="0">
                        <a:buNone/>
                      </a:pPr>
                      <a:endParaRPr lang="en-IN" sz="1600" b="0">
                        <a:latin typeface="Times New Roman" panose="02020603050405020304" pitchFamily="18" charset="0"/>
                        <a:cs typeface="Times New Roman" panose="02020603050405020304" pitchFamily="18" charset="0"/>
                      </a:endParaRPr>
                    </a:p>
                    <a:p>
                      <a:pPr lvl="0">
                        <a:buNone/>
                      </a:pPr>
                      <a:endParaRPr lang="en-IN" sz="1600" b="0">
                        <a:latin typeface="Times New Roman" panose="02020603050405020304" pitchFamily="18" charset="0"/>
                        <a:cs typeface="Times New Roman" panose="02020603050405020304" pitchFamily="18" charset="0"/>
                      </a:endParaRPr>
                    </a:p>
                    <a:p>
                      <a:pPr lvl="0">
                        <a:buNone/>
                      </a:pPr>
                      <a:endParaRPr lang="en-IN" sz="1600" b="0">
                        <a:latin typeface="Times New Roman" panose="02020603050405020304" pitchFamily="18" charset="0"/>
                        <a:cs typeface="Times New Roman" panose="02020603050405020304" pitchFamily="18" charset="0"/>
                      </a:endParaRPr>
                    </a:p>
                    <a:p>
                      <a:pPr lvl="0">
                        <a:buNone/>
                      </a:pPr>
                      <a:endParaRPr lang="en-IN" sz="1600" b="0">
                        <a:latin typeface="Times New Roman" panose="02020603050405020304" pitchFamily="18" charset="0"/>
                        <a:cs typeface="Times New Roman" panose="02020603050405020304" pitchFamily="18" charset="0"/>
                      </a:endParaRPr>
                    </a:p>
                  </a:txBody>
                  <a:tcPr/>
                </a:tc>
                <a:tc>
                  <a:txBody>
                    <a:bodyPr/>
                    <a:lstStyle/>
                    <a:p>
                      <a:pPr marL="0" lvl="0" indent="0" algn="just">
                        <a:lnSpc>
                          <a:spcPct val="100000"/>
                        </a:lnSpc>
                        <a:spcBef>
                          <a:spcPts val="0"/>
                        </a:spcBef>
                        <a:spcAft>
                          <a:spcPts val="0"/>
                        </a:spcAft>
                        <a:buFont typeface="Arial" panose="05000000000000000000" pitchFamily="2" charset="2"/>
                        <a:buChar char="•"/>
                      </a:pPr>
                      <a:r>
                        <a:rPr lang="en-IN" sz="1800" b="0" i="0" u="none" strike="noStrike" noProof="0">
                          <a:latin typeface="Times New Roman" panose="02020603050405020304" pitchFamily="18" charset="0"/>
                          <a:cs typeface="Times New Roman" panose="02020603050405020304" pitchFamily="18" charset="0"/>
                        </a:rPr>
                        <a:t>Chessboard-like masking: Every other patch of the image is removed like a chessboard pattern.</a:t>
                      </a:r>
                      <a:endParaRPr lang="en-IN" sz="1800" b="0">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panose="05000000000000000000" pitchFamily="2" charset="2"/>
                        <a:buChar char="•"/>
                      </a:pPr>
                      <a:r>
                        <a:rPr lang="en-IN" sz="1800" b="0" i="0" u="none" strike="noStrike" noProof="0">
                          <a:latin typeface="Times New Roman" panose="02020603050405020304" pitchFamily="18" charset="0"/>
                          <a:cs typeface="Times New Roman" panose="02020603050405020304" pitchFamily="18" charset="0"/>
                        </a:rPr>
                        <a:t>Image resizing: Images are resized to a fixed size for the model.</a:t>
                      </a:r>
                      <a:endParaRPr lang="en-IN" b="0">
                        <a:latin typeface="Times New Roman" panose="02020603050405020304" pitchFamily="18" charset="0"/>
                        <a:cs typeface="Times New Roman" panose="02020603050405020304" pitchFamily="18" charset="0"/>
                      </a:endParaRPr>
                    </a:p>
                    <a:p>
                      <a:pPr marL="0" lvl="0" indent="0" algn="just">
                        <a:lnSpc>
                          <a:spcPct val="100000"/>
                        </a:lnSpc>
                        <a:spcBef>
                          <a:spcPts val="0"/>
                        </a:spcBef>
                        <a:spcAft>
                          <a:spcPts val="0"/>
                        </a:spcAft>
                        <a:buFont typeface="Arial" panose="05000000000000000000" pitchFamily="2" charset="2"/>
                        <a:buChar char="•"/>
                      </a:pPr>
                      <a:r>
                        <a:rPr lang="en-IN" sz="1800" b="0" i="0" u="none" strike="noStrike" noProof="0">
                          <a:latin typeface="Times New Roman" panose="02020603050405020304" pitchFamily="18" charset="0"/>
                          <a:cs typeface="Times New Roman" panose="02020603050405020304" pitchFamily="18" charset="0"/>
                        </a:rPr>
                        <a:t>Normalization: Pixel values are scaled for better training.</a:t>
                      </a:r>
                      <a:endParaRPr lang="en-IN" b="0">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pPr>
                      <a:endParaRPr lang="en-IN" sz="1800" b="0">
                        <a:latin typeface="Times New Roman" panose="02020603050405020304" pitchFamily="18" charset="0"/>
                        <a:cs typeface="Times New Roman" panose="02020603050405020304" pitchFamily="18" charset="0"/>
                      </a:endParaRPr>
                    </a:p>
                  </a:txBody>
                  <a:tcPr/>
                </a:tc>
                <a:tc>
                  <a:txBody>
                    <a:bodyPr/>
                    <a:lstStyle/>
                    <a:p>
                      <a:pPr marL="0" indent="0" algn="l">
                        <a:lnSpc>
                          <a:spcPct val="100000"/>
                        </a:lnSpc>
                        <a:spcBef>
                          <a:spcPts val="0"/>
                        </a:spcBef>
                        <a:spcAft>
                          <a:spcPts val="0"/>
                        </a:spcAft>
                        <a:buFont typeface="Arial" panose="05000000000000000000" pitchFamily="2" charset="2"/>
                        <a:buChar char="•"/>
                      </a:pPr>
                      <a:r>
                        <a:rPr lang="en-US" b="0" i="0" u="none" strike="noStrike" noProof="0">
                          <a:latin typeface="Times New Roman" panose="02020603050405020304" pitchFamily="18" charset="0"/>
                          <a:cs typeface="Times New Roman" panose="02020603050405020304" pitchFamily="18" charset="0"/>
                        </a:rPr>
                        <a:t>GAN fills missing parts and checks if they look real.</a:t>
                      </a:r>
                      <a:endParaRPr lang="en-US" b="0">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r>
                        <a:rPr lang="en-US" b="0" i="0" u="none" strike="noStrike" noProof="0">
                          <a:latin typeface="Times New Roman" panose="02020603050405020304" pitchFamily="18" charset="0"/>
                          <a:cs typeface="Times New Roman" panose="02020603050405020304" pitchFamily="18" charset="0"/>
                        </a:rPr>
                        <a:t>PGN fills images step by step, from rough to detailed.</a:t>
                      </a:r>
                      <a:endParaRPr lang="en-US" b="0">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panose="05000000000000000000" pitchFamily="2" charset="2"/>
                        <a:buChar char="•"/>
                      </a:pPr>
                      <a:r>
                        <a:rPr lang="en-US" b="0" i="0" u="none" strike="noStrike" noProof="0">
                          <a:latin typeface="Times New Roman" panose="02020603050405020304" pitchFamily="18" charset="0"/>
                          <a:cs typeface="Times New Roman" panose="02020603050405020304" pitchFamily="18" charset="0"/>
                        </a:rPr>
                        <a:t>LSTM helps the model remember nearby areas to make the filled parts match.</a:t>
                      </a:r>
                      <a:endParaRPr lang="en-US" b="0">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None/>
                      </a:pPr>
                      <a:endParaRPr lang="en-US" b="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b="0">
                        <a:latin typeface="Times New Roman" panose="02020603050405020304" pitchFamily="18" charset="0"/>
                        <a:cs typeface="Times New Roman" panose="02020603050405020304" pitchFamily="18" charset="0"/>
                      </a:endParaRPr>
                    </a:p>
                  </a:txBody>
                  <a:tcPr/>
                </a:tc>
                <a:tc>
                  <a:txBody>
                    <a:bodyPr/>
                    <a:lstStyle/>
                    <a:p>
                      <a:pPr marL="285750" indent="-285750">
                        <a:buFont typeface="Wingdings" panose="05000000000000000000" pitchFamily="2" charset="2"/>
                        <a:buChar char="§"/>
                      </a:pPr>
                      <a:endParaRPr lang="en-US" b="0">
                        <a:latin typeface="Times New Roman" panose="02020603050405020304" pitchFamily="18" charset="0"/>
                        <a:cs typeface="Times New Roman" panose="02020603050405020304" pitchFamily="18" charset="0"/>
                      </a:endParaRPr>
                    </a:p>
                    <a:p>
                      <a:pPr lvl="0">
                        <a:buNone/>
                      </a:pPr>
                      <a:r>
                        <a:rPr lang="en-IN" b="0" i="0" u="none" strike="noStrike" noProof="0">
                          <a:latin typeface="Times New Roman" panose="02020603050405020304" pitchFamily="18" charset="0"/>
                          <a:cs typeface="Times New Roman" panose="02020603050405020304" pitchFamily="18" charset="0"/>
                        </a:rPr>
                        <a:t>The proposed method, which integrates PGN (Progressive Growing Network), LSTM, and GAN, achieved a PSNR of 25.56 and an SSIM of 0.82 on the ImageNet dataset, and a PSNR of 26.47 with an SSIM of 0.87 on the </a:t>
                      </a:r>
                      <a:r>
                        <a:rPr lang="en-IN" b="0" i="0" u="none" strike="noStrike" noProof="0" err="1">
                          <a:latin typeface="Times New Roman" panose="02020603050405020304" pitchFamily="18" charset="0"/>
                          <a:cs typeface="Times New Roman" panose="02020603050405020304" pitchFamily="18" charset="0"/>
                        </a:rPr>
                        <a:t>CelebA</a:t>
                      </a:r>
                      <a:r>
                        <a:rPr lang="en-IN" b="0" i="0" u="none" strike="noStrike" noProof="0">
                          <a:latin typeface="Times New Roman" panose="02020603050405020304" pitchFamily="18" charset="0"/>
                          <a:cs typeface="Times New Roman" panose="02020603050405020304" pitchFamily="18" charset="0"/>
                        </a:rPr>
                        <a:t> dataset. </a:t>
                      </a: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53444152"/>
                  </a:ext>
                </a:extLst>
              </a:tr>
            </a:tbl>
          </a:graphicData>
        </a:graphic>
      </p:graphicFrame>
    </p:spTree>
    <p:extLst>
      <p:ext uri="{BB962C8B-B14F-4D97-AF65-F5344CB8AC3E}">
        <p14:creationId xmlns:p14="http://schemas.microsoft.com/office/powerpoint/2010/main" val="4000978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0BD8B-41FB-A7DD-3954-4171EB67C67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F30D76F-6811-3AFE-633C-88C4C17371E2}"/>
              </a:ext>
            </a:extLst>
          </p:cNvPr>
          <p:cNvSpPr>
            <a:spLocks noGrp="1"/>
          </p:cNvSpPr>
          <p:nvPr>
            <p:ph type="dt" sz="half" idx="10"/>
          </p:nvPr>
        </p:nvSpPr>
        <p:spPr/>
        <p:txBody>
          <a:bodyPr/>
          <a:lstStyle/>
          <a:p>
            <a:fld id="{445ED85E-A9E3-445C-9F4C-8CD6FE4B0FE4}" type="datetime1">
              <a:rPr lang="en-US" smtClean="0"/>
              <a:t>6/3/2026</a:t>
            </a:fld>
            <a:endParaRPr lang="en-US"/>
          </a:p>
        </p:txBody>
      </p:sp>
      <p:sp>
        <p:nvSpPr>
          <p:cNvPr id="5" name="Footer Placeholder 4">
            <a:extLst>
              <a:ext uri="{FF2B5EF4-FFF2-40B4-BE49-F238E27FC236}">
                <a16:creationId xmlns:a16="http://schemas.microsoft.com/office/drawing/2014/main" id="{052912EC-5E1E-EF02-A0C7-4D455754F8BA}"/>
              </a:ext>
            </a:extLst>
          </p:cNvPr>
          <p:cNvSpPr>
            <a:spLocks noGrp="1"/>
          </p:cNvSpPr>
          <p:nvPr>
            <p:ph type="ftr" sz="quarter" idx="11"/>
          </p:nvPr>
        </p:nvSpPr>
        <p:spPr/>
        <p:txBody>
          <a:bodyPr/>
          <a:lstStyle/>
          <a:p>
            <a:r>
              <a:rPr lang="en-US"/>
              <a:t>DEPARTMENT OF ECE</a:t>
            </a:r>
          </a:p>
        </p:txBody>
      </p:sp>
      <p:sp>
        <p:nvSpPr>
          <p:cNvPr id="6" name="Slide Number Placeholder 5">
            <a:extLst>
              <a:ext uri="{FF2B5EF4-FFF2-40B4-BE49-F238E27FC236}">
                <a16:creationId xmlns:a16="http://schemas.microsoft.com/office/drawing/2014/main" id="{345D32BD-1D97-9BE4-7898-F7E4155FE909}"/>
              </a:ext>
            </a:extLst>
          </p:cNvPr>
          <p:cNvSpPr>
            <a:spLocks noGrp="1"/>
          </p:cNvSpPr>
          <p:nvPr>
            <p:ph type="sldNum" sz="quarter" idx="12"/>
          </p:nvPr>
        </p:nvSpPr>
        <p:spPr/>
        <p:txBody>
          <a:bodyPr/>
          <a:lstStyle/>
          <a:p>
            <a:fld id="{330EA680-D336-4FF7-8B7A-9848BB0A1C32}" type="slidenum">
              <a:rPr lang="en-US" smtClean="0"/>
              <a:t>7</a:t>
            </a:fld>
            <a:endParaRPr lang="en-US"/>
          </a:p>
        </p:txBody>
      </p:sp>
      <p:pic>
        <p:nvPicPr>
          <p:cNvPr id="1026" name="Picture 2" descr="KLE Technological University in Hubballi">
            <a:extLst>
              <a:ext uri="{FF2B5EF4-FFF2-40B4-BE49-F238E27FC236}">
                <a16:creationId xmlns:a16="http://schemas.microsoft.com/office/drawing/2014/main" id="{F70A4E85-B193-65BF-CCF6-BA253CC347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537" y="0"/>
            <a:ext cx="2787463" cy="5020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3948104-627C-C0ED-72B5-8C2B817A3C8F}"/>
              </a:ext>
            </a:extLst>
          </p:cNvPr>
          <p:cNvSpPr txBox="1"/>
          <p:nvPr/>
        </p:nvSpPr>
        <p:spPr>
          <a:xfrm>
            <a:off x="0" y="0"/>
            <a:ext cx="2191871" cy="338554"/>
          </a:xfrm>
          <a:prstGeom prst="rect">
            <a:avLst/>
          </a:prstGeom>
          <a:solidFill>
            <a:schemeClr val="tx2">
              <a:lumMod val="20000"/>
              <a:lumOff val="80000"/>
            </a:schemeClr>
          </a:solid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a:latin typeface="Times New Roman"/>
                <a:cs typeface="Times New Roman"/>
              </a:rPr>
              <a:t>GEN-AI (25EECC308)</a:t>
            </a:r>
          </a:p>
        </p:txBody>
      </p:sp>
      <p:sp>
        <p:nvSpPr>
          <p:cNvPr id="2" name="Title 1">
            <a:extLst>
              <a:ext uri="{FF2B5EF4-FFF2-40B4-BE49-F238E27FC236}">
                <a16:creationId xmlns:a16="http://schemas.microsoft.com/office/drawing/2014/main" id="{0885EA8D-C2B5-70AF-5AF5-C20070C25311}"/>
              </a:ext>
            </a:extLst>
          </p:cNvPr>
          <p:cNvSpPr>
            <a:spLocks noGrp="1"/>
          </p:cNvSpPr>
          <p:nvPr/>
        </p:nvSpPr>
        <p:spPr>
          <a:xfrm>
            <a:off x="51829" y="338554"/>
            <a:ext cx="11492751" cy="5793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a:latin typeface="Times New Roman" panose="02020603050405020304" pitchFamily="18" charset="0"/>
                <a:cs typeface="Times New Roman" panose="02020603050405020304" pitchFamily="18" charset="0"/>
              </a:rPr>
              <a:t>Different Methods to Implement :</a:t>
            </a:r>
          </a:p>
        </p:txBody>
      </p:sp>
      <p:sp>
        <p:nvSpPr>
          <p:cNvPr id="7" name="TextBox 6">
            <a:extLst>
              <a:ext uri="{FF2B5EF4-FFF2-40B4-BE49-F238E27FC236}">
                <a16:creationId xmlns:a16="http://schemas.microsoft.com/office/drawing/2014/main" id="{23C04D00-3795-64B2-E78C-1F2FDB11F0F1}"/>
              </a:ext>
            </a:extLst>
          </p:cNvPr>
          <p:cNvSpPr txBox="1"/>
          <p:nvPr/>
        </p:nvSpPr>
        <p:spPr>
          <a:xfrm>
            <a:off x="51829" y="1212275"/>
            <a:ext cx="12059489" cy="5509200"/>
          </a:xfrm>
          <a:prstGeom prst="rect">
            <a:avLst/>
          </a:prstGeom>
          <a:noFill/>
        </p:spPr>
        <p:txBody>
          <a:bodyPr wrap="square" rtlCol="0">
            <a:spAutoFit/>
          </a:bodyPr>
          <a:lstStyle/>
          <a:p>
            <a:pPr algn="just"/>
            <a:r>
              <a:rPr lang="en-US" sz="2000" b="1">
                <a:latin typeface="Times New Roman" panose="02020603050405020304" pitchFamily="18" charset="0"/>
                <a:cs typeface="Times New Roman" panose="02020603050405020304" pitchFamily="18" charset="0"/>
              </a:rPr>
              <a:t>1.Patch-Based Methods -</a:t>
            </a:r>
            <a:r>
              <a:rPr lang="en-US" sz="2000">
                <a:latin typeface="Times New Roman" panose="02020603050405020304" pitchFamily="18" charset="0"/>
                <a:cs typeface="Times New Roman" panose="02020603050405020304" pitchFamily="18" charset="0"/>
              </a:rPr>
              <a:t>Patch-based methods work by copying similar patches (small image blocks) from nearby regions of the image and placing them into the missing area. The system searches for the most suitable matching texture and uses it for reconstruction.</a:t>
            </a:r>
          </a:p>
          <a:p>
            <a:pPr algn="just"/>
            <a:endParaRPr lang="en-US" sz="2000">
              <a:latin typeface="Times New Roman" panose="02020603050405020304" pitchFamily="18" charset="0"/>
              <a:cs typeface="Times New Roman" panose="02020603050405020304" pitchFamily="18" charset="0"/>
            </a:endParaRPr>
          </a:p>
          <a:p>
            <a:pPr algn="just"/>
            <a:r>
              <a:rPr lang="en-US" sz="2000" b="1">
                <a:latin typeface="Times New Roman" panose="02020603050405020304" pitchFamily="18" charset="0"/>
                <a:cs typeface="Times New Roman" panose="02020603050405020304" pitchFamily="18" charset="0"/>
              </a:rPr>
              <a:t>2. Deep Learning Methods (CNN-Based) - </a:t>
            </a:r>
            <a:r>
              <a:rPr lang="en-US" sz="2000">
                <a:latin typeface="Times New Roman" panose="02020603050405020304" pitchFamily="18" charset="0"/>
                <a:cs typeface="Times New Roman" panose="02020603050405020304" pitchFamily="18" charset="0"/>
              </a:rPr>
              <a:t>CNN-based image inpainting uses deep neural networks to learn image patterns, structures, and textures from large datasets. The model predicts the missing region based on the surrounding visual information.</a:t>
            </a:r>
          </a:p>
          <a:p>
            <a:pPr algn="just"/>
            <a:endParaRPr lang="en-US" sz="2000">
              <a:latin typeface="Times New Roman" panose="02020603050405020304" pitchFamily="18" charset="0"/>
              <a:cs typeface="Times New Roman" panose="02020603050405020304" pitchFamily="18" charset="0"/>
            </a:endParaRPr>
          </a:p>
          <a:p>
            <a:pPr algn="just"/>
            <a:r>
              <a:rPr lang="en-US" b="1">
                <a:latin typeface="Times New Roman" panose="02020603050405020304" pitchFamily="18" charset="0"/>
                <a:cs typeface="Times New Roman" panose="02020603050405020304" pitchFamily="18" charset="0"/>
              </a:rPr>
              <a:t>3</a:t>
            </a:r>
            <a:r>
              <a:rPr lang="en-US" sz="2000" b="1">
                <a:latin typeface="Times New Roman" panose="02020603050405020304" pitchFamily="18" charset="0"/>
                <a:cs typeface="Times New Roman" panose="02020603050405020304" pitchFamily="18" charset="0"/>
              </a:rPr>
              <a:t>. GAN-Based Methods </a:t>
            </a:r>
            <a:r>
              <a:rPr lang="en-US" b="1">
                <a:latin typeface="Times New Roman" panose="02020603050405020304" pitchFamily="18" charset="0"/>
                <a:cs typeface="Times New Roman" panose="02020603050405020304" pitchFamily="18" charset="0"/>
              </a:rPr>
              <a:t>-</a:t>
            </a:r>
            <a:r>
              <a:rPr lang="en-US" sz="2000">
                <a:latin typeface="Times New Roman" panose="02020603050405020304" pitchFamily="18" charset="0"/>
                <a:cs typeface="Times New Roman" panose="02020603050405020304" pitchFamily="18" charset="0"/>
              </a:rPr>
              <a:t>GAN (Generative Adversarial Network) consists of two models:</a:t>
            </a:r>
          </a:p>
          <a:p>
            <a:pPr marL="285750" indent="-285750" algn="just">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Generator</a:t>
            </a:r>
            <a:r>
              <a:rPr lang="en-US" sz="2000">
                <a:latin typeface="Times New Roman" panose="02020603050405020304" pitchFamily="18" charset="0"/>
                <a:cs typeface="Times New Roman" panose="02020603050405020304" pitchFamily="18" charset="0"/>
              </a:rPr>
              <a:t> → creates the missing image region</a:t>
            </a:r>
          </a:p>
          <a:p>
            <a:pPr marL="285750" indent="-285750" algn="just">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Discriminator</a:t>
            </a:r>
            <a:r>
              <a:rPr lang="en-US" sz="2000">
                <a:latin typeface="Times New Roman" panose="02020603050405020304" pitchFamily="18" charset="0"/>
                <a:cs typeface="Times New Roman" panose="02020603050405020304" pitchFamily="18" charset="0"/>
              </a:rPr>
              <a:t> → checks whether the generated part looks real or fake</a:t>
            </a:r>
          </a:p>
          <a:p>
            <a:pPr algn="just"/>
            <a:r>
              <a:rPr lang="en-US" sz="2000">
                <a:latin typeface="Times New Roman" panose="02020603050405020304" pitchFamily="18" charset="0"/>
                <a:cs typeface="Times New Roman" panose="02020603050405020304" pitchFamily="18" charset="0"/>
              </a:rPr>
              <a:t>Both models work together to improve the quality of reconstructed images and make them look realistic.</a:t>
            </a:r>
          </a:p>
          <a:p>
            <a:pPr algn="just"/>
            <a:endParaRPr lang="en-US">
              <a:latin typeface="Times New Roman" panose="02020603050405020304" pitchFamily="18" charset="0"/>
              <a:cs typeface="Times New Roman" panose="02020603050405020304" pitchFamily="18" charset="0"/>
            </a:endParaRPr>
          </a:p>
          <a:p>
            <a:pPr algn="just"/>
            <a:r>
              <a:rPr lang="en-US" sz="2000" b="1">
                <a:latin typeface="Times New Roman" panose="02020603050405020304" pitchFamily="18" charset="0"/>
                <a:cs typeface="Times New Roman" panose="02020603050405020304" pitchFamily="18" charset="0"/>
              </a:rPr>
              <a:t>4.  Diffusion Models -</a:t>
            </a:r>
            <a:r>
              <a:rPr lang="en-US" sz="2000">
                <a:latin typeface="Times New Roman" panose="02020603050405020304" pitchFamily="18" charset="0"/>
                <a:cs typeface="Times New Roman" panose="02020603050405020304" pitchFamily="18" charset="0"/>
              </a:rPr>
              <a:t>Diffusion models are advanced generative models that reconstruct missing image regions by gradually removing noise and generating new pixels based on surrounding image context.</a:t>
            </a:r>
            <a:endParaRPr lang="en-US" sz="2000" b="1">
              <a:latin typeface="Times New Roman" panose="02020603050405020304" pitchFamily="18" charset="0"/>
              <a:cs typeface="Times New Roman" panose="02020603050405020304" pitchFamily="18" charset="0"/>
            </a:endParaRPr>
          </a:p>
          <a:p>
            <a:pPr algn="just"/>
            <a:endParaRPr lang="en-US">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a:p>
        </p:txBody>
      </p:sp>
    </p:spTree>
    <p:extLst>
      <p:ext uri="{BB962C8B-B14F-4D97-AF65-F5344CB8AC3E}">
        <p14:creationId xmlns:p14="http://schemas.microsoft.com/office/powerpoint/2010/main" val="2619308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600CD-FEF3-8FED-2FA8-5988445C8CA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93C4798-D991-7AA3-F802-C09EDAEC4A08}"/>
              </a:ext>
            </a:extLst>
          </p:cNvPr>
          <p:cNvSpPr>
            <a:spLocks noGrp="1"/>
          </p:cNvSpPr>
          <p:nvPr>
            <p:ph type="dt" sz="half" idx="10"/>
          </p:nvPr>
        </p:nvSpPr>
        <p:spPr/>
        <p:txBody>
          <a:bodyPr/>
          <a:lstStyle/>
          <a:p>
            <a:fld id="{445ED85E-A9E3-445C-9F4C-8CD6FE4B0FE4}" type="datetime1">
              <a:rPr lang="en-US" smtClean="0"/>
              <a:t>6/3/2026</a:t>
            </a:fld>
            <a:endParaRPr lang="en-US"/>
          </a:p>
        </p:txBody>
      </p:sp>
      <p:sp>
        <p:nvSpPr>
          <p:cNvPr id="5" name="Footer Placeholder 4">
            <a:extLst>
              <a:ext uri="{FF2B5EF4-FFF2-40B4-BE49-F238E27FC236}">
                <a16:creationId xmlns:a16="http://schemas.microsoft.com/office/drawing/2014/main" id="{50895FB9-63F5-E8C5-F042-7F8DD7576AEA}"/>
              </a:ext>
            </a:extLst>
          </p:cNvPr>
          <p:cNvSpPr>
            <a:spLocks noGrp="1"/>
          </p:cNvSpPr>
          <p:nvPr>
            <p:ph type="ftr" sz="quarter" idx="11"/>
          </p:nvPr>
        </p:nvSpPr>
        <p:spPr/>
        <p:txBody>
          <a:bodyPr/>
          <a:lstStyle/>
          <a:p>
            <a:r>
              <a:rPr lang="en-US"/>
              <a:t>DEPARTMENT OF ECE</a:t>
            </a:r>
          </a:p>
        </p:txBody>
      </p:sp>
      <p:sp>
        <p:nvSpPr>
          <p:cNvPr id="6" name="Slide Number Placeholder 5">
            <a:extLst>
              <a:ext uri="{FF2B5EF4-FFF2-40B4-BE49-F238E27FC236}">
                <a16:creationId xmlns:a16="http://schemas.microsoft.com/office/drawing/2014/main" id="{41F87A2C-7F6A-AF0A-CD43-1C2009BC0763}"/>
              </a:ext>
            </a:extLst>
          </p:cNvPr>
          <p:cNvSpPr>
            <a:spLocks noGrp="1"/>
          </p:cNvSpPr>
          <p:nvPr>
            <p:ph type="sldNum" sz="quarter" idx="12"/>
          </p:nvPr>
        </p:nvSpPr>
        <p:spPr/>
        <p:txBody>
          <a:bodyPr/>
          <a:lstStyle/>
          <a:p>
            <a:fld id="{330EA680-D336-4FF7-8B7A-9848BB0A1C32}" type="slidenum">
              <a:rPr lang="en-US" smtClean="0"/>
              <a:t>8</a:t>
            </a:fld>
            <a:endParaRPr lang="en-US"/>
          </a:p>
        </p:txBody>
      </p:sp>
      <p:pic>
        <p:nvPicPr>
          <p:cNvPr id="1026" name="Picture 2" descr="KLE Technological University in Hubballi">
            <a:extLst>
              <a:ext uri="{FF2B5EF4-FFF2-40B4-BE49-F238E27FC236}">
                <a16:creationId xmlns:a16="http://schemas.microsoft.com/office/drawing/2014/main" id="{94F71312-F2D3-0B84-C3E5-EB4218C7D8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537" y="0"/>
            <a:ext cx="2787463" cy="5020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BF7BA7E-DF8C-E194-86D9-8CA23589D393}"/>
              </a:ext>
            </a:extLst>
          </p:cNvPr>
          <p:cNvSpPr txBox="1"/>
          <p:nvPr/>
        </p:nvSpPr>
        <p:spPr>
          <a:xfrm>
            <a:off x="0" y="0"/>
            <a:ext cx="2191871" cy="338554"/>
          </a:xfrm>
          <a:prstGeom prst="rect">
            <a:avLst/>
          </a:prstGeom>
          <a:solidFill>
            <a:schemeClr val="tx2">
              <a:lumMod val="20000"/>
              <a:lumOff val="80000"/>
            </a:schemeClr>
          </a:solid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a:latin typeface="Times New Roman"/>
                <a:cs typeface="Times New Roman"/>
              </a:rPr>
              <a:t>GEN-AI (25EECC308)</a:t>
            </a:r>
          </a:p>
        </p:txBody>
      </p:sp>
      <p:sp>
        <p:nvSpPr>
          <p:cNvPr id="2" name="Title 1">
            <a:extLst>
              <a:ext uri="{FF2B5EF4-FFF2-40B4-BE49-F238E27FC236}">
                <a16:creationId xmlns:a16="http://schemas.microsoft.com/office/drawing/2014/main" id="{0F8E79EA-D826-7F7F-2140-D6F2D1AA17D3}"/>
              </a:ext>
            </a:extLst>
          </p:cNvPr>
          <p:cNvSpPr>
            <a:spLocks noGrp="1"/>
          </p:cNvSpPr>
          <p:nvPr/>
        </p:nvSpPr>
        <p:spPr>
          <a:xfrm>
            <a:off x="0" y="502024"/>
            <a:ext cx="11492751" cy="5793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latin typeface="Times New Roman" panose="02020603050405020304" pitchFamily="18" charset="0"/>
                <a:cs typeface="Times New Roman" panose="02020603050405020304" pitchFamily="18" charset="0"/>
              </a:rPr>
              <a:t>Chosen Method :</a:t>
            </a:r>
            <a:r>
              <a:rPr lang="en-US" sz="3200">
                <a:latin typeface="Times New Roman" panose="02020603050405020304" pitchFamily="18" charset="0"/>
                <a:cs typeface="Times New Roman" panose="02020603050405020304" pitchFamily="18" charset="0"/>
              </a:rPr>
              <a:t>Pre-trained Stable Diffusion Model</a:t>
            </a:r>
            <a:endParaRPr lang="en-IN" sz="320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56EE892-FB9F-F320-A2D3-65D32260C2C6}"/>
              </a:ext>
            </a:extLst>
          </p:cNvPr>
          <p:cNvSpPr txBox="1"/>
          <p:nvPr/>
        </p:nvSpPr>
        <p:spPr>
          <a:xfrm>
            <a:off x="187028" y="1244824"/>
            <a:ext cx="11881673" cy="5293757"/>
          </a:xfrm>
          <a:prstGeom prst="rect">
            <a:avLst/>
          </a:prstGeom>
          <a:noFill/>
        </p:spPr>
        <p:txBody>
          <a:bodyPr wrap="square" rtlCol="0">
            <a:spAutoFit/>
          </a:bodyPr>
          <a:lstStyle/>
          <a:p>
            <a:pPr marL="342900" indent="-342900">
              <a:buFont typeface="Wingdings" panose="05000000000000000000" pitchFamily="2" charset="2"/>
              <a:buChar char="Ø"/>
            </a:pPr>
            <a:r>
              <a:rPr lang="en-US" sz="2000" b="1">
                <a:latin typeface="Times New Roman" panose="02020603050405020304" pitchFamily="18" charset="0"/>
                <a:cs typeface="Times New Roman" panose="02020603050405020304" pitchFamily="18" charset="0"/>
              </a:rPr>
              <a:t>Why Diffusion Model? </a:t>
            </a:r>
          </a:p>
          <a:p>
            <a:endParaRPr lang="en-US" sz="2000" b="1">
              <a:latin typeface="Times New Roman" panose="02020603050405020304" pitchFamily="18" charset="0"/>
              <a:cs typeface="Times New Roman" panose="02020603050405020304" pitchFamily="18" charset="0"/>
            </a:endParaRPr>
          </a:p>
          <a:p>
            <a:r>
              <a:rPr lang="en-US" sz="2000" b="1">
                <a:latin typeface="Times New Roman" panose="02020603050405020304" pitchFamily="18" charset="0"/>
                <a:cs typeface="Times New Roman" panose="02020603050405020304" pitchFamily="18" charset="0"/>
              </a:rPr>
              <a:t>1. Better Quality Results</a:t>
            </a:r>
          </a:p>
          <a:p>
            <a:pPr algn="just"/>
            <a:r>
              <a:rPr lang="en-US" sz="2000">
                <a:latin typeface="Times New Roman" panose="02020603050405020304" pitchFamily="18" charset="0"/>
                <a:cs typeface="Times New Roman" panose="02020603050405020304" pitchFamily="18" charset="0"/>
              </a:rPr>
              <a:t>Diffusion models generate highly realistic and natural-looking output images. They understand the surrounding image context and reconstruct the missing region by maintaining proper texture, color, lighting, and structure.</a:t>
            </a:r>
          </a:p>
          <a:p>
            <a:r>
              <a:rPr lang="en-US" sz="2000" b="1">
                <a:latin typeface="Times New Roman" panose="02020603050405020304" pitchFamily="18" charset="0"/>
                <a:cs typeface="Times New Roman" panose="02020603050405020304" pitchFamily="18" charset="0"/>
              </a:rPr>
              <a:t>2. No Need to Train from Scratch</a:t>
            </a:r>
          </a:p>
          <a:p>
            <a:pPr algn="just"/>
            <a:r>
              <a:rPr lang="en-US" sz="2000">
                <a:latin typeface="Times New Roman" panose="02020603050405020304" pitchFamily="18" charset="0"/>
                <a:cs typeface="Times New Roman" panose="02020603050405020304" pitchFamily="18" charset="0"/>
              </a:rPr>
              <a:t>Diffusion models like </a:t>
            </a:r>
            <a:r>
              <a:rPr lang="en-US" sz="2000" b="1">
                <a:latin typeface="Times New Roman" panose="02020603050405020304" pitchFamily="18" charset="0"/>
                <a:cs typeface="Times New Roman" panose="02020603050405020304" pitchFamily="18" charset="0"/>
              </a:rPr>
              <a:t>Stable Diffusion Inpainting</a:t>
            </a:r>
            <a:r>
              <a:rPr lang="en-US" sz="2000">
                <a:latin typeface="Times New Roman" panose="02020603050405020304" pitchFamily="18" charset="0"/>
                <a:cs typeface="Times New Roman" panose="02020603050405020304" pitchFamily="18" charset="0"/>
              </a:rPr>
              <a:t> are already pre-trained on large image datasets. This means we do not need to collect huge datasets or spend time training the model ourselves.</a:t>
            </a:r>
          </a:p>
          <a:p>
            <a:r>
              <a:rPr lang="en-US" sz="2000" b="1">
                <a:latin typeface="Times New Roman" panose="02020603050405020304" pitchFamily="18" charset="0"/>
                <a:cs typeface="Times New Roman" panose="02020603050405020304" pitchFamily="18" charset="0"/>
              </a:rPr>
              <a:t>3. More Stable than GANs</a:t>
            </a:r>
          </a:p>
          <a:p>
            <a:pPr algn="just"/>
            <a:r>
              <a:rPr lang="en-US" sz="2000">
                <a:latin typeface="Times New Roman" panose="02020603050405020304" pitchFamily="18" charset="0"/>
                <a:cs typeface="Times New Roman" panose="02020603050405020304" pitchFamily="18" charset="0"/>
              </a:rPr>
              <a:t>Training GANs is often difficult because both models must be balanced properly. If not, the output quality becomes poor or training may fail.</a:t>
            </a:r>
          </a:p>
          <a:p>
            <a:r>
              <a:rPr lang="en-US" sz="2000" b="1">
                <a:latin typeface="Times New Roman" panose="02020603050405020304" pitchFamily="18" charset="0"/>
                <a:cs typeface="Times New Roman" panose="02020603050405020304" pitchFamily="18" charset="0"/>
              </a:rPr>
              <a:t>4. Easy Implementation</a:t>
            </a:r>
          </a:p>
          <a:p>
            <a:pPr algn="just"/>
            <a:r>
              <a:rPr lang="en-US" sz="2000">
                <a:latin typeface="Times New Roman" panose="02020603050405020304" pitchFamily="18" charset="0"/>
                <a:cs typeface="Times New Roman" panose="02020603050405020304" pitchFamily="18" charset="0"/>
              </a:rPr>
              <a:t>Pre-trained diffusion models are available on platforms like </a:t>
            </a:r>
            <a:r>
              <a:rPr lang="en-US" sz="2000" b="1">
                <a:latin typeface="Times New Roman" panose="02020603050405020304" pitchFamily="18" charset="0"/>
                <a:cs typeface="Times New Roman" panose="02020603050405020304" pitchFamily="18" charset="0"/>
              </a:rPr>
              <a:t>Hugging Face</a:t>
            </a:r>
            <a:r>
              <a:rPr lang="en-US" sz="2000">
                <a:latin typeface="Times New Roman" panose="02020603050405020304" pitchFamily="18" charset="0"/>
                <a:cs typeface="Times New Roman" panose="02020603050405020304" pitchFamily="18" charset="0"/>
              </a:rPr>
              <a:t> and can be directly used through Python libraries</a:t>
            </a:r>
            <a:endParaRPr lang="en-US" sz="2000" b="1">
              <a:latin typeface="Times New Roman" panose="02020603050405020304" pitchFamily="18" charset="0"/>
              <a:cs typeface="Times New Roman" panose="02020603050405020304" pitchFamily="18" charset="0"/>
            </a:endParaRPr>
          </a:p>
          <a:p>
            <a:endParaRPr lang="en-US" sz="2000" b="1"/>
          </a:p>
          <a:p>
            <a:endParaRPr lang="en-US" sz="2000" b="1">
              <a:latin typeface="Times New Roman" panose="02020603050405020304" pitchFamily="18" charset="0"/>
              <a:cs typeface="Times New Roman" panose="02020603050405020304" pitchFamily="18" charset="0"/>
            </a:endParaRPr>
          </a:p>
          <a:p>
            <a:endParaRPr lang="en-US"/>
          </a:p>
        </p:txBody>
      </p:sp>
    </p:spTree>
    <p:extLst>
      <p:ext uri="{BB962C8B-B14F-4D97-AF65-F5344CB8AC3E}">
        <p14:creationId xmlns:p14="http://schemas.microsoft.com/office/powerpoint/2010/main" val="1923279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E7328-B4D5-570A-FD1B-53F27925279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582C781-5B41-048B-8462-1D1392522ED7}"/>
              </a:ext>
            </a:extLst>
          </p:cNvPr>
          <p:cNvSpPr>
            <a:spLocks noGrp="1"/>
          </p:cNvSpPr>
          <p:nvPr>
            <p:ph type="dt" sz="half" idx="10"/>
          </p:nvPr>
        </p:nvSpPr>
        <p:spPr/>
        <p:txBody>
          <a:bodyPr/>
          <a:lstStyle/>
          <a:p>
            <a:fld id="{445ED85E-A9E3-445C-9F4C-8CD6FE4B0FE4}" type="datetime1">
              <a:rPr lang="en-US" smtClean="0"/>
              <a:t>6/3/2026</a:t>
            </a:fld>
            <a:endParaRPr lang="en-US"/>
          </a:p>
        </p:txBody>
      </p:sp>
      <p:sp>
        <p:nvSpPr>
          <p:cNvPr id="5" name="Footer Placeholder 4">
            <a:extLst>
              <a:ext uri="{FF2B5EF4-FFF2-40B4-BE49-F238E27FC236}">
                <a16:creationId xmlns:a16="http://schemas.microsoft.com/office/drawing/2014/main" id="{2450916F-0151-8A24-99B1-4C0F676C83EF}"/>
              </a:ext>
            </a:extLst>
          </p:cNvPr>
          <p:cNvSpPr>
            <a:spLocks noGrp="1"/>
          </p:cNvSpPr>
          <p:nvPr>
            <p:ph type="ftr" sz="quarter" idx="11"/>
          </p:nvPr>
        </p:nvSpPr>
        <p:spPr/>
        <p:txBody>
          <a:bodyPr/>
          <a:lstStyle/>
          <a:p>
            <a:r>
              <a:rPr lang="en-US"/>
              <a:t>DEPARTMENT OF ECE</a:t>
            </a:r>
          </a:p>
        </p:txBody>
      </p:sp>
      <p:sp>
        <p:nvSpPr>
          <p:cNvPr id="6" name="Slide Number Placeholder 5">
            <a:extLst>
              <a:ext uri="{FF2B5EF4-FFF2-40B4-BE49-F238E27FC236}">
                <a16:creationId xmlns:a16="http://schemas.microsoft.com/office/drawing/2014/main" id="{5E74ABA2-3502-D955-3637-CAD4ACE3DB25}"/>
              </a:ext>
            </a:extLst>
          </p:cNvPr>
          <p:cNvSpPr>
            <a:spLocks noGrp="1"/>
          </p:cNvSpPr>
          <p:nvPr>
            <p:ph type="sldNum" sz="quarter" idx="12"/>
          </p:nvPr>
        </p:nvSpPr>
        <p:spPr/>
        <p:txBody>
          <a:bodyPr/>
          <a:lstStyle/>
          <a:p>
            <a:fld id="{330EA680-D336-4FF7-8B7A-9848BB0A1C32}" type="slidenum">
              <a:rPr lang="en-US" smtClean="0"/>
              <a:t>9</a:t>
            </a:fld>
            <a:endParaRPr lang="en-US"/>
          </a:p>
        </p:txBody>
      </p:sp>
      <p:pic>
        <p:nvPicPr>
          <p:cNvPr id="1026" name="Picture 2" descr="KLE Technological University in Hubballi">
            <a:extLst>
              <a:ext uri="{FF2B5EF4-FFF2-40B4-BE49-F238E27FC236}">
                <a16:creationId xmlns:a16="http://schemas.microsoft.com/office/drawing/2014/main" id="{98B7B571-5C58-A027-E328-7C195677D9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537" y="0"/>
            <a:ext cx="2787463" cy="5020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6CDFDB7-B04D-2143-DE5D-8B315125260F}"/>
              </a:ext>
            </a:extLst>
          </p:cNvPr>
          <p:cNvSpPr txBox="1"/>
          <p:nvPr/>
        </p:nvSpPr>
        <p:spPr>
          <a:xfrm>
            <a:off x="0" y="0"/>
            <a:ext cx="2191871" cy="338554"/>
          </a:xfrm>
          <a:prstGeom prst="rect">
            <a:avLst/>
          </a:prstGeom>
          <a:solidFill>
            <a:schemeClr val="tx2">
              <a:lumMod val="20000"/>
              <a:lumOff val="80000"/>
            </a:schemeClr>
          </a:solid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a:latin typeface="Times New Roman"/>
                <a:cs typeface="Times New Roman"/>
              </a:rPr>
              <a:t>GEN-AI (25EECC308)</a:t>
            </a:r>
          </a:p>
        </p:txBody>
      </p:sp>
      <p:sp>
        <p:nvSpPr>
          <p:cNvPr id="7" name="TextBox 6">
            <a:extLst>
              <a:ext uri="{FF2B5EF4-FFF2-40B4-BE49-F238E27FC236}">
                <a16:creationId xmlns:a16="http://schemas.microsoft.com/office/drawing/2014/main" id="{DD4BF157-1E0A-7B62-E5F2-055925D10403}"/>
              </a:ext>
            </a:extLst>
          </p:cNvPr>
          <p:cNvSpPr txBox="1"/>
          <p:nvPr/>
        </p:nvSpPr>
        <p:spPr>
          <a:xfrm>
            <a:off x="197223" y="446131"/>
            <a:ext cx="6113928" cy="523220"/>
          </a:xfrm>
          <a:prstGeom prst="rect">
            <a:avLst/>
          </a:prstGeom>
          <a:noFill/>
        </p:spPr>
        <p:txBody>
          <a:bodyPr wrap="square">
            <a:spAutoFit/>
          </a:bodyPr>
          <a:lstStyle/>
          <a:p>
            <a:pPr algn="l">
              <a:spcAft>
                <a:spcPts val="600"/>
              </a:spcAft>
              <a:buNone/>
            </a:pPr>
            <a:r>
              <a:rPr lang="en-US" sz="2800" b="1" i="0">
                <a:solidFill>
                  <a:srgbClr val="0D0D0D"/>
                </a:solidFill>
                <a:effectLst/>
                <a:latin typeface="Times New Roman" panose="02020603050405020304" pitchFamily="18" charset="0"/>
                <a:cs typeface="Times New Roman" panose="02020603050405020304" pitchFamily="18" charset="0"/>
              </a:rPr>
              <a:t>How to Validate that Model ?</a:t>
            </a:r>
          </a:p>
        </p:txBody>
      </p:sp>
      <p:sp>
        <p:nvSpPr>
          <p:cNvPr id="8" name="TextBox 7">
            <a:extLst>
              <a:ext uri="{FF2B5EF4-FFF2-40B4-BE49-F238E27FC236}">
                <a16:creationId xmlns:a16="http://schemas.microsoft.com/office/drawing/2014/main" id="{52C286BA-ADF8-3BC3-A04E-8D582CA646FD}"/>
              </a:ext>
            </a:extLst>
          </p:cNvPr>
          <p:cNvSpPr txBox="1"/>
          <p:nvPr/>
        </p:nvSpPr>
        <p:spPr>
          <a:xfrm>
            <a:off x="197223" y="1102659"/>
            <a:ext cx="11645153" cy="4308872"/>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rPr>
              <a:t>1. Visual Comparison</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Compare the </a:t>
            </a:r>
            <a:r>
              <a:rPr lang="en-US" sz="2000" b="1">
                <a:latin typeface="Times New Roman" panose="02020603050405020304" pitchFamily="18" charset="0"/>
                <a:cs typeface="Times New Roman" panose="02020603050405020304" pitchFamily="18" charset="0"/>
              </a:rPr>
              <a:t>original image</a:t>
            </a:r>
            <a:r>
              <a:rPr lang="en-US" sz="2000">
                <a:latin typeface="Times New Roman" panose="02020603050405020304" pitchFamily="18" charset="0"/>
                <a:cs typeface="Times New Roman" panose="02020603050405020304" pitchFamily="18" charset="0"/>
              </a:rPr>
              <a:t>, </a:t>
            </a:r>
            <a:r>
              <a:rPr lang="en-US" sz="2000" b="1">
                <a:latin typeface="Times New Roman" panose="02020603050405020304" pitchFamily="18" charset="0"/>
                <a:cs typeface="Times New Roman" panose="02020603050405020304" pitchFamily="18" charset="0"/>
              </a:rPr>
              <a:t>masked image</a:t>
            </a:r>
            <a:r>
              <a:rPr lang="en-US" sz="2000">
                <a:latin typeface="Times New Roman" panose="02020603050405020304" pitchFamily="18" charset="0"/>
                <a:cs typeface="Times New Roman" panose="02020603050405020304" pitchFamily="18" charset="0"/>
              </a:rPr>
              <a:t>, and </a:t>
            </a:r>
            <a:r>
              <a:rPr lang="en-US" sz="2000" b="1">
                <a:latin typeface="Times New Roman" panose="02020603050405020304" pitchFamily="18" charset="0"/>
                <a:cs typeface="Times New Roman" panose="02020603050405020304" pitchFamily="18" charset="0"/>
              </a:rPr>
              <a:t>final reconstructed image.</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Check whether the missing or removed region is properly filled</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Observe if the generated output matches the surrounding background naturally</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Ensure there are no visible gaps, distortions, or unnatural patches in the output image.</a:t>
            </a:r>
          </a:p>
          <a:p>
            <a:pPr marL="342900" indent="-342900">
              <a:buFont typeface="Wingdings" panose="05000000000000000000" pitchFamily="2" charset="2"/>
              <a:buChar char="Ø"/>
            </a:pPr>
            <a:endParaRPr lang="en-US" sz="2000">
              <a:latin typeface="Times New Roman" panose="02020603050405020304" pitchFamily="18" charset="0"/>
              <a:cs typeface="Times New Roman" panose="02020603050405020304" pitchFamily="18" charset="0"/>
            </a:endParaRPr>
          </a:p>
          <a:p>
            <a:r>
              <a:rPr lang="en-US" sz="2000" b="1">
                <a:latin typeface="Times New Roman" panose="02020603050405020304" pitchFamily="18" charset="0"/>
                <a:cs typeface="Times New Roman" panose="02020603050405020304" pitchFamily="18" charset="0"/>
              </a:rPr>
              <a:t>2. Quality Checking</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Check whether :Removed object is invisible</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Background looks natural.</a:t>
            </a:r>
          </a:p>
          <a:p>
            <a:pPr marL="342900" indent="-342900">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Texture and structure are maintained.</a:t>
            </a:r>
          </a:p>
          <a:p>
            <a:endParaRPr lang="en-US" sz="2000">
              <a:latin typeface="Times New Roman" panose="02020603050405020304" pitchFamily="18" charset="0"/>
              <a:cs typeface="Times New Roman" panose="02020603050405020304" pitchFamily="18" charset="0"/>
            </a:endParaRPr>
          </a:p>
          <a:p>
            <a:br>
              <a:rPr lang="en-US"/>
            </a:br>
            <a:endParaRPr lang="en-US"/>
          </a:p>
          <a:p>
            <a:endParaRPr lang="en-US"/>
          </a:p>
        </p:txBody>
      </p:sp>
    </p:spTree>
    <p:extLst>
      <p:ext uri="{BB962C8B-B14F-4D97-AF65-F5344CB8AC3E}">
        <p14:creationId xmlns:p14="http://schemas.microsoft.com/office/powerpoint/2010/main" val="2744642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F56B4-4C04-5FB7-4F08-53890C11C2E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3AD03D4-9FA6-DA57-B1DD-6FF06BB78D1C}"/>
              </a:ext>
            </a:extLst>
          </p:cNvPr>
          <p:cNvSpPr>
            <a:spLocks noGrp="1"/>
          </p:cNvSpPr>
          <p:nvPr>
            <p:ph type="dt" sz="half" idx="10"/>
          </p:nvPr>
        </p:nvSpPr>
        <p:spPr/>
        <p:txBody>
          <a:bodyPr/>
          <a:lstStyle/>
          <a:p>
            <a:fld id="{445ED85E-A9E3-445C-9F4C-8CD6FE4B0FE4}" type="datetime1">
              <a:rPr lang="en-US" smtClean="0"/>
              <a:t>6/3/2026</a:t>
            </a:fld>
            <a:endParaRPr lang="en-US"/>
          </a:p>
        </p:txBody>
      </p:sp>
      <p:sp>
        <p:nvSpPr>
          <p:cNvPr id="5" name="Footer Placeholder 4">
            <a:extLst>
              <a:ext uri="{FF2B5EF4-FFF2-40B4-BE49-F238E27FC236}">
                <a16:creationId xmlns:a16="http://schemas.microsoft.com/office/drawing/2014/main" id="{6C2EEACD-ABC3-0042-6DB0-02D6544BF105}"/>
              </a:ext>
            </a:extLst>
          </p:cNvPr>
          <p:cNvSpPr>
            <a:spLocks noGrp="1"/>
          </p:cNvSpPr>
          <p:nvPr>
            <p:ph type="ftr" sz="quarter" idx="11"/>
          </p:nvPr>
        </p:nvSpPr>
        <p:spPr/>
        <p:txBody>
          <a:bodyPr/>
          <a:lstStyle/>
          <a:p>
            <a:r>
              <a:rPr lang="en-US"/>
              <a:t>DEPARTMENT OF ECE</a:t>
            </a:r>
          </a:p>
        </p:txBody>
      </p:sp>
      <p:sp>
        <p:nvSpPr>
          <p:cNvPr id="6" name="Slide Number Placeholder 5">
            <a:extLst>
              <a:ext uri="{FF2B5EF4-FFF2-40B4-BE49-F238E27FC236}">
                <a16:creationId xmlns:a16="http://schemas.microsoft.com/office/drawing/2014/main" id="{5A2C5358-8C15-11DF-DC65-849F2AC06F54}"/>
              </a:ext>
            </a:extLst>
          </p:cNvPr>
          <p:cNvSpPr>
            <a:spLocks noGrp="1"/>
          </p:cNvSpPr>
          <p:nvPr>
            <p:ph type="sldNum" sz="quarter" idx="12"/>
          </p:nvPr>
        </p:nvSpPr>
        <p:spPr/>
        <p:txBody>
          <a:bodyPr/>
          <a:lstStyle/>
          <a:p>
            <a:fld id="{330EA680-D336-4FF7-8B7A-9848BB0A1C32}" type="slidenum">
              <a:rPr lang="en-US" smtClean="0"/>
              <a:t>10</a:t>
            </a:fld>
            <a:endParaRPr lang="en-US"/>
          </a:p>
        </p:txBody>
      </p:sp>
      <p:pic>
        <p:nvPicPr>
          <p:cNvPr id="1026" name="Picture 2" descr="KLE Technological University in Hubballi">
            <a:extLst>
              <a:ext uri="{FF2B5EF4-FFF2-40B4-BE49-F238E27FC236}">
                <a16:creationId xmlns:a16="http://schemas.microsoft.com/office/drawing/2014/main" id="{383997F6-8CEB-3E2C-2217-1907E1C96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4537" y="0"/>
            <a:ext cx="2787463" cy="5020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D478ECF-1F1F-EBEA-8A17-411699496BCE}"/>
              </a:ext>
            </a:extLst>
          </p:cNvPr>
          <p:cNvSpPr txBox="1"/>
          <p:nvPr/>
        </p:nvSpPr>
        <p:spPr>
          <a:xfrm>
            <a:off x="0" y="0"/>
            <a:ext cx="2191871" cy="338554"/>
          </a:xfrm>
          <a:prstGeom prst="rect">
            <a:avLst/>
          </a:prstGeom>
          <a:solidFill>
            <a:schemeClr val="tx2">
              <a:lumMod val="20000"/>
              <a:lumOff val="80000"/>
            </a:schemeClr>
          </a:solid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a:latin typeface="Times New Roman"/>
                <a:cs typeface="Times New Roman"/>
              </a:rPr>
              <a:t>GEN-AI (25EECC308)</a:t>
            </a:r>
          </a:p>
        </p:txBody>
      </p:sp>
      <p:sp>
        <p:nvSpPr>
          <p:cNvPr id="2" name="TextBox 1">
            <a:extLst>
              <a:ext uri="{FF2B5EF4-FFF2-40B4-BE49-F238E27FC236}">
                <a16:creationId xmlns:a16="http://schemas.microsoft.com/office/drawing/2014/main" id="{E24EE375-861C-9976-43BC-7FA4A8576FAA}"/>
              </a:ext>
            </a:extLst>
          </p:cNvPr>
          <p:cNvSpPr txBox="1"/>
          <p:nvPr/>
        </p:nvSpPr>
        <p:spPr>
          <a:xfrm>
            <a:off x="2044133" y="1974129"/>
            <a:ext cx="9632629"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a:latin typeface="Times New Roman"/>
                <a:cs typeface="Times New Roman"/>
              </a:rPr>
              <a:t>THANK YOU</a:t>
            </a:r>
          </a:p>
        </p:txBody>
      </p:sp>
    </p:spTree>
    <p:extLst>
      <p:ext uri="{BB962C8B-B14F-4D97-AF65-F5344CB8AC3E}">
        <p14:creationId xmlns:p14="http://schemas.microsoft.com/office/powerpoint/2010/main" val="3979482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GEN -AI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cp:revision>
  <dcterms:created xsi:type="dcterms:W3CDTF">2026-04-28T10:30:44Z</dcterms:created>
  <dcterms:modified xsi:type="dcterms:W3CDTF">2026-06-03T17:50:24Z</dcterms:modified>
</cp:coreProperties>
</file>